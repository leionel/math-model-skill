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4E77"/>
    <a:srgbClr val="EBF3F7"/>
    <a:srgbClr val="F2F5F8"/>
    <a:srgbClr val="002046"/>
    <a:srgbClr val="2E75B5"/>
    <a:srgbClr val="223089"/>
    <a:srgbClr val="EBF2F6"/>
    <a:srgbClr val="767171"/>
    <a:srgbClr val="FD877A"/>
    <a:srgbClr val="FDA7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3516" autoAdjust="0"/>
  </p:normalViewPr>
  <p:slideViewPr>
    <p:cSldViewPr snapToGrid="0" showGuides="1">
      <p:cViewPr>
        <p:scale>
          <a:sx n="138" d="100"/>
          <a:sy n="138" d="100"/>
        </p:scale>
        <p:origin x="-152" y="496"/>
      </p:cViewPr>
      <p:guideLst>
        <p:guide orient="horz" pos="215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CD276-76CB-4603-B31F-1A1D23D2F07C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298F5-AF14-4739-AD91-35F8C964F9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矩形 254">
            <a:extLst>
              <a:ext uri="{FF2B5EF4-FFF2-40B4-BE49-F238E27FC236}">
                <a16:creationId xmlns:a16="http://schemas.microsoft.com/office/drawing/2014/main" id="{6DDE85EB-5B1D-E423-6286-6D72C8D74B04}"/>
              </a:ext>
            </a:extLst>
          </p:cNvPr>
          <p:cNvSpPr/>
          <p:nvPr/>
        </p:nvSpPr>
        <p:spPr>
          <a:xfrm>
            <a:off x="6094571" y="527953"/>
            <a:ext cx="4352448" cy="5406084"/>
          </a:xfrm>
          <a:prstGeom prst="rect">
            <a:avLst/>
          </a:prstGeom>
          <a:solidFill>
            <a:srgbClr val="EBF3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EBF2F6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F38530-80DB-AD8E-0709-A0A631E78D06}"/>
              </a:ext>
            </a:extLst>
          </p:cNvPr>
          <p:cNvSpPr/>
          <p:nvPr/>
        </p:nvSpPr>
        <p:spPr>
          <a:xfrm>
            <a:off x="520140" y="527953"/>
            <a:ext cx="5265350" cy="5406083"/>
          </a:xfrm>
          <a:prstGeom prst="rect">
            <a:avLst/>
          </a:prstGeom>
          <a:solidFill>
            <a:srgbClr val="EBF3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EBF2F6"/>
              </a:highlight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53533" y="3423517"/>
            <a:ext cx="2346374" cy="23456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367278" y="3415115"/>
            <a:ext cx="2294870" cy="23456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62954" y="3098399"/>
            <a:ext cx="24369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Model3:Thermal</a:t>
            </a:r>
            <a:r>
              <a:rPr kumimoji="0" lang="zh-CN" alt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1400" b="1" i="1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1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oupling</a:t>
            </a:r>
            <a:endParaRPr lang="en-US" altLang="zh-CN" sz="1400" b="1" i="0" u="none" strike="noStrike" cap="all" dirty="0"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69897" y="646397"/>
            <a:ext cx="2781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Model2:</a:t>
            </a:r>
            <a:r>
              <a:rPr lang="en-US" altLang="zh-CN" sz="1400" b="1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Consumption</a:t>
            </a:r>
            <a:endParaRPr kumimoji="0" lang="zh-CN" altLang="en-US" sz="1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125434" y="4190402"/>
            <a:ext cx="747735" cy="3601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10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Arrhenius Law</a:t>
            </a:r>
            <a:endParaRPr kumimoji="0" lang="zh-CN" altLang="en-US" sz="110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2183904" y="4719349"/>
            <a:ext cx="589488" cy="3601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10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Irreversible</a:t>
            </a:r>
            <a:endParaRPr kumimoji="0" lang="zh-CN" altLang="en-US" sz="110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2198563" y="5236341"/>
            <a:ext cx="589488" cy="3601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10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Reversible</a:t>
            </a:r>
            <a:endParaRPr kumimoji="0" lang="zh-CN" altLang="en-US" sz="110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71" name="右中括号 70"/>
          <p:cNvSpPr/>
          <p:nvPr/>
        </p:nvSpPr>
        <p:spPr>
          <a:xfrm flipH="1">
            <a:off x="2003793" y="4868672"/>
            <a:ext cx="158730" cy="547749"/>
          </a:xfrm>
          <a:prstGeom prst="rightBracket">
            <a:avLst/>
          </a:prstGeom>
          <a:ln w="1905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72" name="直接箭头连接符 71"/>
          <p:cNvCxnSpPr>
            <a:cxnSpLocks/>
          </p:cNvCxnSpPr>
          <p:nvPr/>
        </p:nvCxnSpPr>
        <p:spPr>
          <a:xfrm flipH="1">
            <a:off x="1781729" y="5110131"/>
            <a:ext cx="216967" cy="0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870230" y="4852669"/>
            <a:ext cx="855745" cy="54774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100" b="1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Heat Generation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3944747" y="3580766"/>
            <a:ext cx="1504945" cy="30253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i="1" u="none" strike="noStrike" dirty="0">
                <a:solidFill>
                  <a:srgbClr val="EBF3F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Calendar Aging</a:t>
            </a:r>
            <a:endParaRPr kumimoji="0" lang="zh-CN" altLang="en-US" sz="1400" i="1" u="none" strike="noStrike" kern="1200" cap="none" spc="0" normalizeH="0" baseline="0" noProof="0" dirty="0">
              <a:ln>
                <a:noFill/>
              </a:ln>
              <a:solidFill>
                <a:srgbClr val="EBF3F7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954195" y="4616942"/>
            <a:ext cx="1504945" cy="30253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i="1" u="none" strike="noStrike" dirty="0">
                <a:solidFill>
                  <a:srgbClr val="EBF3F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Cycle Aging</a:t>
            </a:r>
            <a:endParaRPr kumimoji="0" lang="zh-CN" altLang="en-US" sz="1400" i="1" u="none" strike="noStrike" kern="1200" cap="none" spc="0" normalizeH="0" baseline="0" noProof="0" dirty="0">
              <a:ln>
                <a:noFill/>
              </a:ln>
              <a:solidFill>
                <a:srgbClr val="EBF3F7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F8277C-D9A1-9046-EB0D-81C00C1E3B6F}"/>
              </a:ext>
            </a:extLst>
          </p:cNvPr>
          <p:cNvSpPr/>
          <p:nvPr/>
        </p:nvSpPr>
        <p:spPr>
          <a:xfrm>
            <a:off x="520140" y="154372"/>
            <a:ext cx="5265350" cy="424298"/>
          </a:xfrm>
          <a:prstGeom prst="rect">
            <a:avLst/>
          </a:prstGeom>
          <a:solidFill>
            <a:srgbClr val="2A4E7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0" u="none" strike="noStrike" cap="all" dirty="0">
                <a:solidFill>
                  <a:srgbClr val="FFFFFF"/>
                </a:solidFill>
                <a:effectLst/>
                <a:latin typeface="Times New Roman" panose="02020603050405020304" pitchFamily="18" charset="0"/>
              </a:rPr>
              <a:t>PHASE I: DETERMINISTIC PHYSICS MODELS</a:t>
            </a:r>
            <a:endParaRPr kumimoji="1" lang="zh-CN" altLang="en-US" dirty="0">
              <a:solidFill>
                <a:srgbClr val="2A4E77"/>
              </a:solidFill>
            </a:endParaRPr>
          </a:p>
        </p:txBody>
      </p: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40B616C3-87A8-B8D2-D446-7B012EE9221C}"/>
              </a:ext>
            </a:extLst>
          </p:cNvPr>
          <p:cNvGrpSpPr/>
          <p:nvPr/>
        </p:nvGrpSpPr>
        <p:grpSpPr>
          <a:xfrm>
            <a:off x="562954" y="649544"/>
            <a:ext cx="2768875" cy="2390970"/>
            <a:chOff x="562954" y="649544"/>
            <a:chExt cx="2768875" cy="2390970"/>
          </a:xfrm>
        </p:grpSpPr>
        <p:sp>
          <p:nvSpPr>
            <p:cNvPr id="11" name="矩形 10"/>
            <p:cNvSpPr/>
            <p:nvPr/>
          </p:nvSpPr>
          <p:spPr>
            <a:xfrm>
              <a:off x="653533" y="986456"/>
              <a:ext cx="2346375" cy="205405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381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62954" y="649544"/>
              <a:ext cx="2768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4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Model1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:Electrical Dynamics</a:t>
              </a:r>
              <a:endParaRPr kumimoji="0" lang="zh-CN" alt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D99FCCEC-DB3C-C755-3A27-4308362CD51A}"/>
                </a:ext>
              </a:extLst>
            </p:cNvPr>
            <p:cNvGrpSpPr/>
            <p:nvPr/>
          </p:nvGrpSpPr>
          <p:grpSpPr>
            <a:xfrm>
              <a:off x="805820" y="1089387"/>
              <a:ext cx="2067349" cy="1870839"/>
              <a:chOff x="799900" y="717750"/>
              <a:chExt cx="2067349" cy="1870839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1553430" y="1752820"/>
                <a:ext cx="1313819" cy="83576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9050">
                <a:solidFill>
                  <a:schemeClr val="accent3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799900" y="1126628"/>
                <a:ext cx="2049802" cy="308109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1641141" y="2213513"/>
                <a:ext cx="1133574" cy="295539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800" b="1" i="1" u="none" strike="noStrike" dirty="0">
                    <a:solidFill>
                      <a:srgbClr val="111827"/>
                    </a:solidFill>
                    <a:effectLst/>
                    <a:latin typeface="Times New Roman" panose="02020603050405020304" pitchFamily="18" charset="0"/>
                  </a:rPr>
                  <a:t>RC: Dual-loop polarization effects.</a:t>
                </a:r>
                <a:endParaRPr kumimoji="0" lang="zh-CN" altLang="en-US" sz="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C8722DFC-7D91-4756-C567-B865620AFFA1}"/>
                  </a:ext>
                </a:extLst>
              </p:cNvPr>
              <p:cNvSpPr/>
              <p:nvPr/>
            </p:nvSpPr>
            <p:spPr>
              <a:xfrm>
                <a:off x="1630098" y="1814754"/>
                <a:ext cx="1133574" cy="295539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800" b="1" i="1" u="none" strike="noStrike" dirty="0">
                    <a:solidFill>
                      <a:srgbClr val="111827"/>
                    </a:solidFill>
                    <a:effectLst/>
                    <a:latin typeface="Times New Roman" panose="02020603050405020304" pitchFamily="18" charset="0"/>
                  </a:rPr>
                  <a:t>OCV: Jiang's 5th-order Model</a:t>
                </a:r>
                <a:endParaRPr kumimoji="0" lang="zh-CN" altLang="en-US" sz="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BD6AF778-EBF7-B23B-ACA3-4FB74BDE3F88}"/>
                  </a:ext>
                </a:extLst>
              </p:cNvPr>
              <p:cNvSpPr/>
              <p:nvPr/>
            </p:nvSpPr>
            <p:spPr>
              <a:xfrm>
                <a:off x="799900" y="717750"/>
                <a:ext cx="2049802" cy="308109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434C1404-BF81-0E87-99B3-AB9426BFA959}"/>
                </a:ext>
              </a:extLst>
            </p:cNvPr>
            <p:cNvSpPr txBox="1"/>
            <p:nvPr/>
          </p:nvSpPr>
          <p:spPr>
            <a:xfrm>
              <a:off x="799966" y="1495539"/>
              <a:ext cx="21453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400" i="1" u="none" strike="noStrike" dirty="0">
                  <a:solidFill>
                    <a:srgbClr val="EBF3F7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2nd-Order Thevenin ECM</a:t>
              </a:r>
              <a:endParaRPr kumimoji="0" lang="zh-CN" altLang="en-US" sz="1400" i="1" u="none" strike="noStrike" kern="1200" cap="none" spc="0" normalizeH="0" baseline="0" noProof="0" dirty="0">
                <a:ln>
                  <a:noFill/>
                </a:ln>
                <a:solidFill>
                  <a:srgbClr val="EBF3F7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723F8CDB-F303-9EC3-F30B-F107C57E0EEC}"/>
                </a:ext>
              </a:extLst>
            </p:cNvPr>
            <p:cNvSpPr txBox="1"/>
            <p:nvPr/>
          </p:nvSpPr>
          <p:spPr>
            <a:xfrm>
              <a:off x="1004194" y="1088455"/>
              <a:ext cx="21453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400" i="1" u="none" strike="noStrike" dirty="0">
                  <a:solidFill>
                    <a:srgbClr val="EBF3F7"/>
                  </a:solidFill>
                  <a:effectLst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Data </a:t>
              </a:r>
              <a:r>
                <a:rPr lang="en-US" altLang="zh-CN" sz="1400" i="1" dirty="0">
                  <a:solidFill>
                    <a:srgbClr val="EBF3F7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1400" i="1" u="none" strike="noStrike" dirty="0">
                  <a:solidFill>
                    <a:srgbClr val="EBF3F7"/>
                  </a:solidFill>
                  <a:effectLst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reprocessing</a:t>
              </a:r>
              <a:endParaRPr kumimoji="0" lang="zh-CN" altLang="en-US" sz="1400" i="1" u="none" strike="noStrike" kern="1200" cap="none" spc="0" normalizeH="0" baseline="0" noProof="0" dirty="0">
                <a:ln>
                  <a:noFill/>
                </a:ln>
                <a:solidFill>
                  <a:srgbClr val="EBF3F7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08" name="直接箭头连接符 44">
              <a:extLst>
                <a:ext uri="{FF2B5EF4-FFF2-40B4-BE49-F238E27FC236}">
                  <a16:creationId xmlns:a16="http://schemas.microsoft.com/office/drawing/2014/main" id="{E9D1611E-D69E-A4CA-8D40-2C235B4369B4}"/>
                </a:ext>
              </a:extLst>
            </p:cNvPr>
            <p:cNvCxnSpPr>
              <a:cxnSpLocks/>
            </p:cNvCxnSpPr>
            <p:nvPr/>
          </p:nvCxnSpPr>
          <p:spPr>
            <a:xfrm>
              <a:off x="1826720" y="1395225"/>
              <a:ext cx="0" cy="10031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26C5C7DD-F84F-7ABD-BAC9-3673A07DA400}"/>
                </a:ext>
              </a:extLst>
            </p:cNvPr>
            <p:cNvSpPr/>
            <p:nvPr/>
          </p:nvSpPr>
          <p:spPr>
            <a:xfrm>
              <a:off x="836221" y="1980480"/>
              <a:ext cx="616526" cy="97477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800" b="1" i="1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Real-time Terminal Voltage</a:t>
              </a:r>
              <a:br>
                <a:rPr lang="en-US" altLang="zh-CN" sz="800" b="1" i="1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00" b="1" i="1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br>
                <a:rPr lang="en-US" altLang="zh-CN" sz="800" b="1" i="1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00" b="1" i="0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SOC Tracking</a:t>
              </a:r>
              <a:endParaRPr kumimoji="0" lang="zh-CN" altLang="en-US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5" name="直接箭头连接符 42">
              <a:extLst>
                <a:ext uri="{FF2B5EF4-FFF2-40B4-BE49-F238E27FC236}">
                  <a16:creationId xmlns:a16="http://schemas.microsoft.com/office/drawing/2014/main" id="{18DCD06F-5614-E3E1-B000-00C38D7BA03A}"/>
                </a:ext>
              </a:extLst>
            </p:cNvPr>
            <p:cNvCxnSpPr>
              <a:cxnSpLocks/>
              <a:stCxn id="25" idx="1"/>
            </p:cNvCxnSpPr>
            <p:nvPr/>
          </p:nvCxnSpPr>
          <p:spPr>
            <a:xfrm flipH="1" flipV="1">
              <a:off x="1451234" y="2537366"/>
              <a:ext cx="108116" cy="497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3" name="直接箭头连接符 62">
            <a:extLst>
              <a:ext uri="{FF2B5EF4-FFF2-40B4-BE49-F238E27FC236}">
                <a16:creationId xmlns:a16="http://schemas.microsoft.com/office/drawing/2014/main" id="{5942415F-56A1-2348-ACFE-7AFF9B36FFC7}"/>
              </a:ext>
            </a:extLst>
          </p:cNvPr>
          <p:cNvCxnSpPr>
            <a:cxnSpLocks/>
          </p:cNvCxnSpPr>
          <p:nvPr/>
        </p:nvCxnSpPr>
        <p:spPr>
          <a:xfrm flipH="1">
            <a:off x="1982840" y="1839668"/>
            <a:ext cx="214860" cy="235719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62">
            <a:extLst>
              <a:ext uri="{FF2B5EF4-FFF2-40B4-BE49-F238E27FC236}">
                <a16:creationId xmlns:a16="http://schemas.microsoft.com/office/drawing/2014/main" id="{48882E66-6AF7-4BDF-45B7-55DC76E683B5}"/>
              </a:ext>
            </a:extLst>
          </p:cNvPr>
          <p:cNvCxnSpPr>
            <a:cxnSpLocks/>
          </p:cNvCxnSpPr>
          <p:nvPr/>
        </p:nvCxnSpPr>
        <p:spPr>
          <a:xfrm>
            <a:off x="2261147" y="1831265"/>
            <a:ext cx="172967" cy="242041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0" name="组合 179">
            <a:extLst>
              <a:ext uri="{FF2B5EF4-FFF2-40B4-BE49-F238E27FC236}">
                <a16:creationId xmlns:a16="http://schemas.microsoft.com/office/drawing/2014/main" id="{D0A85EF0-9503-7475-AD16-7F33D1A004EF}"/>
              </a:ext>
            </a:extLst>
          </p:cNvPr>
          <p:cNvGrpSpPr/>
          <p:nvPr/>
        </p:nvGrpSpPr>
        <p:grpSpPr>
          <a:xfrm>
            <a:off x="3347912" y="987047"/>
            <a:ext cx="2294871" cy="2054058"/>
            <a:chOff x="6212006" y="1008027"/>
            <a:chExt cx="2294871" cy="2054058"/>
          </a:xfrm>
        </p:grpSpPr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677CCA06-4ACD-021F-7400-F66F3B891DBA}"/>
                </a:ext>
              </a:extLst>
            </p:cNvPr>
            <p:cNvSpPr/>
            <p:nvPr/>
          </p:nvSpPr>
          <p:spPr>
            <a:xfrm>
              <a:off x="6212006" y="1008027"/>
              <a:ext cx="2294871" cy="205405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43" name="右中括号 142">
              <a:extLst>
                <a:ext uri="{FF2B5EF4-FFF2-40B4-BE49-F238E27FC236}">
                  <a16:creationId xmlns:a16="http://schemas.microsoft.com/office/drawing/2014/main" id="{77520D7B-6C5A-391F-4F19-0D496F52CD2E}"/>
                </a:ext>
              </a:extLst>
            </p:cNvPr>
            <p:cNvSpPr/>
            <p:nvPr/>
          </p:nvSpPr>
          <p:spPr>
            <a:xfrm rot="5400000" flipH="1">
              <a:off x="6572854" y="2006156"/>
              <a:ext cx="671646" cy="1062420"/>
            </a:xfrm>
            <a:prstGeom prst="rightBracket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5DE93501-B617-FE18-E7CF-0FD904D5F199}"/>
                </a:ext>
              </a:extLst>
            </p:cNvPr>
            <p:cNvSpPr/>
            <p:nvPr/>
          </p:nvSpPr>
          <p:spPr>
            <a:xfrm>
              <a:off x="6465069" y="2283888"/>
              <a:ext cx="331602" cy="25871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5G</a:t>
              </a:r>
              <a:endParaRPr kumimoji="0" lang="zh-CN" altLang="en-US" sz="9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BB55CB68-9948-AB3E-87E9-85AAE6DD58D8}"/>
                </a:ext>
              </a:extLst>
            </p:cNvPr>
            <p:cNvSpPr/>
            <p:nvPr/>
          </p:nvSpPr>
          <p:spPr>
            <a:xfrm>
              <a:off x="6869103" y="2283887"/>
              <a:ext cx="434222" cy="25871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LTE</a:t>
              </a:r>
              <a:endParaRPr kumimoji="0" lang="zh-CN" altLang="en-US" sz="9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B29B60FC-96DC-B959-7C4A-E6DDB64CF18B}"/>
                </a:ext>
              </a:extLst>
            </p:cNvPr>
            <p:cNvSpPr/>
            <p:nvPr/>
          </p:nvSpPr>
          <p:spPr>
            <a:xfrm>
              <a:off x="6467488" y="2599333"/>
              <a:ext cx="835837" cy="25871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WIFI</a:t>
              </a:r>
              <a:endParaRPr kumimoji="0" lang="zh-CN" altLang="en-US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48" name="直接箭头连接符 54">
              <a:extLst>
                <a:ext uri="{FF2B5EF4-FFF2-40B4-BE49-F238E27FC236}">
                  <a16:creationId xmlns:a16="http://schemas.microsoft.com/office/drawing/2014/main" id="{0C7AE77E-3B4A-8689-85D6-5A39F2E62A7C}"/>
                </a:ext>
              </a:extLst>
            </p:cNvPr>
            <p:cNvCxnSpPr/>
            <p:nvPr/>
          </p:nvCxnSpPr>
          <p:spPr>
            <a:xfrm>
              <a:off x="8084733" y="2282484"/>
              <a:ext cx="0" cy="30013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BD7A5981-6507-6523-7E87-F1D319BD3569}"/>
                </a:ext>
              </a:extLst>
            </p:cNvPr>
            <p:cNvSpPr/>
            <p:nvPr/>
          </p:nvSpPr>
          <p:spPr>
            <a:xfrm>
              <a:off x="6442449" y="1698955"/>
              <a:ext cx="970604" cy="3227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140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Network</a:t>
              </a:r>
              <a:endParaRPr kumimoji="0" lang="zh-CN" altLang="en-US" sz="140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151347E3-F05C-61FF-B5B9-B52FCC6ECE1C}"/>
                </a:ext>
              </a:extLst>
            </p:cNvPr>
            <p:cNvSpPr/>
            <p:nvPr/>
          </p:nvSpPr>
          <p:spPr>
            <a:xfrm>
              <a:off x="6422499" y="1233837"/>
              <a:ext cx="1981109" cy="3227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 Power</a:t>
              </a:r>
              <a:r>
                <a:rPr kumimoji="0" lang="zh-CN" altLang="en-US" sz="140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1400" i="1" dirty="0">
                  <a:solidFill>
                    <a:prstClr val="white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Equation</a:t>
              </a:r>
              <a:endParaRPr kumimoji="0" lang="zh-CN" altLang="en-US" sz="140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B9F9CA98-71D6-A92D-C2BF-666464A2AA92}"/>
                </a:ext>
              </a:extLst>
            </p:cNvPr>
            <p:cNvSpPr/>
            <p:nvPr/>
          </p:nvSpPr>
          <p:spPr>
            <a:xfrm>
              <a:off x="7605349" y="1698955"/>
              <a:ext cx="798260" cy="125629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7D66E12B-5596-38E8-72F8-1C24D12B8575}"/>
                </a:ext>
              </a:extLst>
            </p:cNvPr>
            <p:cNvSpPr/>
            <p:nvPr/>
          </p:nvSpPr>
          <p:spPr>
            <a:xfrm>
              <a:off x="7675509" y="1786933"/>
              <a:ext cx="640424" cy="29088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1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CPU</a:t>
              </a:r>
              <a:endParaRPr kumimoji="0" lang="zh-CN" altLang="en-US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F137810A-86C2-52CD-6D63-E794171DA5D1}"/>
                </a:ext>
              </a:extLst>
            </p:cNvPr>
            <p:cNvSpPr/>
            <p:nvPr/>
          </p:nvSpPr>
          <p:spPr>
            <a:xfrm>
              <a:off x="7679831" y="2199851"/>
              <a:ext cx="640424" cy="29088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GPS</a:t>
              </a:r>
              <a:endParaRPr kumimoji="0" lang="zh-CN" altLang="en-US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A751F9F9-C8B7-09B8-E3B0-D8801C39A7D3}"/>
                </a:ext>
              </a:extLst>
            </p:cNvPr>
            <p:cNvSpPr/>
            <p:nvPr/>
          </p:nvSpPr>
          <p:spPr>
            <a:xfrm>
              <a:off x="7688884" y="2582615"/>
              <a:ext cx="640424" cy="29088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Display</a:t>
              </a:r>
              <a:endParaRPr kumimoji="0" lang="zh-CN" altLang="en-US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70" name="直接箭头连接符 62">
              <a:extLst>
                <a:ext uri="{FF2B5EF4-FFF2-40B4-BE49-F238E27FC236}">
                  <a16:creationId xmlns:a16="http://schemas.microsoft.com/office/drawing/2014/main" id="{9A78C005-A051-098E-DF78-4728C3F793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03312" y="1580277"/>
              <a:ext cx="212651" cy="103536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箭头连接符 62">
              <a:extLst>
                <a:ext uri="{FF2B5EF4-FFF2-40B4-BE49-F238E27FC236}">
                  <a16:creationId xmlns:a16="http://schemas.microsoft.com/office/drawing/2014/main" id="{8BD605A3-3B52-9D01-F026-BAEF3CC47082}"/>
                </a:ext>
              </a:extLst>
            </p:cNvPr>
            <p:cNvCxnSpPr>
              <a:cxnSpLocks/>
            </p:cNvCxnSpPr>
            <p:nvPr/>
          </p:nvCxnSpPr>
          <p:spPr>
            <a:xfrm>
              <a:off x="7675509" y="1580277"/>
              <a:ext cx="218516" cy="98369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箭头连接符 62">
              <a:extLst>
                <a:ext uri="{FF2B5EF4-FFF2-40B4-BE49-F238E27FC236}">
                  <a16:creationId xmlns:a16="http://schemas.microsoft.com/office/drawing/2014/main" id="{C9BB1998-BF54-A25F-2A26-A9BEA460C421}"/>
                </a:ext>
              </a:extLst>
            </p:cNvPr>
            <p:cNvCxnSpPr>
              <a:cxnSpLocks/>
            </p:cNvCxnSpPr>
            <p:nvPr/>
          </p:nvCxnSpPr>
          <p:spPr>
            <a:xfrm>
              <a:off x="6927751" y="2042298"/>
              <a:ext cx="0" cy="144093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3" name="矩形 182">
            <a:extLst>
              <a:ext uri="{FF2B5EF4-FFF2-40B4-BE49-F238E27FC236}">
                <a16:creationId xmlns:a16="http://schemas.microsoft.com/office/drawing/2014/main" id="{C66F234F-A305-E256-845D-D8C1E561428F}"/>
              </a:ext>
            </a:extLst>
          </p:cNvPr>
          <p:cNvSpPr/>
          <p:nvPr/>
        </p:nvSpPr>
        <p:spPr>
          <a:xfrm>
            <a:off x="1057338" y="4184097"/>
            <a:ext cx="941358" cy="54774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100" b="1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Temperature Feedback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E91362CB-D9CF-AB23-6A8B-2F9E939D7FCD}"/>
              </a:ext>
            </a:extLst>
          </p:cNvPr>
          <p:cNvSpPr/>
          <p:nvPr/>
        </p:nvSpPr>
        <p:spPr>
          <a:xfrm>
            <a:off x="826769" y="3566530"/>
            <a:ext cx="1989772" cy="498331"/>
          </a:xfrm>
          <a:prstGeom prst="rect">
            <a:avLst/>
          </a:prstGeom>
          <a:solidFill>
            <a:srgbClr val="2A4E77"/>
          </a:solidFill>
          <a:ln>
            <a:solidFill>
              <a:srgbClr val="2A4E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rgbClr val="2A4E77"/>
              </a:solidFill>
            </a:endParaRP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856E0E8A-7578-5C55-EB3D-2AB1C1B02F17}"/>
              </a:ext>
            </a:extLst>
          </p:cNvPr>
          <p:cNvSpPr txBox="1"/>
          <p:nvPr/>
        </p:nvSpPr>
        <p:spPr>
          <a:xfrm>
            <a:off x="735955" y="3554085"/>
            <a:ext cx="2189531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i="1" u="none" strike="noStrike" dirty="0">
                <a:solidFill>
                  <a:srgbClr val="EBF3F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Physics Core: Lumped Capacitance Heat Balance</a:t>
            </a:r>
            <a:endParaRPr lang="zh-CN" altLang="en-US" sz="1400" i="1" dirty="0">
              <a:solidFill>
                <a:srgbClr val="EBF3F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0" name="直接箭头连接符 101">
            <a:extLst>
              <a:ext uri="{FF2B5EF4-FFF2-40B4-BE49-F238E27FC236}">
                <a16:creationId xmlns:a16="http://schemas.microsoft.com/office/drawing/2014/main" id="{C06E5259-5CAB-6B88-CA9F-D337B807714A}"/>
              </a:ext>
            </a:extLst>
          </p:cNvPr>
          <p:cNvCxnSpPr>
            <a:cxnSpLocks/>
          </p:cNvCxnSpPr>
          <p:nvPr/>
        </p:nvCxnSpPr>
        <p:spPr>
          <a:xfrm>
            <a:off x="938048" y="4137196"/>
            <a:ext cx="0" cy="648838"/>
          </a:xfrm>
          <a:prstGeom prst="straightConnector1">
            <a:avLst/>
          </a:prstGeom>
          <a:ln cmpd="thinThick">
            <a:solidFill>
              <a:srgbClr val="2A4E77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8" name="直接箭头连接符 101">
            <a:extLst>
              <a:ext uri="{FF2B5EF4-FFF2-40B4-BE49-F238E27FC236}">
                <a16:creationId xmlns:a16="http://schemas.microsoft.com/office/drawing/2014/main" id="{DA9FE531-1994-CDC1-FB25-0DE29173998E}"/>
              </a:ext>
            </a:extLst>
          </p:cNvPr>
          <p:cNvCxnSpPr>
            <a:cxnSpLocks/>
          </p:cNvCxnSpPr>
          <p:nvPr/>
        </p:nvCxnSpPr>
        <p:spPr>
          <a:xfrm>
            <a:off x="966663" y="4076482"/>
            <a:ext cx="449819" cy="107615"/>
          </a:xfrm>
          <a:prstGeom prst="straightConnector1">
            <a:avLst/>
          </a:prstGeom>
          <a:ln cmpd="thinThick">
            <a:solidFill>
              <a:srgbClr val="2A4E77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1" name="直接箭头连接符 101">
            <a:extLst>
              <a:ext uri="{FF2B5EF4-FFF2-40B4-BE49-F238E27FC236}">
                <a16:creationId xmlns:a16="http://schemas.microsoft.com/office/drawing/2014/main" id="{3CBA454D-EC62-1C54-3F76-7E67FAF83F4F}"/>
              </a:ext>
            </a:extLst>
          </p:cNvPr>
          <p:cNvCxnSpPr>
            <a:cxnSpLocks/>
            <a:endCxn id="68" idx="1"/>
          </p:cNvCxnSpPr>
          <p:nvPr/>
        </p:nvCxnSpPr>
        <p:spPr>
          <a:xfrm>
            <a:off x="1973596" y="4364606"/>
            <a:ext cx="151838" cy="5876"/>
          </a:xfrm>
          <a:prstGeom prst="straightConnector1">
            <a:avLst/>
          </a:prstGeom>
          <a:ln cmpd="thinThick">
            <a:solidFill>
              <a:srgbClr val="2A4E77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8" name="文本框 217">
            <a:extLst>
              <a:ext uri="{FF2B5EF4-FFF2-40B4-BE49-F238E27FC236}">
                <a16:creationId xmlns:a16="http://schemas.microsoft.com/office/drawing/2014/main" id="{3452FCBC-A515-EE22-4DC7-A64CA13F9B35}"/>
              </a:ext>
            </a:extLst>
          </p:cNvPr>
          <p:cNvSpPr txBox="1"/>
          <p:nvPr/>
        </p:nvSpPr>
        <p:spPr>
          <a:xfrm>
            <a:off x="3282882" y="3086913"/>
            <a:ext cx="27688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Model4:Aging</a:t>
            </a:r>
            <a:r>
              <a:rPr kumimoji="0" lang="zh-CN" alt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Mechanisms</a:t>
            </a:r>
            <a:endParaRPr kumimoji="0" lang="zh-CN" altLang="en-US" sz="1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439BAD59-1C44-DF6B-F22A-FEA1177340AD}"/>
              </a:ext>
            </a:extLst>
          </p:cNvPr>
          <p:cNvSpPr/>
          <p:nvPr/>
        </p:nvSpPr>
        <p:spPr>
          <a:xfrm>
            <a:off x="3932577" y="3948675"/>
            <a:ext cx="1517115" cy="2556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DOD: Non-linear acceleration</a:t>
            </a:r>
            <a:endParaRPr lang="zh-CN" altLang="en-US" sz="800" b="1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2FCB40B3-E987-35F5-4DAA-3DEB9AC4E374}"/>
              </a:ext>
            </a:extLst>
          </p:cNvPr>
          <p:cNvSpPr/>
          <p:nvPr/>
        </p:nvSpPr>
        <p:spPr>
          <a:xfrm>
            <a:off x="3932577" y="4269665"/>
            <a:ext cx="1517115" cy="2556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" b="1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C-rate: High current stress</a:t>
            </a:r>
            <a:endParaRPr kumimoji="0" lang="zh-CN" altLang="en-US" sz="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A5D3A4E0-1F8E-AF23-7F0A-9A689626CE8E}"/>
              </a:ext>
            </a:extLst>
          </p:cNvPr>
          <p:cNvSpPr/>
          <p:nvPr/>
        </p:nvSpPr>
        <p:spPr>
          <a:xfrm>
            <a:off x="3942026" y="5328741"/>
            <a:ext cx="1517115" cy="2312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000" b="1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  <a:endParaRPr kumimoji="0" lang="zh-CN" altLang="en-US" sz="1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F1E9B14F-8AA5-109A-0C88-04781191988E}"/>
              </a:ext>
            </a:extLst>
          </p:cNvPr>
          <p:cNvSpPr/>
          <p:nvPr/>
        </p:nvSpPr>
        <p:spPr>
          <a:xfrm>
            <a:off x="3957549" y="5005783"/>
            <a:ext cx="491131" cy="2312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000" b="1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endParaRPr kumimoji="0" lang="zh-CN" altLang="en-US" sz="1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EEA18BA1-8399-62C3-CE82-D95D776EF799}"/>
              </a:ext>
            </a:extLst>
          </p:cNvPr>
          <p:cNvSpPr/>
          <p:nvPr/>
        </p:nvSpPr>
        <p:spPr>
          <a:xfrm>
            <a:off x="4561636" y="5011137"/>
            <a:ext cx="863316" cy="2259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000" b="1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SOC</a:t>
            </a:r>
            <a:endParaRPr kumimoji="0" lang="zh-CN" altLang="en-US" sz="1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4" name="文本框 223">
                <a:extLst>
                  <a:ext uri="{FF2B5EF4-FFF2-40B4-BE49-F238E27FC236}">
                    <a16:creationId xmlns:a16="http://schemas.microsoft.com/office/drawing/2014/main" id="{E8627312-ECBC-9BF9-5C24-94A730C14FA5}"/>
                  </a:ext>
                </a:extLst>
              </p:cNvPr>
              <p:cNvSpPr txBox="1"/>
              <p:nvPr/>
            </p:nvSpPr>
            <p:spPr>
              <a:xfrm>
                <a:off x="3369570" y="3656314"/>
                <a:ext cx="825482" cy="33898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just">
                  <a:tabLst>
                    <a:tab pos="66802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zh-CN" sz="4400" b="1" i="1" kern="10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zh-CN" sz="4400" b="1" i="1" kern="10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4400" b="1" i="0" kern="100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4400" b="1" i="0" kern="100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4400" b="1" i="0" kern="100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zh-CN" sz="4400" b="1" kern="100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tabLst>
                    <a:tab pos="668020" algn="l"/>
                  </a:tabLst>
                </a:pPr>
                <a:r>
                  <a:rPr lang="en-US" altLang="zh-CN" sz="5000" b="1" i="1" kern="1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5000" b="1" kern="100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kumimoji="1" lang="zh-CN" altLang="en-US" sz="5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24" name="文本框 223">
                <a:extLst>
                  <a:ext uri="{FF2B5EF4-FFF2-40B4-BE49-F238E27FC236}">
                    <a16:creationId xmlns:a16="http://schemas.microsoft.com/office/drawing/2014/main" id="{E8627312-ECBC-9BF9-5C24-94A730C14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570" y="3656314"/>
                <a:ext cx="825482" cy="3389839"/>
              </a:xfrm>
              <a:prstGeom prst="rect">
                <a:avLst/>
              </a:prstGeom>
              <a:blipFill>
                <a:blip r:embed="rId2"/>
                <a:stretch>
                  <a:fillRect l="-368182" t="-119101" r="-327273" b="-1247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矩形 250">
            <a:extLst>
              <a:ext uri="{FF2B5EF4-FFF2-40B4-BE49-F238E27FC236}">
                <a16:creationId xmlns:a16="http://schemas.microsoft.com/office/drawing/2014/main" id="{2B9A9327-CC17-F68C-42B5-147220D2EC7F}"/>
              </a:ext>
            </a:extLst>
          </p:cNvPr>
          <p:cNvSpPr/>
          <p:nvPr/>
        </p:nvSpPr>
        <p:spPr>
          <a:xfrm>
            <a:off x="6091798" y="174391"/>
            <a:ext cx="4355221" cy="404280"/>
          </a:xfrm>
          <a:prstGeom prst="rect">
            <a:avLst/>
          </a:prstGeom>
          <a:solidFill>
            <a:srgbClr val="2A4E7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0" u="none" strike="noStrike" cap="all" dirty="0">
                <a:solidFill>
                  <a:srgbClr val="FFFFFF"/>
                </a:solidFill>
                <a:effectLst/>
                <a:latin typeface="Times New Roman" panose="02020603050405020304" pitchFamily="18" charset="0"/>
              </a:rPr>
              <a:t>PHASE II: STOCHASTIC BEHAVIOR</a:t>
            </a:r>
            <a:endParaRPr kumimoji="1" lang="zh-CN" altLang="en-US" dirty="0">
              <a:solidFill>
                <a:srgbClr val="2A4E77"/>
              </a:solidFill>
            </a:endParaRPr>
          </a:p>
        </p:txBody>
      </p:sp>
      <p:cxnSp>
        <p:nvCxnSpPr>
          <p:cNvPr id="257" name="直接箭头连接符 62">
            <a:extLst>
              <a:ext uri="{FF2B5EF4-FFF2-40B4-BE49-F238E27FC236}">
                <a16:creationId xmlns:a16="http://schemas.microsoft.com/office/drawing/2014/main" id="{D4C97653-317B-DEDE-B5C9-E7D72B38681E}"/>
              </a:ext>
            </a:extLst>
          </p:cNvPr>
          <p:cNvCxnSpPr>
            <a:cxnSpLocks/>
          </p:cNvCxnSpPr>
          <p:nvPr/>
        </p:nvCxnSpPr>
        <p:spPr>
          <a:xfrm>
            <a:off x="6561472" y="798745"/>
            <a:ext cx="1707936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椭圆 258">
            <a:extLst>
              <a:ext uri="{FF2B5EF4-FFF2-40B4-BE49-F238E27FC236}">
                <a16:creationId xmlns:a16="http://schemas.microsoft.com/office/drawing/2014/main" id="{3699626F-9665-46B5-D354-B05C3995F3ED}"/>
              </a:ext>
            </a:extLst>
          </p:cNvPr>
          <p:cNvSpPr/>
          <p:nvPr/>
        </p:nvSpPr>
        <p:spPr>
          <a:xfrm>
            <a:off x="6199804" y="674005"/>
            <a:ext cx="247135" cy="2494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4" name="直接箭头连接符 62">
            <a:extLst>
              <a:ext uri="{FF2B5EF4-FFF2-40B4-BE49-F238E27FC236}">
                <a16:creationId xmlns:a16="http://schemas.microsoft.com/office/drawing/2014/main" id="{BBDA5422-1946-43E6-DD35-2B945B0C3DB7}"/>
              </a:ext>
            </a:extLst>
          </p:cNvPr>
          <p:cNvCxnSpPr>
            <a:cxnSpLocks/>
          </p:cNvCxnSpPr>
          <p:nvPr/>
        </p:nvCxnSpPr>
        <p:spPr>
          <a:xfrm>
            <a:off x="9724828" y="2702979"/>
            <a:ext cx="0" cy="46025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椭圆 264">
            <a:extLst>
              <a:ext uri="{FF2B5EF4-FFF2-40B4-BE49-F238E27FC236}">
                <a16:creationId xmlns:a16="http://schemas.microsoft.com/office/drawing/2014/main" id="{6D4222D0-3A1E-8629-C05F-32D7D365F2FE}"/>
              </a:ext>
            </a:extLst>
          </p:cNvPr>
          <p:cNvSpPr/>
          <p:nvPr/>
        </p:nvSpPr>
        <p:spPr>
          <a:xfrm>
            <a:off x="8460774" y="682752"/>
            <a:ext cx="247135" cy="2494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7" name="椭圆 266">
            <a:extLst>
              <a:ext uri="{FF2B5EF4-FFF2-40B4-BE49-F238E27FC236}">
                <a16:creationId xmlns:a16="http://schemas.microsoft.com/office/drawing/2014/main" id="{102778CB-EDBE-117B-8C0F-D1E4F03B441B}"/>
              </a:ext>
            </a:extLst>
          </p:cNvPr>
          <p:cNvSpPr/>
          <p:nvPr/>
        </p:nvSpPr>
        <p:spPr>
          <a:xfrm>
            <a:off x="9282367" y="2808364"/>
            <a:ext cx="247135" cy="2494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7E687BC-951D-1B78-07FC-4A9E60B8474B}"/>
              </a:ext>
            </a:extLst>
          </p:cNvPr>
          <p:cNvGrpSpPr/>
          <p:nvPr/>
        </p:nvGrpSpPr>
        <p:grpSpPr>
          <a:xfrm>
            <a:off x="6237821" y="1058953"/>
            <a:ext cx="2127030" cy="2008828"/>
            <a:chOff x="6729353" y="925441"/>
            <a:chExt cx="2150129" cy="2008828"/>
          </a:xfrm>
        </p:grpSpPr>
        <p:sp>
          <p:nvSpPr>
            <p:cNvPr id="272" name="矩形 271">
              <a:extLst>
                <a:ext uri="{FF2B5EF4-FFF2-40B4-BE49-F238E27FC236}">
                  <a16:creationId xmlns:a16="http://schemas.microsoft.com/office/drawing/2014/main" id="{D140F875-8868-64A3-4638-7767598C7A30}"/>
                </a:ext>
              </a:extLst>
            </p:cNvPr>
            <p:cNvSpPr/>
            <p:nvPr/>
          </p:nvSpPr>
          <p:spPr>
            <a:xfrm>
              <a:off x="6729353" y="925441"/>
              <a:ext cx="2150129" cy="20088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rgbClr val="2A4E77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2" name="矩形 251">
              <a:extLst>
                <a:ext uri="{FF2B5EF4-FFF2-40B4-BE49-F238E27FC236}">
                  <a16:creationId xmlns:a16="http://schemas.microsoft.com/office/drawing/2014/main" id="{7FD5FC97-A45F-6717-E3D7-E66A04002699}"/>
                </a:ext>
              </a:extLst>
            </p:cNvPr>
            <p:cNvSpPr/>
            <p:nvPr/>
          </p:nvSpPr>
          <p:spPr>
            <a:xfrm>
              <a:off x="6932858" y="1664522"/>
              <a:ext cx="906401" cy="30509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100" b="1" i="1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Streamer</a:t>
              </a:r>
              <a:endParaRPr kumimoji="0" lang="zh-CN" altLang="en-US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53" name="矩形 252">
              <a:extLst>
                <a:ext uri="{FF2B5EF4-FFF2-40B4-BE49-F238E27FC236}">
                  <a16:creationId xmlns:a16="http://schemas.microsoft.com/office/drawing/2014/main" id="{4ACF9CB8-09C5-CBA0-F609-39269881D578}"/>
                </a:ext>
              </a:extLst>
            </p:cNvPr>
            <p:cNvSpPr/>
            <p:nvPr/>
          </p:nvSpPr>
          <p:spPr>
            <a:xfrm>
              <a:off x="6932857" y="2076903"/>
              <a:ext cx="1740823" cy="30509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100" b="1" i="1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Productivity User</a:t>
              </a:r>
              <a:endParaRPr kumimoji="0" lang="zh-CN" altLang="en-US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54" name="矩形 253">
              <a:extLst>
                <a:ext uri="{FF2B5EF4-FFF2-40B4-BE49-F238E27FC236}">
                  <a16:creationId xmlns:a16="http://schemas.microsoft.com/office/drawing/2014/main" id="{5989BF46-F7A7-D0F3-6290-6E976F265055}"/>
                </a:ext>
              </a:extLst>
            </p:cNvPr>
            <p:cNvSpPr/>
            <p:nvPr/>
          </p:nvSpPr>
          <p:spPr>
            <a:xfrm>
              <a:off x="6927538" y="2504011"/>
              <a:ext cx="1740823" cy="30509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100" b="1" i="1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Casual User</a:t>
              </a:r>
              <a:endParaRPr kumimoji="0" lang="zh-CN" altLang="en-US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56" name="矩形 255">
              <a:extLst>
                <a:ext uri="{FF2B5EF4-FFF2-40B4-BE49-F238E27FC236}">
                  <a16:creationId xmlns:a16="http://schemas.microsoft.com/office/drawing/2014/main" id="{D7E472E8-CD43-AE0E-BA43-F9C8AE1DF88C}"/>
                </a:ext>
              </a:extLst>
            </p:cNvPr>
            <p:cNvSpPr/>
            <p:nvPr/>
          </p:nvSpPr>
          <p:spPr>
            <a:xfrm>
              <a:off x="7924532" y="1664522"/>
              <a:ext cx="749150" cy="30509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Gamer</a:t>
              </a:r>
              <a:endParaRPr kumimoji="0" lang="zh-CN" altLang="en-US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70" name="矩形 269">
              <a:extLst>
                <a:ext uri="{FF2B5EF4-FFF2-40B4-BE49-F238E27FC236}">
                  <a16:creationId xmlns:a16="http://schemas.microsoft.com/office/drawing/2014/main" id="{75EFC09E-DE01-B14A-54FD-293DF3C89290}"/>
                </a:ext>
              </a:extLst>
            </p:cNvPr>
            <p:cNvSpPr/>
            <p:nvPr/>
          </p:nvSpPr>
          <p:spPr>
            <a:xfrm>
              <a:off x="6932858" y="1033317"/>
              <a:ext cx="1740824" cy="52598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EBF3F7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1400" b="1" i="1" u="none" strike="noStrike" dirty="0">
                  <a:solidFill>
                    <a:srgbClr val="EBF3F7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Identified 4 Distinct User Profiles</a:t>
              </a:r>
              <a:endParaRPr kumimoji="0" lang="zh-CN" alt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EBF3F7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8F95A57-887C-EC1C-FE23-D7047BE587C0}"/>
              </a:ext>
            </a:extLst>
          </p:cNvPr>
          <p:cNvGrpSpPr/>
          <p:nvPr/>
        </p:nvGrpSpPr>
        <p:grpSpPr>
          <a:xfrm>
            <a:off x="8518781" y="1054684"/>
            <a:ext cx="1608200" cy="1602798"/>
            <a:chOff x="6720727" y="3116551"/>
            <a:chExt cx="2150129" cy="1602798"/>
          </a:xfrm>
        </p:grpSpPr>
        <p:sp>
          <p:nvSpPr>
            <p:cNvPr id="274" name="矩形 273">
              <a:extLst>
                <a:ext uri="{FF2B5EF4-FFF2-40B4-BE49-F238E27FC236}">
                  <a16:creationId xmlns:a16="http://schemas.microsoft.com/office/drawing/2014/main" id="{E00D4D43-B953-0A08-A1CD-0219E3BFBE96}"/>
                </a:ext>
              </a:extLst>
            </p:cNvPr>
            <p:cNvSpPr/>
            <p:nvPr/>
          </p:nvSpPr>
          <p:spPr>
            <a:xfrm>
              <a:off x="6720727" y="3116551"/>
              <a:ext cx="2150129" cy="160279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rgbClr val="2A4E77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75" name="矩形 274">
              <a:extLst>
                <a:ext uri="{FF2B5EF4-FFF2-40B4-BE49-F238E27FC236}">
                  <a16:creationId xmlns:a16="http://schemas.microsoft.com/office/drawing/2014/main" id="{0CBC9CA2-98C2-5CDF-A82C-DAF95F91A68D}"/>
                </a:ext>
              </a:extLst>
            </p:cNvPr>
            <p:cNvSpPr/>
            <p:nvPr/>
          </p:nvSpPr>
          <p:spPr>
            <a:xfrm>
              <a:off x="6924232" y="3855632"/>
              <a:ext cx="1749448" cy="30509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100" i="1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State Space</a:t>
              </a:r>
              <a:endParaRPr kumimoji="0" lang="zh-CN" altLang="en-US" sz="11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76" name="矩形 275">
              <a:extLst>
                <a:ext uri="{FF2B5EF4-FFF2-40B4-BE49-F238E27FC236}">
                  <a16:creationId xmlns:a16="http://schemas.microsoft.com/office/drawing/2014/main" id="{16F0715F-739A-11A3-DEB7-175B89B54CC3}"/>
                </a:ext>
              </a:extLst>
            </p:cNvPr>
            <p:cNvSpPr/>
            <p:nvPr/>
          </p:nvSpPr>
          <p:spPr>
            <a:xfrm>
              <a:off x="6924231" y="4268013"/>
              <a:ext cx="1740823" cy="30509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100" i="1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Transition Matrix</a:t>
              </a:r>
              <a:endParaRPr kumimoji="0" lang="zh-CN" altLang="en-US" sz="11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77" name="矩形 276">
              <a:extLst>
                <a:ext uri="{FF2B5EF4-FFF2-40B4-BE49-F238E27FC236}">
                  <a16:creationId xmlns:a16="http://schemas.microsoft.com/office/drawing/2014/main" id="{D7C5074C-FD29-0768-D37C-48085C645496}"/>
                </a:ext>
              </a:extLst>
            </p:cNvPr>
            <p:cNvSpPr/>
            <p:nvPr/>
          </p:nvSpPr>
          <p:spPr>
            <a:xfrm>
              <a:off x="6924232" y="3224427"/>
              <a:ext cx="1740824" cy="52598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EBF3F7"/>
                  </a:solidFill>
                  <a:effectLst/>
                  <a:uLnTx/>
                  <a:uFillTx/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1400" b="1" i="1" u="none" strike="noStrike" dirty="0">
                  <a:solidFill>
                    <a:srgbClr val="EBF3F7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Markov Chain Modeling</a:t>
              </a:r>
              <a:endParaRPr kumimoji="0" lang="zh-CN" alt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EBF3F7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80" name="矩形 279">
            <a:extLst>
              <a:ext uri="{FF2B5EF4-FFF2-40B4-BE49-F238E27FC236}">
                <a16:creationId xmlns:a16="http://schemas.microsoft.com/office/drawing/2014/main" id="{D2E91727-5D0F-B12D-BEB8-CEA37DDA5339}"/>
              </a:ext>
            </a:extLst>
          </p:cNvPr>
          <p:cNvSpPr/>
          <p:nvPr/>
        </p:nvSpPr>
        <p:spPr>
          <a:xfrm>
            <a:off x="8492433" y="3196108"/>
            <a:ext cx="1749448" cy="3050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100" b="1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Monte Carlo Simulation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C372676A-5D15-C078-8A90-C3EF13293D64}"/>
              </a:ext>
            </a:extLst>
          </p:cNvPr>
          <p:cNvSpPr/>
          <p:nvPr/>
        </p:nvSpPr>
        <p:spPr>
          <a:xfrm>
            <a:off x="6561472" y="3189798"/>
            <a:ext cx="1351331" cy="3050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1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100" b="1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ata verification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82" name="椭圆 281">
            <a:extLst>
              <a:ext uri="{FF2B5EF4-FFF2-40B4-BE49-F238E27FC236}">
                <a16:creationId xmlns:a16="http://schemas.microsoft.com/office/drawing/2014/main" id="{8C1A654E-27CF-27FD-0A12-47C96D4169EB}"/>
              </a:ext>
            </a:extLst>
          </p:cNvPr>
          <p:cNvSpPr/>
          <p:nvPr/>
        </p:nvSpPr>
        <p:spPr>
          <a:xfrm>
            <a:off x="6176534" y="3213375"/>
            <a:ext cx="247135" cy="2494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接箭头连接符 62">
            <a:extLst>
              <a:ext uri="{FF2B5EF4-FFF2-40B4-BE49-F238E27FC236}">
                <a16:creationId xmlns:a16="http://schemas.microsoft.com/office/drawing/2014/main" id="{3FB72A7C-F391-6B91-AD5E-714E86057A23}"/>
              </a:ext>
            </a:extLst>
          </p:cNvPr>
          <p:cNvCxnSpPr>
            <a:cxnSpLocks/>
          </p:cNvCxnSpPr>
          <p:nvPr/>
        </p:nvCxnSpPr>
        <p:spPr>
          <a:xfrm flipH="1">
            <a:off x="7998331" y="3313545"/>
            <a:ext cx="366520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肘形连接符 25">
            <a:extLst>
              <a:ext uri="{FF2B5EF4-FFF2-40B4-BE49-F238E27FC236}">
                <a16:creationId xmlns:a16="http://schemas.microsoft.com/office/drawing/2014/main" id="{827C1320-E229-8C93-2640-D5E8F14FF1AC}"/>
              </a:ext>
            </a:extLst>
          </p:cNvPr>
          <p:cNvCxnSpPr>
            <a:cxnSpLocks/>
          </p:cNvCxnSpPr>
          <p:nvPr/>
        </p:nvCxnSpPr>
        <p:spPr>
          <a:xfrm>
            <a:off x="8861839" y="793856"/>
            <a:ext cx="862989" cy="260828"/>
          </a:xfrm>
          <a:prstGeom prst="bentConnector3">
            <a:avLst>
              <a:gd name="adj1" fmla="val 99524"/>
            </a:avLst>
          </a:prstGeom>
          <a:ln w="3810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D7B67E9D-CADE-FA1A-10A4-9E46108552A9}"/>
              </a:ext>
            </a:extLst>
          </p:cNvPr>
          <p:cNvSpPr/>
          <p:nvPr/>
        </p:nvSpPr>
        <p:spPr>
          <a:xfrm>
            <a:off x="6091797" y="3650203"/>
            <a:ext cx="4355221" cy="404280"/>
          </a:xfrm>
          <a:prstGeom prst="rect">
            <a:avLst/>
          </a:prstGeom>
          <a:solidFill>
            <a:srgbClr val="2A4E7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0" u="none" strike="noStrike" cap="all" dirty="0">
                <a:solidFill>
                  <a:srgbClr val="FFFFFF"/>
                </a:solidFill>
                <a:effectLst/>
                <a:latin typeface="Times New Roman" panose="02020603050405020304" pitchFamily="18" charset="0"/>
              </a:rPr>
              <a:t>PHASE III: Sensitive Analysis</a:t>
            </a:r>
            <a:endParaRPr kumimoji="1" lang="zh-CN" altLang="en-US" dirty="0">
              <a:solidFill>
                <a:srgbClr val="2A4E77"/>
              </a:solidFill>
            </a:endParaRP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46668173-386E-D2D1-654D-9BC11E09F9EA}"/>
              </a:ext>
            </a:extLst>
          </p:cNvPr>
          <p:cNvGrpSpPr/>
          <p:nvPr/>
        </p:nvGrpSpPr>
        <p:grpSpPr>
          <a:xfrm>
            <a:off x="6547927" y="4199119"/>
            <a:ext cx="3243085" cy="1506865"/>
            <a:chOff x="6481743" y="4187640"/>
            <a:chExt cx="3702014" cy="150686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CF577D5C-B545-14F9-5D30-1C3248E2F349}"/>
                </a:ext>
              </a:extLst>
            </p:cNvPr>
            <p:cNvSpPr/>
            <p:nvPr/>
          </p:nvSpPr>
          <p:spPr>
            <a:xfrm>
              <a:off x="6481743" y="4187640"/>
              <a:ext cx="3702014" cy="3025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b="1" i="1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Power Consumption Decomposition &amp; Ranking</a:t>
              </a:r>
              <a:endParaRPr kumimoji="0" lang="zh-CN" altLang="en-US" sz="1200" b="1" i="1" u="none" strike="noStrike" kern="1200" cap="none" spc="0" normalizeH="0" baseline="0" noProof="0" dirty="0">
                <a:ln>
                  <a:noFill/>
                </a:ln>
                <a:solidFill>
                  <a:srgbClr val="EBF3F7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C696D993-E888-E27C-91DA-47912642FFA8}"/>
                </a:ext>
              </a:extLst>
            </p:cNvPr>
            <p:cNvSpPr/>
            <p:nvPr/>
          </p:nvSpPr>
          <p:spPr>
            <a:xfrm>
              <a:off x="6481743" y="4589084"/>
              <a:ext cx="3702014" cy="3025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b="1" i="1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Operational Constraints: Initial SOC</a:t>
              </a:r>
              <a:endParaRPr kumimoji="0" lang="zh-CN" altLang="en-US" sz="1200" b="1" i="1" u="none" strike="noStrike" kern="1200" cap="none" spc="0" normalizeH="0" baseline="0" noProof="0" dirty="0">
                <a:ln>
                  <a:noFill/>
                </a:ln>
                <a:solidFill>
                  <a:srgbClr val="EBF3F7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DB06E4A6-E07D-334F-8B72-8AB4D0028FAD}"/>
                </a:ext>
              </a:extLst>
            </p:cNvPr>
            <p:cNvSpPr/>
            <p:nvPr/>
          </p:nvSpPr>
          <p:spPr>
            <a:xfrm>
              <a:off x="6481743" y="4979377"/>
              <a:ext cx="3702014" cy="3025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b="1" i="1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Environmental Constraints: Temperature</a:t>
              </a:r>
              <a:endParaRPr kumimoji="0" lang="zh-CN" altLang="en-US" sz="1200" b="1" i="1" u="none" strike="noStrike" kern="1200" cap="none" spc="0" normalizeH="0" baseline="0" noProof="0" dirty="0">
                <a:ln>
                  <a:noFill/>
                </a:ln>
                <a:solidFill>
                  <a:srgbClr val="EBF3F7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C438A950-D20D-5A4F-20F9-2CCB91FF3063}"/>
                </a:ext>
              </a:extLst>
            </p:cNvPr>
            <p:cNvSpPr/>
            <p:nvPr/>
          </p:nvSpPr>
          <p:spPr>
            <a:xfrm>
              <a:off x="6481743" y="5391972"/>
              <a:ext cx="3702014" cy="3025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b="1" i="1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Long-Term Health Sensitivity: SOH</a:t>
              </a:r>
              <a:endParaRPr kumimoji="0" lang="zh-CN" altLang="en-US" sz="1200" b="1" i="1" u="none" strike="noStrike" kern="1200" cap="none" spc="0" normalizeH="0" baseline="0" noProof="0" dirty="0">
                <a:ln>
                  <a:noFill/>
                </a:ln>
                <a:solidFill>
                  <a:srgbClr val="EBF3F7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3" name="椭圆 72">
            <a:extLst>
              <a:ext uri="{FF2B5EF4-FFF2-40B4-BE49-F238E27FC236}">
                <a16:creationId xmlns:a16="http://schemas.microsoft.com/office/drawing/2014/main" id="{DEE44A45-C8CA-8E3D-E19F-2CD7B2AAC610}"/>
              </a:ext>
            </a:extLst>
          </p:cNvPr>
          <p:cNvSpPr/>
          <p:nvPr/>
        </p:nvSpPr>
        <p:spPr>
          <a:xfrm>
            <a:off x="6179950" y="4211535"/>
            <a:ext cx="247135" cy="2494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D9593911-A874-9BD6-94EC-9D8B3584F8BD}"/>
              </a:ext>
            </a:extLst>
          </p:cNvPr>
          <p:cNvSpPr/>
          <p:nvPr/>
        </p:nvSpPr>
        <p:spPr>
          <a:xfrm>
            <a:off x="6172156" y="4596337"/>
            <a:ext cx="247135" cy="2494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9641EE14-C2DE-5BBB-5CA4-BE5147BA6C0C}"/>
              </a:ext>
            </a:extLst>
          </p:cNvPr>
          <p:cNvSpPr/>
          <p:nvPr/>
        </p:nvSpPr>
        <p:spPr>
          <a:xfrm>
            <a:off x="6177569" y="5015857"/>
            <a:ext cx="247135" cy="2494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7057F8E8-6B45-593E-6A32-5E012AE236EF}"/>
              </a:ext>
            </a:extLst>
          </p:cNvPr>
          <p:cNvSpPr/>
          <p:nvPr/>
        </p:nvSpPr>
        <p:spPr>
          <a:xfrm>
            <a:off x="6182154" y="5388966"/>
            <a:ext cx="247135" cy="24948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1A2101B4-900E-FFB7-4082-9CA45131CD9D}"/>
              </a:ext>
            </a:extLst>
          </p:cNvPr>
          <p:cNvSpPr/>
          <p:nvPr/>
        </p:nvSpPr>
        <p:spPr>
          <a:xfrm rot="5400000">
            <a:off x="9470673" y="4799184"/>
            <a:ext cx="1454348" cy="24713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1" kern="1200" cap="none" spc="0" normalizeH="0" baseline="0" noProof="0" dirty="0">
                <a:ln>
                  <a:noFill/>
                </a:ln>
                <a:solidFill>
                  <a:srgbClr val="EBF3F7"/>
                </a:solidFill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CONCLUSION</a:t>
            </a:r>
            <a:endParaRPr kumimoji="0" lang="zh-CN" altLang="en-US" sz="1400" i="1" u="none" strike="noStrike" kern="1200" cap="none" spc="0" normalizeH="0" baseline="0" noProof="0" dirty="0">
              <a:ln>
                <a:noFill/>
              </a:ln>
              <a:solidFill>
                <a:srgbClr val="EBF3F7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79" name="直接箭头连接符 62">
            <a:extLst>
              <a:ext uri="{FF2B5EF4-FFF2-40B4-BE49-F238E27FC236}">
                <a16:creationId xmlns:a16="http://schemas.microsoft.com/office/drawing/2014/main" id="{26B4C7CD-F89E-E354-0931-5E8DF6D15A02}"/>
              </a:ext>
            </a:extLst>
          </p:cNvPr>
          <p:cNvCxnSpPr>
            <a:cxnSpLocks/>
          </p:cNvCxnSpPr>
          <p:nvPr/>
        </p:nvCxnSpPr>
        <p:spPr>
          <a:xfrm>
            <a:off x="9795005" y="4348429"/>
            <a:ext cx="264616" cy="352056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62">
            <a:extLst>
              <a:ext uri="{FF2B5EF4-FFF2-40B4-BE49-F238E27FC236}">
                <a16:creationId xmlns:a16="http://schemas.microsoft.com/office/drawing/2014/main" id="{35E26201-9D72-F36D-8E48-7BDDC2280753}"/>
              </a:ext>
            </a:extLst>
          </p:cNvPr>
          <p:cNvCxnSpPr>
            <a:cxnSpLocks/>
          </p:cNvCxnSpPr>
          <p:nvPr/>
        </p:nvCxnSpPr>
        <p:spPr>
          <a:xfrm>
            <a:off x="9790882" y="4730828"/>
            <a:ext cx="273399" cy="149323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62">
            <a:extLst>
              <a:ext uri="{FF2B5EF4-FFF2-40B4-BE49-F238E27FC236}">
                <a16:creationId xmlns:a16="http://schemas.microsoft.com/office/drawing/2014/main" id="{C6498C53-9EB5-C564-F9C5-C5B8E0A7DAA6}"/>
              </a:ext>
            </a:extLst>
          </p:cNvPr>
          <p:cNvCxnSpPr>
            <a:cxnSpLocks/>
          </p:cNvCxnSpPr>
          <p:nvPr/>
        </p:nvCxnSpPr>
        <p:spPr>
          <a:xfrm flipV="1">
            <a:off x="9796295" y="5017262"/>
            <a:ext cx="263326" cy="134812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62">
            <a:extLst>
              <a:ext uri="{FF2B5EF4-FFF2-40B4-BE49-F238E27FC236}">
                <a16:creationId xmlns:a16="http://schemas.microsoft.com/office/drawing/2014/main" id="{4062DB04-2EA2-F483-F95E-493D3BF13C80}"/>
              </a:ext>
            </a:extLst>
          </p:cNvPr>
          <p:cNvCxnSpPr>
            <a:cxnSpLocks/>
          </p:cNvCxnSpPr>
          <p:nvPr/>
        </p:nvCxnSpPr>
        <p:spPr>
          <a:xfrm flipV="1">
            <a:off x="9789546" y="5132909"/>
            <a:ext cx="270075" cy="423005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1&quot;:[76235679568]}"/>
  <p:tag name="COMMONDATA" val="eyJoZGlkIjoiNDllYjI0M2Q4MTcxNjFkNzNmZjRiNDE2YzdhYTA2ZjAifQ=="/>
</p:tagLst>
</file>

<file path=ppt/theme/theme1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231E3E"/>
      </a:dk2>
      <a:lt2>
        <a:srgbClr val="F3F2F8"/>
      </a:lt2>
      <a:accent1>
        <a:srgbClr val="6D61B3"/>
      </a:accent1>
      <a:accent2>
        <a:srgbClr val="6578B9"/>
      </a:accent2>
      <a:accent3>
        <a:srgbClr val="7F95DD"/>
      </a:accent3>
      <a:accent4>
        <a:srgbClr val="3D7AB1"/>
      </a:accent4>
      <a:accent5>
        <a:srgbClr val="3577B9"/>
      </a:accent5>
      <a:accent6>
        <a:srgbClr val="298499"/>
      </a:accent6>
      <a:hlink>
        <a:srgbClr val="304FFE"/>
      </a:hlink>
      <a:folHlink>
        <a:srgbClr val="492067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154</Words>
  <Application>Microsoft Macintosh PowerPoint</Application>
  <PresentationFormat>宽屏</PresentationFormat>
  <Paragraphs>58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DengXian</vt:lpstr>
      <vt:lpstr>DengXian</vt:lpstr>
      <vt:lpstr>等线 Light</vt:lpstr>
      <vt:lpstr>Arial</vt:lpstr>
      <vt:lpstr>Cambria Math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White Doctor</cp:lastModifiedBy>
  <cp:revision>23</cp:revision>
  <dcterms:created xsi:type="dcterms:W3CDTF">2024-01-05T04:06:00Z</dcterms:created>
  <dcterms:modified xsi:type="dcterms:W3CDTF">2026-02-02T21:29:09Z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D8AAC06D4728499B87EF0F63C907B4B7_13</vt:lpwstr>
  </property>
  <property fmtid="{D5CDD505-2E9C-101B-9397-08002B2CF9AE}" pid="3" name="KSOProductBuildVer">
    <vt:lpwstr>2052-12.1.0.16120</vt:lpwstr>
  </property>
</Properties>
</file>