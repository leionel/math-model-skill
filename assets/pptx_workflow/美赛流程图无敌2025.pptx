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78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0" r:id="rId13"/>
    <p:sldId id="267" r:id="rId14"/>
    <p:sldId id="282" r:id="rId15"/>
    <p:sldId id="279" r:id="rId16"/>
    <p:sldId id="281" r:id="rId17"/>
    <p:sldId id="268" r:id="rId18"/>
    <p:sldId id="266" r:id="rId19"/>
    <p:sldId id="280" r:id="rId20"/>
    <p:sldId id="270" r:id="rId21"/>
    <p:sldId id="271" r:id="rId22"/>
    <p:sldId id="272" r:id="rId23"/>
    <p:sldId id="269" r:id="rId24"/>
    <p:sldId id="275" r:id="rId25"/>
    <p:sldId id="276" r:id="rId26"/>
    <p:sldId id="277" r:id="rId27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D4A4"/>
    <a:srgbClr val="A0C0E5"/>
    <a:srgbClr val="AA9ABF"/>
    <a:srgbClr val="FBD8BC"/>
    <a:srgbClr val="F1DCDB"/>
    <a:srgbClr val="F2DCDB"/>
    <a:srgbClr val="B7DDE8"/>
    <a:srgbClr val="F8D8BD"/>
    <a:srgbClr val="E77010"/>
    <a:srgbClr val="A562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5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gs" Target="tags/tag19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6A3ED9-8388-4C54-B23A-4E8DF94ED7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5293E-E8DF-4974-9425-E44D3D3FED2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模型总流程图模板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293E-E8DF-4974-9425-E44D3D3FE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模型总流程图模板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293E-E8DF-4974-9425-E44D3D3FE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模型流程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293E-E8DF-4974-9425-E44D3D3FE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模型流程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293E-E8DF-4974-9425-E44D3D3FE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模型流程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293E-E8DF-4974-9425-E44D3D3FE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模型流程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293E-E8DF-4974-9425-E44D3D3FE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模型流程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293E-E8DF-4974-9425-E44D3D3FE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模型流程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293E-E8DF-4974-9425-E44D3D3FE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模型流程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293E-E8DF-4974-9425-E44D3D3FE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模型流程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293E-E8DF-4974-9425-E44D3D3FE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分模型流程图</a:t>
            </a:r>
            <a:r>
              <a:rPr lang="en-US" altLang="zh-CN" dirty="0"/>
              <a:t>-reference</a:t>
            </a:r>
            <a:r>
              <a:rPr lang="zh-CN" altLang="en-US" dirty="0"/>
              <a:t>素材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293E-E8DF-4974-9425-E44D3D3FE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分模型流程图</a:t>
            </a:r>
            <a:r>
              <a:rPr lang="en-US" altLang="zh-CN" dirty="0"/>
              <a:t>-reference</a:t>
            </a:r>
            <a:r>
              <a:rPr lang="zh-CN" altLang="en-US" dirty="0"/>
              <a:t>素材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293E-E8DF-4974-9425-E44D3D3FE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分模型流程图</a:t>
            </a:r>
            <a:r>
              <a:rPr lang="en-US" altLang="zh-CN" dirty="0"/>
              <a:t>-reference</a:t>
            </a:r>
            <a:r>
              <a:rPr lang="zh-CN" altLang="en-US" dirty="0"/>
              <a:t>素材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293E-E8DF-4974-9425-E44D3D3FE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分模型流程图</a:t>
            </a:r>
            <a:r>
              <a:rPr lang="en-US" altLang="zh-CN" dirty="0"/>
              <a:t>-reference</a:t>
            </a:r>
            <a:r>
              <a:rPr lang="zh-CN" altLang="en-US" dirty="0"/>
              <a:t>素材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293E-E8DF-4974-9425-E44D3D3FE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分模型流程图</a:t>
            </a:r>
            <a:r>
              <a:rPr lang="en-US" altLang="zh-CN" dirty="0"/>
              <a:t>-</a:t>
            </a:r>
            <a:r>
              <a:rPr lang="zh-CN" altLang="en-US" dirty="0"/>
              <a:t>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293E-E8DF-4974-9425-E44D3D3FE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分模型流程图</a:t>
            </a:r>
            <a:r>
              <a:rPr lang="en-US" altLang="zh-CN" dirty="0"/>
              <a:t>-</a:t>
            </a:r>
            <a:r>
              <a:rPr lang="zh-CN" altLang="en-US" dirty="0"/>
              <a:t>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293E-E8DF-4974-9425-E44D3D3FE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分模型流程图</a:t>
            </a:r>
            <a:r>
              <a:rPr lang="en-US" altLang="zh-CN" dirty="0"/>
              <a:t>-reference</a:t>
            </a:r>
            <a:r>
              <a:rPr lang="zh-CN" altLang="en-US" dirty="0"/>
              <a:t>素材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293E-E8DF-4974-9425-E44D3D3FE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模型流程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293E-E8DF-4974-9425-E44D3D3FE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模型流程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293E-E8DF-4974-9425-E44D3D3FE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模型流程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293E-E8DF-4974-9425-E44D3D3FE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模型流程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293E-E8DF-4974-9425-E44D3D3FE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1E826-8C9A-4E25-87BA-C08931C1FA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D94FA-D3BD-45E8-963E-5DFA93729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1E826-8C9A-4E25-87BA-C08931C1FA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D94FA-D3BD-45E8-963E-5DFA93729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1E826-8C9A-4E25-87BA-C08931C1FA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D94FA-D3BD-45E8-963E-5DFA93729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1E826-8C9A-4E25-87BA-C08931C1FA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D94FA-D3BD-45E8-963E-5DFA93729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1E826-8C9A-4E25-87BA-C08931C1FA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D94FA-D3BD-45E8-963E-5DFA93729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1E826-8C9A-4E25-87BA-C08931C1FA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D94FA-D3BD-45E8-963E-5DFA93729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1E826-8C9A-4E25-87BA-C08931C1FA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D94FA-D3BD-45E8-963E-5DFA93729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1E826-8C9A-4E25-87BA-C08931C1FA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D94FA-D3BD-45E8-963E-5DFA93729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1E826-8C9A-4E25-87BA-C08931C1FA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D94FA-D3BD-45E8-963E-5DFA93729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1E826-8C9A-4E25-87BA-C08931C1FA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D94FA-D3BD-45E8-963E-5DFA93729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1E826-8C9A-4E25-87BA-C08931C1FA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D94FA-D3BD-45E8-963E-5DFA937298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1E826-8C9A-4E25-87BA-C08931C1FA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ED94FA-D3BD-45E8-963E-5DFA937298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8.png"/><Relationship Id="rId10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9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8.png"/><Relationship Id="rId10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8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25.png"/><Relationship Id="rId28" Type="http://schemas.openxmlformats.org/officeDocument/2006/relationships/notesSlide" Target="../notesSlides/notesSlide14.xml"/><Relationship Id="rId27" Type="http://schemas.openxmlformats.org/officeDocument/2006/relationships/slideLayout" Target="../slideLayouts/slideLayout1.xml"/><Relationship Id="rId26" Type="http://schemas.openxmlformats.org/officeDocument/2006/relationships/image" Target="../media/image32.jpeg"/><Relationship Id="rId25" Type="http://schemas.openxmlformats.org/officeDocument/2006/relationships/image" Target="../media/image31.jpeg"/><Relationship Id="rId24" Type="http://schemas.openxmlformats.org/officeDocument/2006/relationships/image" Target="../media/image30.jpeg"/><Relationship Id="rId23" Type="http://schemas.openxmlformats.org/officeDocument/2006/relationships/image" Target="../media/image29.png"/><Relationship Id="rId22" Type="http://schemas.openxmlformats.org/officeDocument/2006/relationships/tags" Target="../tags/tag18.xml"/><Relationship Id="rId21" Type="http://schemas.openxmlformats.org/officeDocument/2006/relationships/image" Target="../media/image28.png"/><Relationship Id="rId20" Type="http://schemas.openxmlformats.org/officeDocument/2006/relationships/image" Target="../media/image27.png"/><Relationship Id="rId2" Type="http://schemas.openxmlformats.org/officeDocument/2006/relationships/image" Target="../media/image24.jpeg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8" Type="http://schemas.openxmlformats.org/officeDocument/2006/relationships/notesSlide" Target="../notesSlides/notesSlide15.xml"/><Relationship Id="rId27" Type="http://schemas.openxmlformats.org/officeDocument/2006/relationships/slideLayout" Target="../slideLayouts/slideLayout1.xml"/><Relationship Id="rId26" Type="http://schemas.openxmlformats.org/officeDocument/2006/relationships/image" Target="../media/image58.png"/><Relationship Id="rId25" Type="http://schemas.openxmlformats.org/officeDocument/2006/relationships/image" Target="../media/image57.png"/><Relationship Id="rId24" Type="http://schemas.openxmlformats.org/officeDocument/2006/relationships/image" Target="../media/image56.png"/><Relationship Id="rId23" Type="http://schemas.openxmlformats.org/officeDocument/2006/relationships/image" Target="../media/image55.png"/><Relationship Id="rId22" Type="http://schemas.openxmlformats.org/officeDocument/2006/relationships/image" Target="../media/image54.png"/><Relationship Id="rId21" Type="http://schemas.openxmlformats.org/officeDocument/2006/relationships/image" Target="../media/image53.png"/><Relationship Id="rId20" Type="http://schemas.openxmlformats.org/officeDocument/2006/relationships/image" Target="../media/image52.png"/><Relationship Id="rId2" Type="http://schemas.openxmlformats.org/officeDocument/2006/relationships/image" Target="../media/image34.png"/><Relationship Id="rId19" Type="http://schemas.openxmlformats.org/officeDocument/2006/relationships/image" Target="../media/image51.png"/><Relationship Id="rId18" Type="http://schemas.openxmlformats.org/officeDocument/2006/relationships/image" Target="../media/image50.png"/><Relationship Id="rId17" Type="http://schemas.openxmlformats.org/officeDocument/2006/relationships/image" Target="../media/image49.png"/><Relationship Id="rId16" Type="http://schemas.openxmlformats.org/officeDocument/2006/relationships/image" Target="../media/image48.png"/><Relationship Id="rId15" Type="http://schemas.openxmlformats.org/officeDocument/2006/relationships/image" Target="../media/image47.png"/><Relationship Id="rId14" Type="http://schemas.openxmlformats.org/officeDocument/2006/relationships/image" Target="../media/image46.png"/><Relationship Id="rId13" Type="http://schemas.openxmlformats.org/officeDocument/2006/relationships/image" Target="../media/image45.png"/><Relationship Id="rId12" Type="http://schemas.openxmlformats.org/officeDocument/2006/relationships/image" Target="../media/image44.png"/><Relationship Id="rId11" Type="http://schemas.openxmlformats.org/officeDocument/2006/relationships/image" Target="../media/image43.png"/><Relationship Id="rId10" Type="http://schemas.openxmlformats.org/officeDocument/2006/relationships/image" Target="../media/image42.png"/><Relationship Id="rId1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9" Type="http://schemas.openxmlformats.org/officeDocument/2006/relationships/notesSlide" Target="../notesSlides/notesSlide16.xml"/><Relationship Id="rId28" Type="http://schemas.openxmlformats.org/officeDocument/2006/relationships/slideLayout" Target="../slideLayouts/slideLayout1.xml"/><Relationship Id="rId27" Type="http://schemas.openxmlformats.org/officeDocument/2006/relationships/image" Target="../media/image60.png"/><Relationship Id="rId26" Type="http://schemas.openxmlformats.org/officeDocument/2006/relationships/image" Target="../media/image59.png"/><Relationship Id="rId25" Type="http://schemas.openxmlformats.org/officeDocument/2006/relationships/image" Target="../media/image57.png"/><Relationship Id="rId24" Type="http://schemas.openxmlformats.org/officeDocument/2006/relationships/image" Target="../media/image56.png"/><Relationship Id="rId23" Type="http://schemas.openxmlformats.org/officeDocument/2006/relationships/image" Target="../media/image55.png"/><Relationship Id="rId22" Type="http://schemas.openxmlformats.org/officeDocument/2006/relationships/image" Target="../media/image54.png"/><Relationship Id="rId21" Type="http://schemas.openxmlformats.org/officeDocument/2006/relationships/image" Target="../media/image53.png"/><Relationship Id="rId20" Type="http://schemas.openxmlformats.org/officeDocument/2006/relationships/image" Target="../media/image52.png"/><Relationship Id="rId2" Type="http://schemas.openxmlformats.org/officeDocument/2006/relationships/image" Target="../media/image34.png"/><Relationship Id="rId19" Type="http://schemas.openxmlformats.org/officeDocument/2006/relationships/image" Target="../media/image51.png"/><Relationship Id="rId18" Type="http://schemas.openxmlformats.org/officeDocument/2006/relationships/image" Target="../media/image50.png"/><Relationship Id="rId17" Type="http://schemas.openxmlformats.org/officeDocument/2006/relationships/image" Target="../media/image49.png"/><Relationship Id="rId16" Type="http://schemas.openxmlformats.org/officeDocument/2006/relationships/image" Target="../media/image48.png"/><Relationship Id="rId15" Type="http://schemas.openxmlformats.org/officeDocument/2006/relationships/image" Target="../media/image47.png"/><Relationship Id="rId14" Type="http://schemas.openxmlformats.org/officeDocument/2006/relationships/image" Target="../media/image46.png"/><Relationship Id="rId13" Type="http://schemas.openxmlformats.org/officeDocument/2006/relationships/image" Target="../media/image45.png"/><Relationship Id="rId12" Type="http://schemas.openxmlformats.org/officeDocument/2006/relationships/image" Target="../media/image44.png"/><Relationship Id="rId11" Type="http://schemas.openxmlformats.org/officeDocument/2006/relationships/image" Target="../media/image43.png"/><Relationship Id="rId10" Type="http://schemas.openxmlformats.org/officeDocument/2006/relationships/image" Target="../media/image42.png"/><Relationship Id="rId1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62.png"/><Relationship Id="rId7" Type="http://schemas.openxmlformats.org/officeDocument/2006/relationships/image" Target="../media/image61.png"/><Relationship Id="rId6" Type="http://schemas.openxmlformats.org/officeDocument/2006/relationships/image" Target="../media/image26.png"/><Relationship Id="rId5" Type="http://schemas.openxmlformats.org/officeDocument/2006/relationships/image" Target="../media/image24.jpe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3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5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9.png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0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1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29723" y="591096"/>
            <a:ext cx="4357449" cy="528794"/>
          </a:xfrm>
          <a:prstGeom prst="rect">
            <a:avLst/>
          </a:prstGeom>
          <a:noFill/>
          <a:ln w="19050">
            <a:solidFill>
              <a:srgbClr val="9F605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8D6C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I (Section 3&amp;4): Data Processing and Construct Graph</a:t>
            </a:r>
            <a:endParaRPr lang="en-US" altLang="zh-CN" sz="1600" b="1" dirty="0">
              <a:solidFill>
                <a:srgbClr val="8D6C6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833770" y="591096"/>
            <a:ext cx="2579732" cy="533355"/>
          </a:xfrm>
          <a:prstGeom prst="rect">
            <a:avLst/>
          </a:prstGeom>
          <a:noFill/>
          <a:ln w="19050">
            <a:solidFill>
              <a:srgbClr val="9F605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8D6C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II (Section 5): KEGSDG Model</a:t>
            </a:r>
            <a:endParaRPr lang="en-US" altLang="zh-CN" sz="1600" b="1" dirty="0">
              <a:solidFill>
                <a:srgbClr val="8D6C6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9723" y="4979194"/>
            <a:ext cx="10717384" cy="413779"/>
          </a:xfrm>
          <a:prstGeom prst="rect">
            <a:avLst/>
          </a:prstGeom>
          <a:noFill/>
          <a:ln w="19050">
            <a:solidFill>
              <a:srgbClr val="9F605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8D6C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IV : Result Analysis</a:t>
            </a:r>
            <a:endParaRPr lang="en-US" altLang="zh-CN" sz="1600" b="1" dirty="0">
              <a:solidFill>
                <a:srgbClr val="8D6C6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29721" y="1233710"/>
            <a:ext cx="4357449" cy="413779"/>
          </a:xfrm>
          <a:prstGeom prst="rect">
            <a:avLst/>
          </a:prstGeom>
          <a:noFill/>
          <a:ln w="19050">
            <a:solidFill>
              <a:srgbClr val="E98D0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E98D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en-US" altLang="zh-CN" sz="1600" b="1" dirty="0"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29722" y="1796679"/>
            <a:ext cx="4357449" cy="413779"/>
          </a:xfrm>
          <a:prstGeom prst="rect">
            <a:avLst/>
          </a:prstGeom>
          <a:noFill/>
          <a:ln w="19050">
            <a:solidFill>
              <a:srgbClr val="E98D0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E98D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the meaning of growth rate of indicator values</a:t>
            </a:r>
            <a:endParaRPr lang="en-US" altLang="zh-CN" sz="1400" b="1" dirty="0"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29722" y="2419902"/>
            <a:ext cx="2074005" cy="2339632"/>
          </a:xfrm>
          <a:prstGeom prst="rect">
            <a:avLst/>
          </a:prstGeom>
          <a:noFill/>
          <a:ln w="19050">
            <a:solidFill>
              <a:srgbClr val="E98D0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13166" y="2430118"/>
            <a:ext cx="2074005" cy="2329416"/>
          </a:xfrm>
          <a:prstGeom prst="rect">
            <a:avLst/>
          </a:prstGeom>
          <a:noFill/>
          <a:ln w="19050">
            <a:solidFill>
              <a:srgbClr val="E98D0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09127" y="2734031"/>
            <a:ext cx="2115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50" dirty="0">
                <a:solidFill>
                  <a:srgbClr val="E98D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Annual growth rate of indicators for countries</a:t>
            </a:r>
            <a:endParaRPr lang="zh-CN" altLang="en-US" sz="1550" dirty="0"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51005" y="3871147"/>
            <a:ext cx="2002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E98D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Annual growth rate of indicators for world</a:t>
            </a:r>
            <a:endParaRPr lang="zh-CN" altLang="en-US" sz="1600" dirty="0"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284688" y="2585135"/>
            <a:ext cx="1930968" cy="892195"/>
          </a:xfrm>
          <a:prstGeom prst="rect">
            <a:avLst/>
          </a:prstGeom>
          <a:noFill/>
          <a:ln w="19050">
            <a:solidFill>
              <a:srgbClr val="E98D05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392811" y="2723579"/>
            <a:ext cx="1714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E98D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 weighting to quantify the target</a:t>
            </a:r>
            <a:endParaRPr lang="zh-CN" altLang="en-US" sz="1600" dirty="0"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直接箭头连接符 17"/>
          <p:cNvCxnSpPr>
            <a:stCxn id="7" idx="2"/>
            <a:endCxn id="8" idx="0"/>
          </p:cNvCxnSpPr>
          <p:nvPr/>
        </p:nvCxnSpPr>
        <p:spPr>
          <a:xfrm>
            <a:off x="3108446" y="1647489"/>
            <a:ext cx="1" cy="14919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连接符: 肘形 20"/>
          <p:cNvCxnSpPr>
            <a:stCxn id="8" idx="2"/>
            <a:endCxn id="9" idx="0"/>
          </p:cNvCxnSpPr>
          <p:nvPr/>
        </p:nvCxnSpPr>
        <p:spPr>
          <a:xfrm rot="5400000">
            <a:off x="2432864" y="1744319"/>
            <a:ext cx="209444" cy="1141722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999322" y="2507017"/>
            <a:ext cx="1934799" cy="1050001"/>
          </a:xfrm>
          <a:prstGeom prst="rect">
            <a:avLst/>
          </a:prstGeom>
          <a:noFill/>
          <a:ln w="19050">
            <a:solidFill>
              <a:srgbClr val="E98D05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99322" y="3638750"/>
            <a:ext cx="1934799" cy="1059483"/>
          </a:xfrm>
          <a:prstGeom prst="rect">
            <a:avLst/>
          </a:prstGeom>
          <a:noFill/>
          <a:ln w="19050">
            <a:solidFill>
              <a:srgbClr val="E98D05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接箭头连接符 19"/>
          <p:cNvCxnSpPr>
            <a:stCxn id="9" idx="3"/>
            <a:endCxn id="10" idx="1"/>
          </p:cNvCxnSpPr>
          <p:nvPr/>
        </p:nvCxnSpPr>
        <p:spPr>
          <a:xfrm>
            <a:off x="3003727" y="3589718"/>
            <a:ext cx="209439" cy="5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3284687" y="3638750"/>
            <a:ext cx="1930967" cy="1003292"/>
          </a:xfrm>
          <a:prstGeom prst="rect">
            <a:avLst/>
          </a:prstGeom>
          <a:noFill/>
          <a:ln w="19050">
            <a:solidFill>
              <a:srgbClr val="E98D05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383659" y="3844062"/>
            <a:ext cx="1709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E98D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Obtain inter-target correlation</a:t>
            </a:r>
            <a:endParaRPr lang="zh-CN" altLang="en-US" sz="1600" dirty="0"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/>
          <p:cNvCxnSpPr>
            <a:stCxn id="15" idx="2"/>
            <a:endCxn id="26" idx="0"/>
          </p:cNvCxnSpPr>
          <p:nvPr/>
        </p:nvCxnSpPr>
        <p:spPr>
          <a:xfrm flipH="1">
            <a:off x="4250171" y="3477330"/>
            <a:ext cx="1" cy="161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5884854" y="1233710"/>
            <a:ext cx="2477564" cy="413779"/>
          </a:xfrm>
          <a:prstGeom prst="rect">
            <a:avLst/>
          </a:prstGeom>
          <a:noFill/>
          <a:ln w="19050">
            <a:solidFill>
              <a:srgbClr val="81B2D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81B2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Quantify </a:t>
            </a:r>
            <a:r>
              <a:rPr lang="en-US" altLang="zh-CN" sz="1600" b="1" i="1" dirty="0">
                <a:solidFill>
                  <a:srgbClr val="81B2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endParaRPr lang="en-US" altLang="zh-CN" sz="1600" b="1" i="1" dirty="0">
              <a:solidFill>
                <a:srgbClr val="81B2D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直接箭头连接符 12"/>
          <p:cNvCxnSpPr>
            <a:stCxn id="12" idx="2"/>
            <a:endCxn id="23" idx="0"/>
          </p:cNvCxnSpPr>
          <p:nvPr/>
        </p:nvCxnSpPr>
        <p:spPr>
          <a:xfrm>
            <a:off x="7123636" y="1647489"/>
            <a:ext cx="0" cy="180897"/>
          </a:xfrm>
          <a:prstGeom prst="straightConnector1">
            <a:avLst/>
          </a:prstGeom>
          <a:ln w="12700">
            <a:solidFill>
              <a:srgbClr val="81B2DF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5884854" y="1828386"/>
            <a:ext cx="2477564" cy="477635"/>
          </a:xfrm>
          <a:prstGeom prst="rect">
            <a:avLst/>
          </a:prstGeom>
          <a:noFill/>
          <a:ln w="19050">
            <a:solidFill>
              <a:srgbClr val="81B2D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81B2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 growth rate of SDG into SDG  Score</a:t>
            </a:r>
            <a:endParaRPr lang="en-US" altLang="zh-CN" sz="1400" b="1" i="1" dirty="0">
              <a:solidFill>
                <a:srgbClr val="81B2D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884854" y="2454630"/>
            <a:ext cx="2477566" cy="378004"/>
          </a:xfrm>
          <a:prstGeom prst="rect">
            <a:avLst/>
          </a:prstGeom>
          <a:noFill/>
          <a:ln w="19050">
            <a:solidFill>
              <a:srgbClr val="81B2D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81B2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 predict SDG Score</a:t>
            </a:r>
            <a:endParaRPr lang="en-US" altLang="zh-CN" sz="1400" b="1" dirty="0">
              <a:solidFill>
                <a:srgbClr val="81B2D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直接箭头连接符 35"/>
          <p:cNvCxnSpPr>
            <a:stCxn id="23" idx="2"/>
            <a:endCxn id="35" idx="0"/>
          </p:cNvCxnSpPr>
          <p:nvPr/>
        </p:nvCxnSpPr>
        <p:spPr>
          <a:xfrm>
            <a:off x="7123636" y="2306021"/>
            <a:ext cx="1" cy="148609"/>
          </a:xfrm>
          <a:prstGeom prst="straightConnector1">
            <a:avLst/>
          </a:prstGeom>
          <a:ln w="12700">
            <a:solidFill>
              <a:srgbClr val="81B2DF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5884852" y="3054378"/>
            <a:ext cx="1067655" cy="1699007"/>
          </a:xfrm>
          <a:prstGeom prst="rect">
            <a:avLst/>
          </a:prstGeom>
          <a:noFill/>
          <a:ln w="19050">
            <a:solidFill>
              <a:srgbClr val="81B2D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81B2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 eigenvector centrality for each SDG</a:t>
            </a:r>
            <a:endParaRPr lang="en-US" altLang="zh-CN" sz="1400" b="1" dirty="0">
              <a:solidFill>
                <a:srgbClr val="81B2D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340741" y="3049270"/>
            <a:ext cx="1021678" cy="1699007"/>
          </a:xfrm>
          <a:prstGeom prst="rect">
            <a:avLst/>
          </a:prstGeom>
          <a:noFill/>
          <a:ln w="19050">
            <a:solidFill>
              <a:srgbClr val="81B2D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81B2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SDG Score next year</a:t>
            </a:r>
            <a:endParaRPr lang="en-US" altLang="zh-CN" sz="1400" b="1" dirty="0">
              <a:solidFill>
                <a:srgbClr val="81B2D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连接符: 肘形 45"/>
          <p:cNvCxnSpPr>
            <a:stCxn id="35" idx="2"/>
            <a:endCxn id="41" idx="0"/>
          </p:cNvCxnSpPr>
          <p:nvPr/>
        </p:nvCxnSpPr>
        <p:spPr>
          <a:xfrm rot="5400000">
            <a:off x="6660287" y="2591028"/>
            <a:ext cx="221744" cy="704957"/>
          </a:xfrm>
          <a:prstGeom prst="bentConnector3">
            <a:avLst>
              <a:gd name="adj1" fmla="val 50000"/>
            </a:avLst>
          </a:prstGeom>
          <a:ln w="12700">
            <a:solidFill>
              <a:srgbClr val="81B2DF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连接符: 肘形 48"/>
          <p:cNvCxnSpPr>
            <a:stCxn id="35" idx="2"/>
            <a:endCxn id="42" idx="0"/>
          </p:cNvCxnSpPr>
          <p:nvPr/>
        </p:nvCxnSpPr>
        <p:spPr>
          <a:xfrm rot="16200000" flipH="1">
            <a:off x="7379290" y="2576980"/>
            <a:ext cx="216636" cy="727943"/>
          </a:xfrm>
          <a:prstGeom prst="bentConnector3">
            <a:avLst>
              <a:gd name="adj1" fmla="val 50000"/>
            </a:avLst>
          </a:prstGeom>
          <a:ln w="12700">
            <a:solidFill>
              <a:srgbClr val="81B2DF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连接符: 肘形 54"/>
          <p:cNvCxnSpPr>
            <a:stCxn id="12" idx="3"/>
            <a:endCxn id="42" idx="3"/>
          </p:cNvCxnSpPr>
          <p:nvPr/>
        </p:nvCxnSpPr>
        <p:spPr>
          <a:xfrm>
            <a:off x="8362418" y="1440600"/>
            <a:ext cx="1" cy="2458174"/>
          </a:xfrm>
          <a:prstGeom prst="bentConnector3">
            <a:avLst>
              <a:gd name="adj1" fmla="val 22860100000"/>
            </a:avLst>
          </a:prstGeom>
          <a:ln w="12700">
            <a:solidFill>
              <a:srgbClr val="81B2DF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41" idx="3"/>
            <a:endCxn id="42" idx="1"/>
          </p:cNvCxnSpPr>
          <p:nvPr/>
        </p:nvCxnSpPr>
        <p:spPr>
          <a:xfrm flipV="1">
            <a:off x="6952507" y="3898774"/>
            <a:ext cx="388234" cy="5108"/>
          </a:xfrm>
          <a:prstGeom prst="straightConnector1">
            <a:avLst/>
          </a:prstGeom>
          <a:ln w="12700">
            <a:solidFill>
              <a:srgbClr val="81B2DF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连接符: 肘形 71"/>
          <p:cNvCxnSpPr>
            <a:stCxn id="42" idx="2"/>
            <a:endCxn id="12" idx="1"/>
          </p:cNvCxnSpPr>
          <p:nvPr/>
        </p:nvCxnSpPr>
        <p:spPr>
          <a:xfrm rot="5400000" flipH="1">
            <a:off x="5214378" y="2111076"/>
            <a:ext cx="3307677" cy="1966726"/>
          </a:xfrm>
          <a:prstGeom prst="bentConnector4">
            <a:avLst>
              <a:gd name="adj1" fmla="val -3513"/>
              <a:gd name="adj2" fmla="val 108246"/>
            </a:avLst>
          </a:prstGeom>
          <a:ln w="12700">
            <a:solidFill>
              <a:srgbClr val="81B2DF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>
            <a:off x="9067375" y="586535"/>
            <a:ext cx="2579732" cy="533355"/>
          </a:xfrm>
          <a:prstGeom prst="rect">
            <a:avLst/>
          </a:prstGeom>
          <a:noFill/>
          <a:ln w="19050">
            <a:solidFill>
              <a:srgbClr val="9F605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8D6C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III (Section 6): VKEGSDG Model</a:t>
            </a:r>
            <a:endParaRPr lang="en-US" altLang="zh-CN" sz="1600" b="1" dirty="0">
              <a:solidFill>
                <a:srgbClr val="8D6C6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9118459" y="1799761"/>
            <a:ext cx="2477564" cy="413779"/>
          </a:xfrm>
          <a:prstGeom prst="rect">
            <a:avLst/>
          </a:prstGeom>
          <a:noFill/>
          <a:ln w="19050">
            <a:solidFill>
              <a:srgbClr val="426E9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426E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Quantify </a:t>
            </a:r>
            <a:r>
              <a:rPr lang="en-US" altLang="zh-CN" sz="1600" b="1" i="1" dirty="0">
                <a:solidFill>
                  <a:srgbClr val="426E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endParaRPr lang="en-US" altLang="zh-CN" sz="1600" b="1" i="1" dirty="0">
              <a:solidFill>
                <a:srgbClr val="426E9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6" name="直接箭头连接符 85"/>
          <p:cNvCxnSpPr>
            <a:stCxn id="85" idx="2"/>
            <a:endCxn id="87" idx="0"/>
          </p:cNvCxnSpPr>
          <p:nvPr/>
        </p:nvCxnSpPr>
        <p:spPr>
          <a:xfrm>
            <a:off x="10357241" y="2213540"/>
            <a:ext cx="0" cy="171424"/>
          </a:xfrm>
          <a:prstGeom prst="straightConnector1">
            <a:avLst/>
          </a:prstGeom>
          <a:ln w="12700">
            <a:solidFill>
              <a:srgbClr val="426E9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7" name="矩形 86"/>
          <p:cNvSpPr/>
          <p:nvPr/>
        </p:nvSpPr>
        <p:spPr>
          <a:xfrm>
            <a:off x="9118459" y="2384964"/>
            <a:ext cx="2477564" cy="477635"/>
          </a:xfrm>
          <a:prstGeom prst="rect">
            <a:avLst/>
          </a:prstGeom>
          <a:noFill/>
          <a:ln w="19050">
            <a:solidFill>
              <a:srgbClr val="426E9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426E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 growth rate of SDG into SDG  Score</a:t>
            </a:r>
            <a:endParaRPr lang="en-US" altLang="zh-CN" sz="1400" b="1" i="1" dirty="0">
              <a:solidFill>
                <a:srgbClr val="426E9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9118459" y="3009918"/>
            <a:ext cx="2477566" cy="382651"/>
          </a:xfrm>
          <a:prstGeom prst="rect">
            <a:avLst/>
          </a:prstGeom>
          <a:noFill/>
          <a:ln w="19050">
            <a:solidFill>
              <a:srgbClr val="426E9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426E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 predict SDG Score</a:t>
            </a:r>
            <a:endParaRPr lang="en-US" altLang="zh-CN" sz="1400" b="1" dirty="0">
              <a:solidFill>
                <a:srgbClr val="426E9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9" name="直接箭头连接符 88"/>
          <p:cNvCxnSpPr>
            <a:stCxn id="87" idx="2"/>
            <a:endCxn id="88" idx="0"/>
          </p:cNvCxnSpPr>
          <p:nvPr/>
        </p:nvCxnSpPr>
        <p:spPr>
          <a:xfrm>
            <a:off x="10357241" y="2862599"/>
            <a:ext cx="1" cy="147319"/>
          </a:xfrm>
          <a:prstGeom prst="straightConnector1">
            <a:avLst/>
          </a:prstGeom>
          <a:ln w="12700">
            <a:solidFill>
              <a:srgbClr val="426E9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9118457" y="3589718"/>
            <a:ext cx="1067655" cy="1169816"/>
          </a:xfrm>
          <a:prstGeom prst="rect">
            <a:avLst/>
          </a:prstGeom>
          <a:noFill/>
          <a:ln w="19050">
            <a:solidFill>
              <a:srgbClr val="426E9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426E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 eigenvector centrality for each SDG</a:t>
            </a:r>
            <a:endParaRPr lang="en-US" altLang="zh-CN" sz="1400" b="1" dirty="0">
              <a:solidFill>
                <a:srgbClr val="426E9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10574346" y="3594826"/>
            <a:ext cx="1021678" cy="1159600"/>
          </a:xfrm>
          <a:prstGeom prst="rect">
            <a:avLst/>
          </a:prstGeom>
          <a:noFill/>
          <a:ln w="19050">
            <a:solidFill>
              <a:srgbClr val="426E9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426E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SDG Score next year</a:t>
            </a:r>
            <a:endParaRPr lang="en-US" altLang="zh-CN" sz="1400" b="1" dirty="0">
              <a:solidFill>
                <a:srgbClr val="426E9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2" name="连接符: 肘形 91"/>
          <p:cNvCxnSpPr>
            <a:stCxn id="88" idx="2"/>
            <a:endCxn id="90" idx="0"/>
          </p:cNvCxnSpPr>
          <p:nvPr/>
        </p:nvCxnSpPr>
        <p:spPr>
          <a:xfrm rot="5400000">
            <a:off x="9906190" y="3138665"/>
            <a:ext cx="197149" cy="704957"/>
          </a:xfrm>
          <a:prstGeom prst="bentConnector3">
            <a:avLst>
              <a:gd name="adj1" fmla="val 50000"/>
            </a:avLst>
          </a:prstGeom>
          <a:ln w="12700">
            <a:solidFill>
              <a:srgbClr val="426E9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3" name="连接符: 肘形 92"/>
          <p:cNvCxnSpPr>
            <a:stCxn id="88" idx="2"/>
            <a:endCxn id="91" idx="0"/>
          </p:cNvCxnSpPr>
          <p:nvPr/>
        </p:nvCxnSpPr>
        <p:spPr>
          <a:xfrm rot="16200000" flipH="1">
            <a:off x="10620085" y="3129725"/>
            <a:ext cx="202257" cy="727943"/>
          </a:xfrm>
          <a:prstGeom prst="bentConnector3">
            <a:avLst>
              <a:gd name="adj1" fmla="val 50000"/>
            </a:avLst>
          </a:prstGeom>
          <a:ln w="12700">
            <a:solidFill>
              <a:srgbClr val="426E9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连接符: 肘形 93"/>
          <p:cNvCxnSpPr>
            <a:stCxn id="85" idx="3"/>
            <a:endCxn id="91" idx="3"/>
          </p:cNvCxnSpPr>
          <p:nvPr/>
        </p:nvCxnSpPr>
        <p:spPr>
          <a:xfrm>
            <a:off x="11596023" y="2006651"/>
            <a:ext cx="1" cy="2167975"/>
          </a:xfrm>
          <a:prstGeom prst="bentConnector3">
            <a:avLst>
              <a:gd name="adj1" fmla="val 22860100000"/>
            </a:avLst>
          </a:prstGeom>
          <a:ln w="12700">
            <a:solidFill>
              <a:srgbClr val="426E9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>
            <a:stCxn id="90" idx="3"/>
            <a:endCxn id="91" idx="1"/>
          </p:cNvCxnSpPr>
          <p:nvPr/>
        </p:nvCxnSpPr>
        <p:spPr>
          <a:xfrm>
            <a:off x="10186112" y="4174626"/>
            <a:ext cx="388234" cy="0"/>
          </a:xfrm>
          <a:prstGeom prst="straightConnector1">
            <a:avLst/>
          </a:prstGeom>
          <a:ln w="12700">
            <a:solidFill>
              <a:srgbClr val="426E9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连接符: 肘形 95"/>
          <p:cNvCxnSpPr>
            <a:stCxn id="91" idx="2"/>
            <a:endCxn id="85" idx="1"/>
          </p:cNvCxnSpPr>
          <p:nvPr/>
        </p:nvCxnSpPr>
        <p:spPr>
          <a:xfrm rot="5400000" flipH="1">
            <a:off x="8727934" y="2397176"/>
            <a:ext cx="2747775" cy="1966726"/>
          </a:xfrm>
          <a:prstGeom prst="bentConnector4">
            <a:avLst>
              <a:gd name="adj1" fmla="val -4415"/>
              <a:gd name="adj2" fmla="val 108766"/>
            </a:avLst>
          </a:prstGeom>
          <a:ln w="12700">
            <a:solidFill>
              <a:srgbClr val="426E9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3" name="矩形 122"/>
          <p:cNvSpPr/>
          <p:nvPr/>
        </p:nvSpPr>
        <p:spPr>
          <a:xfrm>
            <a:off x="9118457" y="1236397"/>
            <a:ext cx="2477564" cy="413779"/>
          </a:xfrm>
          <a:prstGeom prst="rect">
            <a:avLst/>
          </a:prstGeom>
          <a:noFill/>
          <a:ln w="19050">
            <a:solidFill>
              <a:srgbClr val="426E9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426E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Quantify </a:t>
            </a:r>
            <a:r>
              <a:rPr lang="en-US" altLang="zh-CN" sz="1600" b="1" i="1" dirty="0">
                <a:solidFill>
                  <a:srgbClr val="426E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change</a:t>
            </a:r>
            <a:endParaRPr lang="en-US" altLang="zh-CN" sz="1600" b="1" i="1" dirty="0">
              <a:solidFill>
                <a:srgbClr val="426E9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4" name="直接箭头连接符 123"/>
          <p:cNvCxnSpPr>
            <a:stCxn id="123" idx="2"/>
            <a:endCxn id="85" idx="0"/>
          </p:cNvCxnSpPr>
          <p:nvPr/>
        </p:nvCxnSpPr>
        <p:spPr>
          <a:xfrm>
            <a:off x="10357239" y="1650176"/>
            <a:ext cx="2" cy="149585"/>
          </a:xfrm>
          <a:prstGeom prst="straightConnector1">
            <a:avLst/>
          </a:prstGeom>
          <a:ln w="12700">
            <a:solidFill>
              <a:srgbClr val="426E9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1" name="矩形 130"/>
          <p:cNvSpPr/>
          <p:nvPr/>
        </p:nvSpPr>
        <p:spPr>
          <a:xfrm>
            <a:off x="929721" y="5571763"/>
            <a:ext cx="3417510" cy="641101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effectiveness analysis</a:t>
            </a:r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8617838" y="5571763"/>
            <a:ext cx="3029269" cy="641101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Sensitivity analysis</a:t>
            </a:r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4674168" y="5571763"/>
            <a:ext cx="3616733" cy="641101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advantage and disadvantage</a:t>
            </a:r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29723" y="591096"/>
            <a:ext cx="4357449" cy="528794"/>
          </a:xfrm>
          <a:prstGeom prst="rect">
            <a:avLst/>
          </a:prstGeom>
          <a:noFill/>
          <a:ln w="19050">
            <a:solidFill>
              <a:srgbClr val="9F605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8D6C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I (Section 3&amp;4): Data Processing and Construct Graph</a:t>
            </a:r>
            <a:endParaRPr lang="en-US" altLang="zh-CN" sz="1600" b="1" dirty="0">
              <a:solidFill>
                <a:srgbClr val="8D6C6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833770" y="591096"/>
            <a:ext cx="2579732" cy="533355"/>
          </a:xfrm>
          <a:prstGeom prst="rect">
            <a:avLst/>
          </a:prstGeom>
          <a:noFill/>
          <a:ln w="19050">
            <a:solidFill>
              <a:srgbClr val="9F605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8D6C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II (Section 5): KEGSDG Model</a:t>
            </a:r>
            <a:endParaRPr lang="en-US" altLang="zh-CN" sz="1600" b="1" dirty="0">
              <a:solidFill>
                <a:srgbClr val="8D6C6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9723" y="4979194"/>
            <a:ext cx="10717384" cy="413779"/>
          </a:xfrm>
          <a:prstGeom prst="rect">
            <a:avLst/>
          </a:prstGeom>
          <a:noFill/>
          <a:ln w="19050">
            <a:solidFill>
              <a:srgbClr val="9F605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8D6C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IV : Result Analysis</a:t>
            </a:r>
            <a:endParaRPr lang="en-US" altLang="zh-CN" sz="1600" b="1" dirty="0">
              <a:solidFill>
                <a:srgbClr val="8D6C6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29721" y="1233710"/>
            <a:ext cx="4357449" cy="413779"/>
          </a:xfrm>
          <a:prstGeom prst="rect">
            <a:avLst/>
          </a:prstGeom>
          <a:noFill/>
          <a:ln w="19050">
            <a:solidFill>
              <a:srgbClr val="E98D0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E98D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en-US" altLang="zh-CN" sz="1600" b="1" dirty="0"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29722" y="1796679"/>
            <a:ext cx="4357449" cy="413779"/>
          </a:xfrm>
          <a:prstGeom prst="rect">
            <a:avLst/>
          </a:prstGeom>
          <a:noFill/>
          <a:ln w="19050">
            <a:solidFill>
              <a:srgbClr val="E98D0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E98D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the meaning of growth rate of indicator values</a:t>
            </a:r>
            <a:endParaRPr lang="en-US" altLang="zh-CN" sz="1400" b="1" dirty="0"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29722" y="2419902"/>
            <a:ext cx="2074005" cy="2339632"/>
          </a:xfrm>
          <a:prstGeom prst="rect">
            <a:avLst/>
          </a:prstGeom>
          <a:noFill/>
          <a:ln w="19050">
            <a:solidFill>
              <a:srgbClr val="E98D0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13166" y="2430118"/>
            <a:ext cx="2074005" cy="2329416"/>
          </a:xfrm>
          <a:prstGeom prst="rect">
            <a:avLst/>
          </a:prstGeom>
          <a:noFill/>
          <a:ln w="19050">
            <a:solidFill>
              <a:srgbClr val="E98D0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09127" y="2734031"/>
            <a:ext cx="2115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50" dirty="0">
                <a:solidFill>
                  <a:srgbClr val="E98D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Annual growth rate of indicators for countries</a:t>
            </a:r>
            <a:endParaRPr lang="zh-CN" altLang="en-US" sz="1550" dirty="0"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51005" y="3871147"/>
            <a:ext cx="2002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E98D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Annual growth rate of indicators for world</a:t>
            </a:r>
            <a:endParaRPr lang="zh-CN" altLang="en-US" sz="1600" dirty="0"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284688" y="2585135"/>
            <a:ext cx="1930968" cy="892195"/>
          </a:xfrm>
          <a:prstGeom prst="rect">
            <a:avLst/>
          </a:prstGeom>
          <a:noFill/>
          <a:ln w="19050">
            <a:solidFill>
              <a:srgbClr val="E98D05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392811" y="2723579"/>
            <a:ext cx="1714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E98D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 weighting to quantify the target</a:t>
            </a:r>
            <a:endParaRPr lang="zh-CN" altLang="en-US" sz="1600" dirty="0"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直接箭头连接符 17"/>
          <p:cNvCxnSpPr>
            <a:stCxn id="7" idx="2"/>
            <a:endCxn id="8" idx="0"/>
          </p:cNvCxnSpPr>
          <p:nvPr/>
        </p:nvCxnSpPr>
        <p:spPr>
          <a:xfrm>
            <a:off x="3108446" y="1647489"/>
            <a:ext cx="1" cy="14919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连接符: 肘形 20"/>
          <p:cNvCxnSpPr>
            <a:stCxn id="8" idx="2"/>
            <a:endCxn id="9" idx="0"/>
          </p:cNvCxnSpPr>
          <p:nvPr/>
        </p:nvCxnSpPr>
        <p:spPr>
          <a:xfrm rot="5400000">
            <a:off x="2432864" y="1744319"/>
            <a:ext cx="209444" cy="1141722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999322" y="2507017"/>
            <a:ext cx="1934799" cy="1050001"/>
          </a:xfrm>
          <a:prstGeom prst="rect">
            <a:avLst/>
          </a:prstGeom>
          <a:noFill/>
          <a:ln w="19050">
            <a:solidFill>
              <a:srgbClr val="E98D05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99322" y="3638750"/>
            <a:ext cx="1934799" cy="1059483"/>
          </a:xfrm>
          <a:prstGeom prst="rect">
            <a:avLst/>
          </a:prstGeom>
          <a:noFill/>
          <a:ln w="19050">
            <a:solidFill>
              <a:srgbClr val="E98D05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接箭头连接符 19"/>
          <p:cNvCxnSpPr>
            <a:stCxn id="9" idx="3"/>
            <a:endCxn id="10" idx="1"/>
          </p:cNvCxnSpPr>
          <p:nvPr/>
        </p:nvCxnSpPr>
        <p:spPr>
          <a:xfrm>
            <a:off x="3003727" y="3589718"/>
            <a:ext cx="209439" cy="5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3284687" y="3638750"/>
            <a:ext cx="1930967" cy="1003292"/>
          </a:xfrm>
          <a:prstGeom prst="rect">
            <a:avLst/>
          </a:prstGeom>
          <a:noFill/>
          <a:ln w="19050">
            <a:solidFill>
              <a:srgbClr val="E98D05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383659" y="3844062"/>
            <a:ext cx="1709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E98D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Obtain inter-target correlation</a:t>
            </a:r>
            <a:endParaRPr lang="zh-CN" altLang="en-US" sz="1600" dirty="0"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/>
          <p:cNvCxnSpPr>
            <a:stCxn id="15" idx="2"/>
            <a:endCxn id="26" idx="0"/>
          </p:cNvCxnSpPr>
          <p:nvPr/>
        </p:nvCxnSpPr>
        <p:spPr>
          <a:xfrm flipH="1">
            <a:off x="4250171" y="3477330"/>
            <a:ext cx="1" cy="161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5884854" y="1233710"/>
            <a:ext cx="2477564" cy="413779"/>
          </a:xfrm>
          <a:prstGeom prst="rect">
            <a:avLst/>
          </a:prstGeom>
          <a:noFill/>
          <a:ln w="19050">
            <a:solidFill>
              <a:srgbClr val="81B2D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81B2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Quantify </a:t>
            </a:r>
            <a:r>
              <a:rPr lang="en-US" altLang="zh-CN" sz="1600" b="1" i="1" dirty="0">
                <a:solidFill>
                  <a:srgbClr val="81B2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endParaRPr lang="en-US" altLang="zh-CN" sz="1600" b="1" i="1" dirty="0">
              <a:solidFill>
                <a:srgbClr val="81B2D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直接箭头连接符 12"/>
          <p:cNvCxnSpPr>
            <a:stCxn id="12" idx="2"/>
            <a:endCxn id="23" idx="0"/>
          </p:cNvCxnSpPr>
          <p:nvPr/>
        </p:nvCxnSpPr>
        <p:spPr>
          <a:xfrm>
            <a:off x="7123636" y="1647489"/>
            <a:ext cx="0" cy="180897"/>
          </a:xfrm>
          <a:prstGeom prst="straightConnector1">
            <a:avLst/>
          </a:prstGeom>
          <a:ln w="12700">
            <a:solidFill>
              <a:srgbClr val="81B2DF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5884854" y="1828386"/>
            <a:ext cx="2477564" cy="477635"/>
          </a:xfrm>
          <a:prstGeom prst="rect">
            <a:avLst/>
          </a:prstGeom>
          <a:noFill/>
          <a:ln w="19050">
            <a:solidFill>
              <a:srgbClr val="81B2D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81B2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 growth rate of SDG into SDG  Score</a:t>
            </a:r>
            <a:endParaRPr lang="en-US" altLang="zh-CN" sz="1400" b="1" i="1" dirty="0">
              <a:solidFill>
                <a:srgbClr val="81B2D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884854" y="2454630"/>
            <a:ext cx="2477566" cy="378004"/>
          </a:xfrm>
          <a:prstGeom prst="rect">
            <a:avLst/>
          </a:prstGeom>
          <a:noFill/>
          <a:ln w="19050">
            <a:solidFill>
              <a:srgbClr val="81B2D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81B2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 predict SDG Score</a:t>
            </a:r>
            <a:endParaRPr lang="en-US" altLang="zh-CN" sz="1400" b="1" dirty="0">
              <a:solidFill>
                <a:srgbClr val="81B2D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直接箭头连接符 35"/>
          <p:cNvCxnSpPr>
            <a:stCxn id="23" idx="2"/>
            <a:endCxn id="35" idx="0"/>
          </p:cNvCxnSpPr>
          <p:nvPr/>
        </p:nvCxnSpPr>
        <p:spPr>
          <a:xfrm>
            <a:off x="7123636" y="2306021"/>
            <a:ext cx="1" cy="148609"/>
          </a:xfrm>
          <a:prstGeom prst="straightConnector1">
            <a:avLst/>
          </a:prstGeom>
          <a:ln w="12700">
            <a:solidFill>
              <a:srgbClr val="81B2DF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5884852" y="3054378"/>
            <a:ext cx="1067655" cy="1699007"/>
          </a:xfrm>
          <a:prstGeom prst="rect">
            <a:avLst/>
          </a:prstGeom>
          <a:noFill/>
          <a:ln w="19050">
            <a:solidFill>
              <a:srgbClr val="81B2D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81B2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 eigenvector centrality for each SDG</a:t>
            </a:r>
            <a:endParaRPr lang="en-US" altLang="zh-CN" sz="1400" b="1" dirty="0">
              <a:solidFill>
                <a:srgbClr val="81B2D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340741" y="3049270"/>
            <a:ext cx="1021678" cy="1699007"/>
          </a:xfrm>
          <a:prstGeom prst="rect">
            <a:avLst/>
          </a:prstGeom>
          <a:noFill/>
          <a:ln w="19050">
            <a:solidFill>
              <a:srgbClr val="81B2D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81B2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SDG Score next year</a:t>
            </a:r>
            <a:endParaRPr lang="en-US" altLang="zh-CN" sz="1400" b="1" dirty="0">
              <a:solidFill>
                <a:srgbClr val="81B2D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连接符: 肘形 45"/>
          <p:cNvCxnSpPr>
            <a:stCxn id="35" idx="2"/>
            <a:endCxn id="41" idx="0"/>
          </p:cNvCxnSpPr>
          <p:nvPr/>
        </p:nvCxnSpPr>
        <p:spPr>
          <a:xfrm rot="5400000">
            <a:off x="6660287" y="2591028"/>
            <a:ext cx="221744" cy="704957"/>
          </a:xfrm>
          <a:prstGeom prst="bentConnector3">
            <a:avLst>
              <a:gd name="adj1" fmla="val 50000"/>
            </a:avLst>
          </a:prstGeom>
          <a:ln w="12700">
            <a:solidFill>
              <a:srgbClr val="81B2DF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连接符: 肘形 48"/>
          <p:cNvCxnSpPr>
            <a:stCxn id="35" idx="2"/>
            <a:endCxn id="42" idx="0"/>
          </p:cNvCxnSpPr>
          <p:nvPr/>
        </p:nvCxnSpPr>
        <p:spPr>
          <a:xfrm rot="16200000" flipH="1">
            <a:off x="7379290" y="2576980"/>
            <a:ext cx="216636" cy="727943"/>
          </a:xfrm>
          <a:prstGeom prst="bentConnector3">
            <a:avLst>
              <a:gd name="adj1" fmla="val 50000"/>
            </a:avLst>
          </a:prstGeom>
          <a:ln w="12700">
            <a:solidFill>
              <a:srgbClr val="81B2DF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连接符: 肘形 54"/>
          <p:cNvCxnSpPr>
            <a:stCxn id="12" idx="3"/>
            <a:endCxn id="42" idx="3"/>
          </p:cNvCxnSpPr>
          <p:nvPr/>
        </p:nvCxnSpPr>
        <p:spPr>
          <a:xfrm>
            <a:off x="8362418" y="1440600"/>
            <a:ext cx="1" cy="2458174"/>
          </a:xfrm>
          <a:prstGeom prst="bentConnector3">
            <a:avLst>
              <a:gd name="adj1" fmla="val 22860100000"/>
            </a:avLst>
          </a:prstGeom>
          <a:ln w="12700">
            <a:solidFill>
              <a:srgbClr val="81B2DF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41" idx="3"/>
            <a:endCxn id="42" idx="1"/>
          </p:cNvCxnSpPr>
          <p:nvPr/>
        </p:nvCxnSpPr>
        <p:spPr>
          <a:xfrm flipV="1">
            <a:off x="6952507" y="3898774"/>
            <a:ext cx="388234" cy="5108"/>
          </a:xfrm>
          <a:prstGeom prst="straightConnector1">
            <a:avLst/>
          </a:prstGeom>
          <a:ln w="12700">
            <a:solidFill>
              <a:srgbClr val="81B2DF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连接符: 肘形 71"/>
          <p:cNvCxnSpPr>
            <a:stCxn id="42" idx="2"/>
            <a:endCxn id="12" idx="1"/>
          </p:cNvCxnSpPr>
          <p:nvPr/>
        </p:nvCxnSpPr>
        <p:spPr>
          <a:xfrm rot="5400000" flipH="1">
            <a:off x="5214378" y="2111076"/>
            <a:ext cx="3307677" cy="1966726"/>
          </a:xfrm>
          <a:prstGeom prst="bentConnector4">
            <a:avLst>
              <a:gd name="adj1" fmla="val -3513"/>
              <a:gd name="adj2" fmla="val 108246"/>
            </a:avLst>
          </a:prstGeom>
          <a:ln w="12700">
            <a:solidFill>
              <a:srgbClr val="81B2DF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>
            <a:off x="9067375" y="586535"/>
            <a:ext cx="2579732" cy="533355"/>
          </a:xfrm>
          <a:prstGeom prst="rect">
            <a:avLst/>
          </a:prstGeom>
          <a:noFill/>
          <a:ln w="19050">
            <a:solidFill>
              <a:srgbClr val="9F605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8D6C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III (Section 6): VKEGSDG Model</a:t>
            </a:r>
            <a:endParaRPr lang="en-US" altLang="zh-CN" sz="1600" b="1" dirty="0">
              <a:solidFill>
                <a:srgbClr val="8D6C6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9118459" y="1799761"/>
            <a:ext cx="2477564" cy="413779"/>
          </a:xfrm>
          <a:prstGeom prst="rect">
            <a:avLst/>
          </a:prstGeom>
          <a:noFill/>
          <a:ln w="19050">
            <a:solidFill>
              <a:srgbClr val="426E9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426E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Quantify </a:t>
            </a:r>
            <a:r>
              <a:rPr lang="en-US" altLang="zh-CN" sz="1600" b="1" i="1" dirty="0">
                <a:solidFill>
                  <a:srgbClr val="426E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endParaRPr lang="en-US" altLang="zh-CN" sz="1600" b="1" i="1" dirty="0">
              <a:solidFill>
                <a:srgbClr val="426E9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6" name="直接箭头连接符 85"/>
          <p:cNvCxnSpPr>
            <a:stCxn id="85" idx="2"/>
            <a:endCxn id="87" idx="0"/>
          </p:cNvCxnSpPr>
          <p:nvPr/>
        </p:nvCxnSpPr>
        <p:spPr>
          <a:xfrm>
            <a:off x="10357241" y="2213540"/>
            <a:ext cx="0" cy="171424"/>
          </a:xfrm>
          <a:prstGeom prst="straightConnector1">
            <a:avLst/>
          </a:prstGeom>
          <a:ln w="12700">
            <a:solidFill>
              <a:srgbClr val="426E9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7" name="矩形 86"/>
          <p:cNvSpPr/>
          <p:nvPr/>
        </p:nvSpPr>
        <p:spPr>
          <a:xfrm>
            <a:off x="9118459" y="2384964"/>
            <a:ext cx="2477564" cy="477635"/>
          </a:xfrm>
          <a:prstGeom prst="rect">
            <a:avLst/>
          </a:prstGeom>
          <a:noFill/>
          <a:ln w="19050">
            <a:solidFill>
              <a:srgbClr val="426E9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426E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 growth rate of SDG into SDG  Score</a:t>
            </a:r>
            <a:endParaRPr lang="en-US" altLang="zh-CN" sz="1400" b="1" i="1" dirty="0">
              <a:solidFill>
                <a:srgbClr val="426E9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9118459" y="3009918"/>
            <a:ext cx="2477566" cy="382651"/>
          </a:xfrm>
          <a:prstGeom prst="rect">
            <a:avLst/>
          </a:prstGeom>
          <a:noFill/>
          <a:ln w="19050">
            <a:solidFill>
              <a:srgbClr val="426E9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426E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 predict SDG Score</a:t>
            </a:r>
            <a:endParaRPr lang="en-US" altLang="zh-CN" sz="1400" b="1" dirty="0">
              <a:solidFill>
                <a:srgbClr val="426E9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9" name="直接箭头连接符 88"/>
          <p:cNvCxnSpPr>
            <a:stCxn id="87" idx="2"/>
            <a:endCxn id="88" idx="0"/>
          </p:cNvCxnSpPr>
          <p:nvPr/>
        </p:nvCxnSpPr>
        <p:spPr>
          <a:xfrm>
            <a:off x="10357241" y="2862599"/>
            <a:ext cx="1" cy="147319"/>
          </a:xfrm>
          <a:prstGeom prst="straightConnector1">
            <a:avLst/>
          </a:prstGeom>
          <a:ln w="12700">
            <a:solidFill>
              <a:srgbClr val="426E9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9118457" y="3589718"/>
            <a:ext cx="1067655" cy="1169816"/>
          </a:xfrm>
          <a:prstGeom prst="rect">
            <a:avLst/>
          </a:prstGeom>
          <a:noFill/>
          <a:ln w="19050">
            <a:solidFill>
              <a:srgbClr val="426E9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426E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 eigenvector centrality for each SDG</a:t>
            </a:r>
            <a:endParaRPr lang="en-US" altLang="zh-CN" sz="1400" b="1" dirty="0">
              <a:solidFill>
                <a:srgbClr val="426E9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10574346" y="3594826"/>
            <a:ext cx="1021678" cy="1159600"/>
          </a:xfrm>
          <a:prstGeom prst="rect">
            <a:avLst/>
          </a:prstGeom>
          <a:noFill/>
          <a:ln w="19050">
            <a:solidFill>
              <a:srgbClr val="426E9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426E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SDG Score next year</a:t>
            </a:r>
            <a:endParaRPr lang="en-US" altLang="zh-CN" sz="1400" b="1" dirty="0">
              <a:solidFill>
                <a:srgbClr val="426E9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2" name="连接符: 肘形 91"/>
          <p:cNvCxnSpPr>
            <a:stCxn id="88" idx="2"/>
            <a:endCxn id="90" idx="0"/>
          </p:cNvCxnSpPr>
          <p:nvPr/>
        </p:nvCxnSpPr>
        <p:spPr>
          <a:xfrm rot="5400000">
            <a:off x="9906190" y="3138665"/>
            <a:ext cx="197149" cy="704957"/>
          </a:xfrm>
          <a:prstGeom prst="bentConnector3">
            <a:avLst>
              <a:gd name="adj1" fmla="val 50000"/>
            </a:avLst>
          </a:prstGeom>
          <a:ln w="12700">
            <a:solidFill>
              <a:srgbClr val="426E9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3" name="连接符: 肘形 92"/>
          <p:cNvCxnSpPr>
            <a:stCxn id="88" idx="2"/>
            <a:endCxn id="91" idx="0"/>
          </p:cNvCxnSpPr>
          <p:nvPr/>
        </p:nvCxnSpPr>
        <p:spPr>
          <a:xfrm rot="16200000" flipH="1">
            <a:off x="10620085" y="3129725"/>
            <a:ext cx="202257" cy="727943"/>
          </a:xfrm>
          <a:prstGeom prst="bentConnector3">
            <a:avLst>
              <a:gd name="adj1" fmla="val 50000"/>
            </a:avLst>
          </a:prstGeom>
          <a:ln w="12700">
            <a:solidFill>
              <a:srgbClr val="426E9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连接符: 肘形 93"/>
          <p:cNvCxnSpPr>
            <a:stCxn id="85" idx="3"/>
            <a:endCxn id="91" idx="3"/>
          </p:cNvCxnSpPr>
          <p:nvPr/>
        </p:nvCxnSpPr>
        <p:spPr>
          <a:xfrm>
            <a:off x="11596023" y="2006651"/>
            <a:ext cx="1" cy="2167975"/>
          </a:xfrm>
          <a:prstGeom prst="bentConnector3">
            <a:avLst>
              <a:gd name="adj1" fmla="val 22860100000"/>
            </a:avLst>
          </a:prstGeom>
          <a:ln w="12700">
            <a:solidFill>
              <a:srgbClr val="426E9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>
            <a:stCxn id="90" idx="3"/>
            <a:endCxn id="91" idx="1"/>
          </p:cNvCxnSpPr>
          <p:nvPr/>
        </p:nvCxnSpPr>
        <p:spPr>
          <a:xfrm>
            <a:off x="10186112" y="4174626"/>
            <a:ext cx="388234" cy="0"/>
          </a:xfrm>
          <a:prstGeom prst="straightConnector1">
            <a:avLst/>
          </a:prstGeom>
          <a:ln w="12700">
            <a:solidFill>
              <a:srgbClr val="426E9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连接符: 肘形 95"/>
          <p:cNvCxnSpPr>
            <a:stCxn id="91" idx="2"/>
            <a:endCxn id="85" idx="1"/>
          </p:cNvCxnSpPr>
          <p:nvPr/>
        </p:nvCxnSpPr>
        <p:spPr>
          <a:xfrm rot="5400000" flipH="1">
            <a:off x="8727934" y="2397176"/>
            <a:ext cx="2747775" cy="1966726"/>
          </a:xfrm>
          <a:prstGeom prst="bentConnector4">
            <a:avLst>
              <a:gd name="adj1" fmla="val -4415"/>
              <a:gd name="adj2" fmla="val 108766"/>
            </a:avLst>
          </a:prstGeom>
          <a:ln w="12700">
            <a:solidFill>
              <a:srgbClr val="426E9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3" name="矩形 122"/>
          <p:cNvSpPr/>
          <p:nvPr/>
        </p:nvSpPr>
        <p:spPr>
          <a:xfrm>
            <a:off x="9118457" y="1236397"/>
            <a:ext cx="2477564" cy="413779"/>
          </a:xfrm>
          <a:prstGeom prst="rect">
            <a:avLst/>
          </a:prstGeom>
          <a:noFill/>
          <a:ln w="19050">
            <a:solidFill>
              <a:srgbClr val="426E9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426E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Quantify </a:t>
            </a:r>
            <a:r>
              <a:rPr lang="en-US" altLang="zh-CN" sz="1600" b="1" i="1" dirty="0">
                <a:solidFill>
                  <a:srgbClr val="426E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change</a:t>
            </a:r>
            <a:endParaRPr lang="en-US" altLang="zh-CN" sz="1600" b="1" i="1" dirty="0">
              <a:solidFill>
                <a:srgbClr val="426E9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4" name="直接箭头连接符 123"/>
          <p:cNvCxnSpPr>
            <a:stCxn id="123" idx="2"/>
            <a:endCxn id="85" idx="0"/>
          </p:cNvCxnSpPr>
          <p:nvPr/>
        </p:nvCxnSpPr>
        <p:spPr>
          <a:xfrm>
            <a:off x="10357239" y="1650176"/>
            <a:ext cx="2" cy="149585"/>
          </a:xfrm>
          <a:prstGeom prst="straightConnector1">
            <a:avLst/>
          </a:prstGeom>
          <a:ln w="12700">
            <a:solidFill>
              <a:srgbClr val="426E9E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1" name="矩形 130"/>
          <p:cNvSpPr/>
          <p:nvPr/>
        </p:nvSpPr>
        <p:spPr>
          <a:xfrm>
            <a:off x="929721" y="5571763"/>
            <a:ext cx="3417510" cy="641101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effectiveness analysis</a:t>
            </a:r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8617838" y="5571763"/>
            <a:ext cx="3029269" cy="641101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Sensitivity analysis</a:t>
            </a:r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4674168" y="5571763"/>
            <a:ext cx="3616733" cy="641101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advantage and disadvantage</a:t>
            </a:r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257053" y="4211652"/>
            <a:ext cx="7677894" cy="528104"/>
            <a:chOff x="2257053" y="4166497"/>
            <a:chExt cx="7677894" cy="528104"/>
          </a:xfrm>
        </p:grpSpPr>
        <p:sp>
          <p:nvSpPr>
            <p:cNvPr id="10" name="矩形: 圆角 9"/>
            <p:cNvSpPr/>
            <p:nvPr/>
          </p:nvSpPr>
          <p:spPr>
            <a:xfrm>
              <a:off x="2257053" y="4166497"/>
              <a:ext cx="7677894" cy="528104"/>
            </a:xfrm>
            <a:prstGeom prst="roundRect">
              <a:avLst>
                <a:gd name="adj" fmla="val 9035"/>
              </a:avLst>
            </a:prstGeom>
            <a:noFill/>
            <a:ln w="19050"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4943209" y="4257884"/>
              <a:ext cx="2305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XXX Model</a:t>
              </a:r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257055" y="2858659"/>
            <a:ext cx="2305583" cy="690509"/>
            <a:chOff x="2257053" y="4337755"/>
            <a:chExt cx="2305583" cy="690509"/>
          </a:xfrm>
        </p:grpSpPr>
        <p:sp>
          <p:nvSpPr>
            <p:cNvPr id="4" name="矩形: 圆角 3"/>
            <p:cNvSpPr/>
            <p:nvPr/>
          </p:nvSpPr>
          <p:spPr>
            <a:xfrm>
              <a:off x="2257053" y="4337755"/>
              <a:ext cx="2305582" cy="690509"/>
            </a:xfrm>
            <a:prstGeom prst="roundRect">
              <a:avLst>
                <a:gd name="adj" fmla="val 10201"/>
              </a:avLst>
            </a:prstGeom>
            <a:noFill/>
            <a:ln w="190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257054" y="4396536"/>
              <a:ext cx="2305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Market Share</a:t>
              </a:r>
              <a:endPara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2257054" y="4696927"/>
                  <a:ext cx="2305581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7054" y="4696927"/>
                  <a:ext cx="2305581" cy="246221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组合 24"/>
          <p:cNvGrpSpPr/>
          <p:nvPr/>
        </p:nvGrpSpPr>
        <p:grpSpPr>
          <a:xfrm>
            <a:off x="4943209" y="2858659"/>
            <a:ext cx="2305582" cy="690510"/>
            <a:chOff x="4943209" y="4337755"/>
            <a:chExt cx="2305582" cy="690510"/>
          </a:xfrm>
        </p:grpSpPr>
        <p:sp>
          <p:nvSpPr>
            <p:cNvPr id="16" name="文本框 15"/>
            <p:cNvSpPr txBox="1"/>
            <p:nvPr/>
          </p:nvSpPr>
          <p:spPr>
            <a:xfrm>
              <a:off x="4943209" y="4396536"/>
              <a:ext cx="2305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Consumer Feedback</a:t>
              </a:r>
              <a:endPara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矩形: 圆角 17"/>
            <p:cNvSpPr/>
            <p:nvPr/>
          </p:nvSpPr>
          <p:spPr>
            <a:xfrm>
              <a:off x="4943209" y="4337755"/>
              <a:ext cx="2305582" cy="690510"/>
            </a:xfrm>
            <a:prstGeom prst="roundRect">
              <a:avLst>
                <a:gd name="adj" fmla="val 10201"/>
              </a:avLst>
            </a:prstGeom>
            <a:noFill/>
            <a:ln w="190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/>
                <p:cNvSpPr txBox="1"/>
                <p:nvPr/>
              </p:nvSpPr>
              <p:spPr>
                <a:xfrm>
                  <a:off x="4943210" y="4696927"/>
                  <a:ext cx="2305581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3210" y="4696927"/>
                  <a:ext cx="2305581" cy="246221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组合 25"/>
          <p:cNvGrpSpPr/>
          <p:nvPr/>
        </p:nvGrpSpPr>
        <p:grpSpPr>
          <a:xfrm>
            <a:off x="7629366" y="2858659"/>
            <a:ext cx="2305582" cy="690510"/>
            <a:chOff x="7629364" y="4337755"/>
            <a:chExt cx="2305582" cy="690510"/>
          </a:xfrm>
        </p:grpSpPr>
        <p:sp>
          <p:nvSpPr>
            <p:cNvPr id="17" name="文本框 16"/>
            <p:cNvSpPr txBox="1"/>
            <p:nvPr/>
          </p:nvSpPr>
          <p:spPr>
            <a:xfrm>
              <a:off x="7629364" y="4396536"/>
              <a:ext cx="2305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Repurchase Rate</a:t>
              </a:r>
              <a:endPara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: 圆角 18"/>
            <p:cNvSpPr/>
            <p:nvPr/>
          </p:nvSpPr>
          <p:spPr>
            <a:xfrm>
              <a:off x="7629364" y="4337755"/>
              <a:ext cx="2305582" cy="690510"/>
            </a:xfrm>
            <a:prstGeom prst="roundRect">
              <a:avLst>
                <a:gd name="adj" fmla="val 10201"/>
              </a:avLst>
            </a:prstGeom>
            <a:noFill/>
            <a:ln w="190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本框 22"/>
                <p:cNvSpPr txBox="1"/>
                <p:nvPr/>
              </p:nvSpPr>
              <p:spPr>
                <a:xfrm>
                  <a:off x="7629365" y="4696927"/>
                  <a:ext cx="2305581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23" name="文本框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9365" y="4696927"/>
                  <a:ext cx="2305581" cy="246221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/>
          <p:cNvGrpSpPr/>
          <p:nvPr/>
        </p:nvGrpSpPr>
        <p:grpSpPr>
          <a:xfrm>
            <a:off x="2257055" y="1512256"/>
            <a:ext cx="2800193" cy="690509"/>
            <a:chOff x="2257053" y="4337755"/>
            <a:chExt cx="2800193" cy="690509"/>
          </a:xfrm>
        </p:grpSpPr>
        <p:sp>
          <p:nvSpPr>
            <p:cNvPr id="28" name="矩形: 圆角 27"/>
            <p:cNvSpPr/>
            <p:nvPr/>
          </p:nvSpPr>
          <p:spPr>
            <a:xfrm>
              <a:off x="2257053" y="4337755"/>
              <a:ext cx="2305582" cy="690509"/>
            </a:xfrm>
            <a:prstGeom prst="roundRect">
              <a:avLst>
                <a:gd name="adj" fmla="val 10201"/>
              </a:avLst>
            </a:prstGeom>
            <a:noFill/>
            <a:ln w="19050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箭头: 下 28"/>
            <p:cNvSpPr/>
            <p:nvPr/>
          </p:nvSpPr>
          <p:spPr>
            <a:xfrm rot="16200000">
              <a:off x="4729231" y="4405224"/>
              <a:ext cx="93687" cy="562342"/>
            </a:xfrm>
            <a:prstGeom prst="downArrow">
              <a:avLst>
                <a:gd name="adj1" fmla="val 49999"/>
                <a:gd name="adj2" fmla="val 280769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2257054" y="4396536"/>
              <a:ext cx="2305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Substitution</a:t>
              </a:r>
              <a:endPara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943211" y="1512256"/>
            <a:ext cx="2799832" cy="690510"/>
            <a:chOff x="4943209" y="4337755"/>
            <a:chExt cx="2799832" cy="690510"/>
          </a:xfrm>
        </p:grpSpPr>
        <p:sp>
          <p:nvSpPr>
            <p:cNvPr id="33" name="文本框 32"/>
            <p:cNvSpPr txBox="1"/>
            <p:nvPr/>
          </p:nvSpPr>
          <p:spPr>
            <a:xfrm>
              <a:off x="4943209" y="4396536"/>
              <a:ext cx="2305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Period Confirmation</a:t>
              </a:r>
              <a:endPara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矩形: 圆角 33"/>
            <p:cNvSpPr/>
            <p:nvPr/>
          </p:nvSpPr>
          <p:spPr>
            <a:xfrm>
              <a:off x="4943209" y="4337755"/>
              <a:ext cx="2305582" cy="690510"/>
            </a:xfrm>
            <a:prstGeom prst="roundRect">
              <a:avLst>
                <a:gd name="adj" fmla="val 10201"/>
              </a:avLst>
            </a:prstGeom>
            <a:noFill/>
            <a:ln w="19050">
              <a:solidFill>
                <a:schemeClr val="accent2">
                  <a:lumMod val="40000"/>
                  <a:lumOff val="6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箭头: 下 34"/>
            <p:cNvSpPr/>
            <p:nvPr/>
          </p:nvSpPr>
          <p:spPr>
            <a:xfrm rot="16200000">
              <a:off x="7415026" y="4408675"/>
              <a:ext cx="93687" cy="562342"/>
            </a:xfrm>
            <a:prstGeom prst="downArrow">
              <a:avLst>
                <a:gd name="adj1" fmla="val 49999"/>
                <a:gd name="adj2" fmla="val 280769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7629366" y="1571037"/>
            <a:ext cx="230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7629366" y="1512256"/>
            <a:ext cx="2305582" cy="690510"/>
          </a:xfrm>
          <a:prstGeom prst="roundRect">
            <a:avLst>
              <a:gd name="adj" fmla="val 10201"/>
            </a:avLst>
          </a:prstGeom>
          <a:noFill/>
          <a:ln w="19050">
            <a:solidFill>
              <a:schemeClr val="accent2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7629366" y="1849880"/>
            <a:ext cx="2305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 rows with missing values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4943207" y="1849880"/>
            <a:ext cx="2305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Regard 3 months as a period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736314" y="3889046"/>
            <a:ext cx="230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SETUP</a:t>
            </a:r>
            <a:endParaRPr lang="zh-CN" altLang="en-US" sz="14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箭头: 下 43"/>
          <p:cNvSpPr/>
          <p:nvPr/>
        </p:nvSpPr>
        <p:spPr>
          <a:xfrm>
            <a:off x="5934073" y="3607875"/>
            <a:ext cx="323851" cy="562342"/>
          </a:xfrm>
          <a:prstGeom prst="downArrow">
            <a:avLst>
              <a:gd name="adj1" fmla="val 51961"/>
              <a:gd name="adj2" fmla="val 86758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5" name="文本框 44"/>
          <p:cNvSpPr txBox="1"/>
          <p:nvPr/>
        </p:nvSpPr>
        <p:spPr>
          <a:xfrm>
            <a:off x="2091916" y="1204479"/>
            <a:ext cx="230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zh-CN" altLang="en-US" sz="1400" b="1" dirty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2124369" y="2555687"/>
            <a:ext cx="2704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INDICATORS CALCULATION</a:t>
            </a:r>
            <a:endParaRPr lang="zh-CN" altLang="en-US" sz="1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箭头: 下 46"/>
          <p:cNvSpPr/>
          <p:nvPr/>
        </p:nvSpPr>
        <p:spPr>
          <a:xfrm>
            <a:off x="5934075" y="2259651"/>
            <a:ext cx="323851" cy="562342"/>
          </a:xfrm>
          <a:prstGeom prst="downArrow">
            <a:avLst>
              <a:gd name="adj1" fmla="val 51961"/>
              <a:gd name="adj2" fmla="val 86758"/>
            </a:avLst>
          </a:pr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文本框 49"/>
          <p:cNvSpPr txBox="1"/>
          <p:nvPr/>
        </p:nvSpPr>
        <p:spPr>
          <a:xfrm>
            <a:off x="2257055" y="1849880"/>
            <a:ext cx="2305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 [Y, N] with [1, 0]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648" y="1404804"/>
            <a:ext cx="8902450" cy="39385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菱形 1"/>
          <p:cNvSpPr/>
          <p:nvPr/>
        </p:nvSpPr>
        <p:spPr>
          <a:xfrm>
            <a:off x="5111251" y="2526919"/>
            <a:ext cx="1969494" cy="947791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Judgement true?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5209073" y="4040139"/>
            <a:ext cx="1773849" cy="660845"/>
          </a:xfrm>
          <a:prstGeom prst="roundRect">
            <a:avLst>
              <a:gd name="adj" fmla="val 14035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箭头连接符 5"/>
          <p:cNvCxnSpPr>
            <a:stCxn id="2" idx="2"/>
            <a:endCxn id="4" idx="0"/>
          </p:cNvCxnSpPr>
          <p:nvPr/>
        </p:nvCxnSpPr>
        <p:spPr>
          <a:xfrm>
            <a:off x="6095998" y="3474710"/>
            <a:ext cx="0" cy="565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055131" y="3580681"/>
            <a:ext cx="621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5361241" y="504860"/>
            <a:ext cx="1469513" cy="60867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5361241" y="5508611"/>
            <a:ext cx="1469513" cy="60867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5209073" y="1489941"/>
            <a:ext cx="1773849" cy="660845"/>
          </a:xfrm>
          <a:prstGeom prst="roundRect">
            <a:avLst>
              <a:gd name="adj" fmla="val 14035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345953" y="3320821"/>
            <a:ext cx="621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4099444" y="8940"/>
            <a:ext cx="3902802" cy="631906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/>
        </p:nvCxnSpPr>
        <p:spPr>
          <a:xfrm flipV="1">
            <a:off x="4099444" y="0"/>
            <a:ext cx="0" cy="633311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8002246" y="0"/>
            <a:ext cx="0" cy="633311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4189691" y="2904947"/>
            <a:ext cx="113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en-US" altLang="zh-C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electrode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070817" y="2904947"/>
            <a:ext cx="113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altLang="zh-C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electrode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直接连接符 32"/>
          <p:cNvCxnSpPr/>
          <p:nvPr/>
        </p:nvCxnSpPr>
        <p:spPr>
          <a:xfrm flipH="1">
            <a:off x="3425701" y="8940"/>
            <a:ext cx="6737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H="1">
            <a:off x="3425701" y="6328006"/>
            <a:ext cx="6737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箭头: 上下 38"/>
          <p:cNvSpPr/>
          <p:nvPr/>
        </p:nvSpPr>
        <p:spPr>
          <a:xfrm>
            <a:off x="3503856" y="0"/>
            <a:ext cx="45719" cy="6328006"/>
          </a:xfrm>
          <a:prstGeom prst="upDownArrow">
            <a:avLst>
              <a:gd name="adj1" fmla="val 50000"/>
              <a:gd name="adj2" fmla="val 55233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 rot="16200000">
            <a:off x="2694641" y="2916724"/>
            <a:ext cx="11323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100154" y="6328006"/>
            <a:ext cx="0" cy="5968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7998889" y="6328006"/>
            <a:ext cx="0" cy="5968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箭头: 上下 11"/>
          <p:cNvSpPr/>
          <p:nvPr/>
        </p:nvSpPr>
        <p:spPr>
          <a:xfrm rot="16200000">
            <a:off x="6026308" y="4798379"/>
            <a:ext cx="45719" cy="3899448"/>
          </a:xfrm>
          <a:prstGeom prst="upDownArrow">
            <a:avLst>
              <a:gd name="adj1" fmla="val 50000"/>
              <a:gd name="adj2" fmla="val 55233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598709" y="6463186"/>
            <a:ext cx="11323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5173883" y="1202944"/>
            <a:ext cx="296333" cy="25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5935882" y="2040467"/>
            <a:ext cx="293889" cy="288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755870" y="668866"/>
            <a:ext cx="223777" cy="343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823993" y="1137932"/>
            <a:ext cx="223777" cy="343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495936" y="1098958"/>
            <a:ext cx="223777" cy="343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6687665" y="1590024"/>
            <a:ext cx="113566" cy="3702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>
            <a:off x="6883020" y="1405056"/>
            <a:ext cx="113566" cy="3702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7245712" y="1372289"/>
            <a:ext cx="113566" cy="3702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6048563" y="1313576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5442514" y="1714868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4698103" y="1772637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H="1">
            <a:off x="5497178" y="491656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>
            <a:off x="6638556" y="429234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H="1">
            <a:off x="6434164" y="3113167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H="1">
            <a:off x="5374830" y="3992328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H="1">
            <a:off x="6487812" y="4686594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5207946" y="5092994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H="1">
            <a:off x="4775325" y="4411427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6425230" y="4840713"/>
            <a:ext cx="296333" cy="25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6007217" y="4306635"/>
            <a:ext cx="223777" cy="343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7075340" y="4775701"/>
            <a:ext cx="223777" cy="343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H="1">
            <a:off x="7299910" y="4951345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H="1">
            <a:off x="6693861" y="5352637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H="1">
            <a:off x="6748525" y="4129425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5186350" y="4074704"/>
            <a:ext cx="296333" cy="25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4768337" y="3540626"/>
            <a:ext cx="223777" cy="343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5836460" y="4009692"/>
            <a:ext cx="223777" cy="343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H="1">
            <a:off x="6061030" y="4185336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H="1">
            <a:off x="5454981" y="4586628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5509645" y="3363416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5428062" y="2713848"/>
            <a:ext cx="293889" cy="288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5316173" y="1811313"/>
            <a:ext cx="223777" cy="343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5988116" y="1772339"/>
            <a:ext cx="223777" cy="343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H="1">
            <a:off x="5540743" y="1986957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H="1">
            <a:off x="5574409" y="3852765"/>
            <a:ext cx="293889" cy="288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H="1">
            <a:off x="4336630" y="3584935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H="1">
            <a:off x="5148172" y="5175714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H="1">
            <a:off x="5066589" y="4526146"/>
            <a:ext cx="293889" cy="288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4954700" y="3623611"/>
            <a:ext cx="223777" cy="343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5626643" y="3584637"/>
            <a:ext cx="223777" cy="343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5179270" y="3799255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H="1">
            <a:off x="7116331" y="4038628"/>
            <a:ext cx="293889" cy="288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 flipH="1">
            <a:off x="5878552" y="3770798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H="1">
            <a:off x="6690094" y="5361577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H="1">
            <a:off x="6608511" y="4712009"/>
            <a:ext cx="293889" cy="288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6496622" y="3809474"/>
            <a:ext cx="223777" cy="343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7168565" y="3770500"/>
            <a:ext cx="223777" cy="343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 flipH="1">
            <a:off x="6721192" y="3985118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4152037" y="1068950"/>
            <a:ext cx="296333" cy="254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4567190" y="1193075"/>
            <a:ext cx="223777" cy="34325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4377621" y="1715487"/>
            <a:ext cx="296333" cy="25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5269448" y="1013359"/>
            <a:ext cx="223777" cy="343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4323289" y="1240992"/>
            <a:ext cx="326025" cy="111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5251917" y="1484773"/>
            <a:ext cx="223777" cy="34325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5246491" y="1795143"/>
            <a:ext cx="296333" cy="25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6177868" y="897733"/>
            <a:ext cx="223777" cy="343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4679078" y="1411541"/>
            <a:ext cx="296333" cy="254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6719713" y="749151"/>
            <a:ext cx="223777" cy="343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6285310" y="1135846"/>
            <a:ext cx="296333" cy="25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6781548" y="1589641"/>
            <a:ext cx="223777" cy="34325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>
            <a:off x="6389914" y="1710848"/>
            <a:ext cx="296333" cy="25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>
            <a:off x="7456007" y="1284428"/>
            <a:ext cx="223777" cy="343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7021604" y="1671123"/>
            <a:ext cx="296333" cy="25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7472336" y="941463"/>
            <a:ext cx="223777" cy="343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6979199" y="1452240"/>
            <a:ext cx="296333" cy="254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7424594" y="1846866"/>
            <a:ext cx="296333" cy="25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 flipV="1">
            <a:off x="4916963" y="1522867"/>
            <a:ext cx="400737" cy="11245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 flipV="1">
            <a:off x="5395156" y="1648812"/>
            <a:ext cx="400737" cy="11245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 flipV="1">
            <a:off x="5937278" y="1871561"/>
            <a:ext cx="378109" cy="15893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5688451" y="1573200"/>
            <a:ext cx="223777" cy="34325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>
            <a:off x="5795893" y="1811313"/>
            <a:ext cx="296333" cy="254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 flipV="1">
            <a:off x="6217321" y="1703627"/>
            <a:ext cx="312447" cy="2153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 flipV="1">
            <a:off x="6359292" y="1709858"/>
            <a:ext cx="423599" cy="349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/>
        </p:nvCxnSpPr>
        <p:spPr>
          <a:xfrm flipH="1">
            <a:off x="7111462" y="1453074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>
            <a:off x="7321757" y="1365213"/>
            <a:ext cx="223777" cy="34325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 flipV="1">
            <a:off x="7386533" y="1411515"/>
            <a:ext cx="327787" cy="1204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/>
        </p:nvCxnSpPr>
        <p:spPr>
          <a:xfrm>
            <a:off x="7627890" y="1399278"/>
            <a:ext cx="223777" cy="34325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 flipV="1">
            <a:off x="7542087" y="1869330"/>
            <a:ext cx="327787" cy="1204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>
            <a:off x="5615395" y="2260868"/>
            <a:ext cx="223777" cy="343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 flipH="1">
            <a:off x="5807124" y="2751934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>
            <a:off x="5297327" y="2059643"/>
            <a:ext cx="223777" cy="343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>
            <a:off x="5404769" y="2297756"/>
            <a:ext cx="296333" cy="25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>
            <a:off x="5509373" y="2872758"/>
            <a:ext cx="296333" cy="25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/>
        </p:nvCxnSpPr>
        <p:spPr>
          <a:xfrm flipV="1">
            <a:off x="5336780" y="2865537"/>
            <a:ext cx="312447" cy="215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/>
          <p:cNvCxnSpPr/>
          <p:nvPr/>
        </p:nvCxnSpPr>
        <p:spPr>
          <a:xfrm flipV="1">
            <a:off x="5478751" y="2871768"/>
            <a:ext cx="423599" cy="349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/>
          <p:nvPr/>
        </p:nvCxnSpPr>
        <p:spPr>
          <a:xfrm>
            <a:off x="6606694" y="3791879"/>
            <a:ext cx="223777" cy="343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/>
          <p:cNvCxnSpPr/>
          <p:nvPr/>
        </p:nvCxnSpPr>
        <p:spPr>
          <a:xfrm flipH="1">
            <a:off x="6798423" y="4282945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/>
        </p:nvCxnSpPr>
        <p:spPr>
          <a:xfrm>
            <a:off x="6288626" y="3590654"/>
            <a:ext cx="223777" cy="343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/>
          <p:cNvCxnSpPr/>
          <p:nvPr/>
        </p:nvCxnSpPr>
        <p:spPr>
          <a:xfrm>
            <a:off x="6396068" y="3828767"/>
            <a:ext cx="296333" cy="25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/>
          <p:cNvCxnSpPr/>
          <p:nvPr/>
        </p:nvCxnSpPr>
        <p:spPr>
          <a:xfrm>
            <a:off x="6500672" y="4403769"/>
            <a:ext cx="296333" cy="25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/>
        </p:nvCxnSpPr>
        <p:spPr>
          <a:xfrm flipV="1">
            <a:off x="6328079" y="4396548"/>
            <a:ext cx="312447" cy="215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/>
        </p:nvCxnSpPr>
        <p:spPr>
          <a:xfrm flipV="1">
            <a:off x="6470050" y="4402779"/>
            <a:ext cx="423599" cy="349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/>
          <p:cNvCxnSpPr/>
          <p:nvPr/>
        </p:nvCxnSpPr>
        <p:spPr>
          <a:xfrm>
            <a:off x="5222900" y="4270744"/>
            <a:ext cx="223777" cy="343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/>
          <p:cNvCxnSpPr/>
          <p:nvPr/>
        </p:nvCxnSpPr>
        <p:spPr>
          <a:xfrm flipH="1">
            <a:off x="5414629" y="4761810"/>
            <a:ext cx="113566" cy="370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4904832" y="4069519"/>
            <a:ext cx="223777" cy="343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/>
          <p:cNvCxnSpPr/>
          <p:nvPr/>
        </p:nvCxnSpPr>
        <p:spPr>
          <a:xfrm>
            <a:off x="5012274" y="4307632"/>
            <a:ext cx="296333" cy="25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5116878" y="4882634"/>
            <a:ext cx="296333" cy="25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/>
          <p:cNvCxnSpPr/>
          <p:nvPr/>
        </p:nvCxnSpPr>
        <p:spPr>
          <a:xfrm flipV="1">
            <a:off x="4944285" y="4875413"/>
            <a:ext cx="312447" cy="215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/>
          <p:cNvCxnSpPr/>
          <p:nvPr/>
        </p:nvCxnSpPr>
        <p:spPr>
          <a:xfrm flipV="1">
            <a:off x="5086256" y="4881644"/>
            <a:ext cx="423599" cy="349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文本框 131"/>
          <p:cNvSpPr txBox="1"/>
          <p:nvPr/>
        </p:nvSpPr>
        <p:spPr>
          <a:xfrm>
            <a:off x="2325616" y="817519"/>
            <a:ext cx="11323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Starting line</a:t>
            </a:r>
            <a:endParaRPr lang="zh-CN" alt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8244333" y="1657423"/>
            <a:ext cx="11323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Ending line</a:t>
            </a:r>
            <a:endParaRPr lang="zh-CN" altLang="en-US" sz="1400" b="1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3989245" y="804333"/>
            <a:ext cx="223777" cy="343259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7740720" y="1612570"/>
            <a:ext cx="342054" cy="19086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箭头: 右 2"/>
          <p:cNvSpPr/>
          <p:nvPr/>
        </p:nvSpPr>
        <p:spPr>
          <a:xfrm rot="20700000" flipV="1">
            <a:off x="1911791" y="3267641"/>
            <a:ext cx="867777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476323" y="3326259"/>
            <a:ext cx="515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(0:0)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箭头: 右 135"/>
          <p:cNvSpPr/>
          <p:nvPr/>
        </p:nvSpPr>
        <p:spPr>
          <a:xfrm rot="20700000" flipV="1">
            <a:off x="3206169" y="2917509"/>
            <a:ext cx="867777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文本框 136"/>
          <p:cNvSpPr txBox="1"/>
          <p:nvPr/>
        </p:nvSpPr>
        <p:spPr>
          <a:xfrm>
            <a:off x="2709248" y="2973063"/>
            <a:ext cx="515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(15:0)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箭头: 右 137"/>
          <p:cNvSpPr/>
          <p:nvPr/>
        </p:nvSpPr>
        <p:spPr>
          <a:xfrm rot="20700000" flipV="1">
            <a:off x="4500546" y="2565031"/>
            <a:ext cx="867777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文本框 138"/>
          <p:cNvSpPr txBox="1"/>
          <p:nvPr/>
        </p:nvSpPr>
        <p:spPr>
          <a:xfrm>
            <a:off x="4004754" y="2630385"/>
            <a:ext cx="515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(30:0)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箭头: 右 139"/>
          <p:cNvSpPr/>
          <p:nvPr/>
        </p:nvSpPr>
        <p:spPr>
          <a:xfrm rot="20700000">
            <a:off x="5775538" y="2014072"/>
            <a:ext cx="2703273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1" name="文本框 140"/>
          <p:cNvSpPr txBox="1"/>
          <p:nvPr/>
        </p:nvSpPr>
        <p:spPr>
          <a:xfrm>
            <a:off x="5289343" y="2272798"/>
            <a:ext cx="515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(40:0)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箭头: 右 141"/>
          <p:cNvSpPr/>
          <p:nvPr/>
        </p:nvSpPr>
        <p:spPr>
          <a:xfrm rot="900000">
            <a:off x="1911791" y="3659425"/>
            <a:ext cx="867777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文本框 142"/>
          <p:cNvSpPr txBox="1"/>
          <p:nvPr/>
        </p:nvSpPr>
        <p:spPr>
          <a:xfrm>
            <a:off x="2742478" y="3703949"/>
            <a:ext cx="515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(0:15)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箭头: 右 143"/>
          <p:cNvSpPr/>
          <p:nvPr/>
        </p:nvSpPr>
        <p:spPr>
          <a:xfrm rot="900000">
            <a:off x="3206168" y="4017743"/>
            <a:ext cx="867777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文本框 144"/>
          <p:cNvSpPr txBox="1"/>
          <p:nvPr/>
        </p:nvSpPr>
        <p:spPr>
          <a:xfrm>
            <a:off x="4004754" y="4066574"/>
            <a:ext cx="515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(0:30)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箭头: 右 145"/>
          <p:cNvSpPr/>
          <p:nvPr/>
        </p:nvSpPr>
        <p:spPr>
          <a:xfrm rot="900000">
            <a:off x="4500545" y="4373407"/>
            <a:ext cx="867777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文本框 146"/>
          <p:cNvSpPr txBox="1"/>
          <p:nvPr/>
        </p:nvSpPr>
        <p:spPr>
          <a:xfrm>
            <a:off x="5322574" y="4425251"/>
            <a:ext cx="515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(0:40)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箭头: 右 148"/>
          <p:cNvSpPr/>
          <p:nvPr/>
        </p:nvSpPr>
        <p:spPr>
          <a:xfrm rot="900000">
            <a:off x="3206168" y="3267641"/>
            <a:ext cx="867777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箭头: 右 150"/>
          <p:cNvSpPr/>
          <p:nvPr/>
        </p:nvSpPr>
        <p:spPr>
          <a:xfrm rot="20700000" flipV="1">
            <a:off x="3206167" y="3655304"/>
            <a:ext cx="867777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文本框 151"/>
          <p:cNvSpPr txBox="1"/>
          <p:nvPr/>
        </p:nvSpPr>
        <p:spPr>
          <a:xfrm>
            <a:off x="3963118" y="3326259"/>
            <a:ext cx="6152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(15:15)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箭头: 右 152"/>
          <p:cNvSpPr/>
          <p:nvPr/>
        </p:nvSpPr>
        <p:spPr>
          <a:xfrm rot="20700000" flipV="1">
            <a:off x="4500542" y="3264254"/>
            <a:ext cx="867777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箭头: 右 153"/>
          <p:cNvSpPr/>
          <p:nvPr/>
        </p:nvSpPr>
        <p:spPr>
          <a:xfrm rot="900000">
            <a:off x="4498111" y="3659425"/>
            <a:ext cx="867777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箭头: 右 154"/>
          <p:cNvSpPr/>
          <p:nvPr/>
        </p:nvSpPr>
        <p:spPr>
          <a:xfrm rot="900000">
            <a:off x="4498110" y="2914642"/>
            <a:ext cx="867777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箭头: 右 155"/>
          <p:cNvSpPr/>
          <p:nvPr/>
        </p:nvSpPr>
        <p:spPr>
          <a:xfrm rot="20700000" flipV="1">
            <a:off x="4500542" y="4038943"/>
            <a:ext cx="867777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文本框 156"/>
          <p:cNvSpPr txBox="1"/>
          <p:nvPr/>
        </p:nvSpPr>
        <p:spPr>
          <a:xfrm>
            <a:off x="5260070" y="2969714"/>
            <a:ext cx="5893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(30:15)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5260069" y="3720884"/>
            <a:ext cx="5893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(15:30)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6603916" y="2620261"/>
            <a:ext cx="589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(40:15)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6603915" y="4077228"/>
            <a:ext cx="5893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(15:40)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箭头: 右 160"/>
          <p:cNvSpPr/>
          <p:nvPr/>
        </p:nvSpPr>
        <p:spPr>
          <a:xfrm rot="11700000" flipH="1" flipV="1">
            <a:off x="5806810" y="2565030"/>
            <a:ext cx="867777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箭头: 右 161"/>
          <p:cNvSpPr/>
          <p:nvPr/>
        </p:nvSpPr>
        <p:spPr>
          <a:xfrm rot="9900000" flipH="1">
            <a:off x="5806811" y="4370113"/>
            <a:ext cx="867777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箭头: 右 162"/>
          <p:cNvSpPr/>
          <p:nvPr/>
        </p:nvSpPr>
        <p:spPr>
          <a:xfrm rot="900000" flipV="1">
            <a:off x="5775537" y="4983816"/>
            <a:ext cx="2703273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4" name="箭头: 右 163"/>
          <p:cNvSpPr/>
          <p:nvPr/>
        </p:nvSpPr>
        <p:spPr>
          <a:xfrm rot="9900000" flipH="1">
            <a:off x="5806811" y="2920321"/>
            <a:ext cx="867777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箭头: 右 164"/>
          <p:cNvSpPr/>
          <p:nvPr/>
        </p:nvSpPr>
        <p:spPr>
          <a:xfrm rot="11700000" flipH="1" flipV="1">
            <a:off x="5806810" y="4011230"/>
            <a:ext cx="867777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箭头: 右 165"/>
          <p:cNvSpPr/>
          <p:nvPr/>
        </p:nvSpPr>
        <p:spPr>
          <a:xfrm rot="900000">
            <a:off x="7173313" y="2914640"/>
            <a:ext cx="867777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箭头: 右 166"/>
          <p:cNvSpPr/>
          <p:nvPr/>
        </p:nvSpPr>
        <p:spPr>
          <a:xfrm rot="20700000" flipV="1">
            <a:off x="7170882" y="4011230"/>
            <a:ext cx="867777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文本框 167"/>
          <p:cNvSpPr txBox="1"/>
          <p:nvPr/>
        </p:nvSpPr>
        <p:spPr>
          <a:xfrm>
            <a:off x="7954437" y="2969713"/>
            <a:ext cx="5893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AD_A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7954436" y="3703948"/>
            <a:ext cx="5893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AD_B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箭头: 右 169"/>
          <p:cNvSpPr/>
          <p:nvPr/>
        </p:nvSpPr>
        <p:spPr>
          <a:xfrm rot="20700000" flipV="1">
            <a:off x="8493865" y="3667664"/>
            <a:ext cx="867777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文本框 170"/>
          <p:cNvSpPr txBox="1"/>
          <p:nvPr/>
        </p:nvSpPr>
        <p:spPr>
          <a:xfrm>
            <a:off x="9305546" y="3359984"/>
            <a:ext cx="615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Deuce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箭头: 右 171"/>
          <p:cNvSpPr/>
          <p:nvPr/>
        </p:nvSpPr>
        <p:spPr>
          <a:xfrm rot="900000">
            <a:off x="8493865" y="3278786"/>
            <a:ext cx="867777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箭头: 右 172"/>
          <p:cNvSpPr/>
          <p:nvPr/>
        </p:nvSpPr>
        <p:spPr>
          <a:xfrm rot="318345">
            <a:off x="5816890" y="3294076"/>
            <a:ext cx="3549842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4" name="箭头: 右 173"/>
          <p:cNvSpPr/>
          <p:nvPr/>
        </p:nvSpPr>
        <p:spPr>
          <a:xfrm rot="21281655" flipV="1">
            <a:off x="5816890" y="3650958"/>
            <a:ext cx="3549842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5" name="文本框 174"/>
          <p:cNvSpPr txBox="1"/>
          <p:nvPr/>
        </p:nvSpPr>
        <p:spPr>
          <a:xfrm>
            <a:off x="8453624" y="1472957"/>
            <a:ext cx="792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WIN_A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8453624" y="5240086"/>
            <a:ext cx="756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WIN_B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箭头: 右 178"/>
          <p:cNvSpPr/>
          <p:nvPr/>
        </p:nvSpPr>
        <p:spPr>
          <a:xfrm rot="17387553" flipV="1">
            <a:off x="7853858" y="2350409"/>
            <a:ext cx="1368843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箭头: 右 179"/>
          <p:cNvSpPr/>
          <p:nvPr/>
        </p:nvSpPr>
        <p:spPr>
          <a:xfrm rot="4212447">
            <a:off x="7853858" y="4589429"/>
            <a:ext cx="1368843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箭头: 右 180"/>
          <p:cNvSpPr/>
          <p:nvPr/>
        </p:nvSpPr>
        <p:spPr>
          <a:xfrm rot="19684796">
            <a:off x="7055411" y="2189824"/>
            <a:ext cx="1805975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箭头: 右 181"/>
          <p:cNvSpPr/>
          <p:nvPr/>
        </p:nvSpPr>
        <p:spPr>
          <a:xfrm rot="1915204" flipV="1">
            <a:off x="7051448" y="4760083"/>
            <a:ext cx="1805975" cy="45719"/>
          </a:xfrm>
          <a:prstGeom prst="rightArrow">
            <a:avLst>
              <a:gd name="adj1" fmla="val 25305"/>
              <a:gd name="adj2" fmla="val 61013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3" name="文本框 182"/>
              <p:cNvSpPr txBox="1"/>
              <p:nvPr/>
            </p:nvSpPr>
            <p:spPr>
              <a:xfrm>
                <a:off x="2045225" y="2977219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3" name="文本框 1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225" y="2977219"/>
                <a:ext cx="515946" cy="276999"/>
              </a:xfrm>
              <a:prstGeom prst="rect">
                <a:avLst/>
              </a:prstGeom>
              <a:blipFill rotWithShape="1">
                <a:blip r:embed="rId1"/>
                <a:stretch>
                  <a:fillRect l="-102" t="-122" r="42" b="1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4" name="文本框 183"/>
              <p:cNvSpPr txBox="1"/>
              <p:nvPr/>
            </p:nvSpPr>
            <p:spPr>
              <a:xfrm>
                <a:off x="2041790" y="3368523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4" name="文本框 1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790" y="3368523"/>
                <a:ext cx="515946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51" t="-174" r="115" b="2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文本框 185"/>
              <p:cNvSpPr txBox="1"/>
              <p:nvPr/>
            </p:nvSpPr>
            <p:spPr>
              <a:xfrm>
                <a:off x="4672621" y="3372816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6" name="文本框 1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621" y="3372816"/>
                <a:ext cx="515946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56" t="-119" r="120" b="1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本框 186"/>
              <p:cNvSpPr txBox="1"/>
              <p:nvPr/>
            </p:nvSpPr>
            <p:spPr>
              <a:xfrm>
                <a:off x="3366969" y="2977219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7" name="文本框 1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6969" y="2977219"/>
                <a:ext cx="515946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39" t="-122" r="102" b="1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8" name="文本框 187"/>
              <p:cNvSpPr txBox="1"/>
              <p:nvPr/>
            </p:nvSpPr>
            <p:spPr>
              <a:xfrm>
                <a:off x="3366969" y="3745107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8" name="文本框 1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6969" y="3745107"/>
                <a:ext cx="515946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39" t="-185" r="102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9" name="文本框 188"/>
              <p:cNvSpPr txBox="1"/>
              <p:nvPr/>
            </p:nvSpPr>
            <p:spPr>
              <a:xfrm>
                <a:off x="3366969" y="2637398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9" name="文本框 1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6969" y="2637398"/>
                <a:ext cx="515946" cy="276999"/>
              </a:xfrm>
              <a:prstGeom prst="rect">
                <a:avLst/>
              </a:prstGeom>
              <a:blipFill rotWithShape="1">
                <a:blip r:embed="rId1"/>
                <a:stretch>
                  <a:fillRect l="-39" t="-88" r="102" b="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0" name="文本框 189"/>
              <p:cNvSpPr txBox="1"/>
              <p:nvPr/>
            </p:nvSpPr>
            <p:spPr>
              <a:xfrm>
                <a:off x="3366969" y="3385817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0" name="文本框 1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6969" y="3385817"/>
                <a:ext cx="515946" cy="276999"/>
              </a:xfrm>
              <a:prstGeom prst="rect">
                <a:avLst/>
              </a:prstGeom>
              <a:blipFill rotWithShape="1">
                <a:blip r:embed="rId1"/>
                <a:stretch>
                  <a:fillRect l="-39" t="-228" r="102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1" name="文本框 190"/>
              <p:cNvSpPr txBox="1"/>
              <p:nvPr/>
            </p:nvSpPr>
            <p:spPr>
              <a:xfrm>
                <a:off x="4672679" y="2306120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1" name="文本框 1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679" y="2306120"/>
                <a:ext cx="515946" cy="276999"/>
              </a:xfrm>
              <a:prstGeom prst="rect">
                <a:avLst/>
              </a:prstGeom>
              <a:blipFill rotWithShape="1">
                <a:blip r:embed="rId1"/>
                <a:stretch>
                  <a:fillRect l="-68" t="-157" r="8" b="2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2" name="文本框 191"/>
              <p:cNvSpPr txBox="1"/>
              <p:nvPr/>
            </p:nvSpPr>
            <p:spPr>
              <a:xfrm>
                <a:off x="4672679" y="2999708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2" name="文本框 1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679" y="2999708"/>
                <a:ext cx="515946" cy="276999"/>
              </a:xfrm>
              <a:prstGeom prst="rect">
                <a:avLst/>
              </a:prstGeom>
              <a:blipFill rotWithShape="1">
                <a:blip r:embed="rId1"/>
                <a:stretch>
                  <a:fillRect l="-68" t="-218" r="8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3" name="文本框 192"/>
              <p:cNvSpPr txBox="1"/>
              <p:nvPr/>
            </p:nvSpPr>
            <p:spPr>
              <a:xfrm>
                <a:off x="4672621" y="2650917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3" name="文本框 1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621" y="2650917"/>
                <a:ext cx="515946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56" t="-154" r="120" b="2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文本框 193"/>
              <p:cNvSpPr txBox="1"/>
              <p:nvPr/>
            </p:nvSpPr>
            <p:spPr>
              <a:xfrm>
                <a:off x="4672621" y="4097603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4" name="文本框 1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621" y="4097603"/>
                <a:ext cx="515946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56" t="-210" r="120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5" name="文本框 194"/>
              <p:cNvSpPr txBox="1"/>
              <p:nvPr/>
            </p:nvSpPr>
            <p:spPr>
              <a:xfrm>
                <a:off x="5942865" y="2671742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5" name="文本框 1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865" y="2671742"/>
                <a:ext cx="515946" cy="276999"/>
              </a:xfrm>
              <a:prstGeom prst="rect">
                <a:avLst/>
              </a:prstGeom>
              <a:blipFill rotWithShape="1">
                <a:blip r:embed="rId1"/>
                <a:stretch>
                  <a:fillRect l="-104" t="-107" r="44" b="1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8" name="文本框 197"/>
              <p:cNvSpPr txBox="1"/>
              <p:nvPr/>
            </p:nvSpPr>
            <p:spPr>
              <a:xfrm>
                <a:off x="5942865" y="4123361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8" name="文本框 1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865" y="4123361"/>
                <a:ext cx="515946" cy="276999"/>
              </a:xfrm>
              <a:prstGeom prst="rect">
                <a:avLst/>
              </a:prstGeom>
              <a:blipFill rotWithShape="1">
                <a:blip r:embed="rId1"/>
                <a:stretch>
                  <a:fillRect l="-104" t="-110" r="44" b="1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9" name="文本框 198"/>
              <p:cNvSpPr txBox="1"/>
              <p:nvPr/>
            </p:nvSpPr>
            <p:spPr>
              <a:xfrm>
                <a:off x="5931059" y="2294459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9" name="文本框 1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1059" y="2294459"/>
                <a:ext cx="515946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31" t="-74" r="94" b="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文本框 199"/>
              <p:cNvSpPr txBox="1"/>
              <p:nvPr/>
            </p:nvSpPr>
            <p:spPr>
              <a:xfrm>
                <a:off x="5931059" y="3745197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0" name="文本框 1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1059" y="3745197"/>
                <a:ext cx="515946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31" t="-217" r="94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文本框 200"/>
              <p:cNvSpPr txBox="1"/>
              <p:nvPr/>
            </p:nvSpPr>
            <p:spPr>
              <a:xfrm>
                <a:off x="7150012" y="3423492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1" name="文本框 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0012" y="3423492"/>
                <a:ext cx="515946" cy="276999"/>
              </a:xfrm>
              <a:prstGeom prst="rect">
                <a:avLst/>
              </a:prstGeom>
              <a:blipFill rotWithShape="1">
                <a:blip r:embed="rId1"/>
                <a:stretch>
                  <a:fillRect l="-106" t="-75" r="46" b="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文本框 201"/>
              <p:cNvSpPr txBox="1"/>
              <p:nvPr/>
            </p:nvSpPr>
            <p:spPr>
              <a:xfrm>
                <a:off x="6699252" y="1791717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2" name="文本框 2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252" y="1791717"/>
                <a:ext cx="515946" cy="276999"/>
              </a:xfrm>
              <a:prstGeom prst="rect">
                <a:avLst/>
              </a:prstGeom>
              <a:blipFill rotWithShape="1">
                <a:blip r:embed="rId1"/>
                <a:stretch>
                  <a:fillRect t="-138" r="64" b="1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文本框 202"/>
              <p:cNvSpPr txBox="1"/>
              <p:nvPr/>
            </p:nvSpPr>
            <p:spPr>
              <a:xfrm>
                <a:off x="7528760" y="1979991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3" name="文本框 2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760" y="1979991"/>
                <a:ext cx="515946" cy="276999"/>
              </a:xfrm>
              <a:prstGeom prst="rect">
                <a:avLst/>
              </a:prstGeom>
              <a:blipFill rotWithShape="1">
                <a:blip r:embed="rId1"/>
                <a:stretch>
                  <a:fillRect l="-39" t="-22" r="102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4" name="文本框 203"/>
              <p:cNvSpPr txBox="1"/>
              <p:nvPr/>
            </p:nvSpPr>
            <p:spPr>
              <a:xfrm>
                <a:off x="8163034" y="2134298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4" name="文本框 2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034" y="2134298"/>
                <a:ext cx="515946" cy="276999"/>
              </a:xfrm>
              <a:prstGeom prst="rect">
                <a:avLst/>
              </a:prstGeom>
              <a:blipFill rotWithShape="1">
                <a:blip r:embed="rId1"/>
                <a:stretch>
                  <a:fillRect l="-21" t="-23" r="84" b="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5" name="文本框 204"/>
              <p:cNvSpPr txBox="1"/>
              <p:nvPr/>
            </p:nvSpPr>
            <p:spPr>
              <a:xfrm>
                <a:off x="7270787" y="3761210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5" name="文本框 2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0787" y="3761210"/>
                <a:ext cx="515946" cy="276999"/>
              </a:xfrm>
              <a:prstGeom prst="rect">
                <a:avLst/>
              </a:prstGeom>
              <a:blipFill rotWithShape="1">
                <a:blip r:embed="rId1"/>
                <a:stretch>
                  <a:fillRect l="-7" t="-38" r="70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文本框 205"/>
              <p:cNvSpPr txBox="1"/>
              <p:nvPr/>
            </p:nvSpPr>
            <p:spPr>
              <a:xfrm>
                <a:off x="8663605" y="3643828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6" name="文本框 2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605" y="3643828"/>
                <a:ext cx="515946" cy="276999"/>
              </a:xfrm>
              <a:prstGeom prst="rect">
                <a:avLst/>
              </a:prstGeom>
              <a:blipFill rotWithShape="1">
                <a:blip r:embed="rId1"/>
                <a:stretch>
                  <a:fillRect l="-58" t="-71" r="121" b="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7" name="文本框 206"/>
              <p:cNvSpPr txBox="1"/>
              <p:nvPr/>
            </p:nvSpPr>
            <p:spPr>
              <a:xfrm>
                <a:off x="8659764" y="2991263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7" name="文本框 2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9764" y="2991263"/>
                <a:ext cx="515946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52" t="-149" r="115" b="1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8" name="文本框 207"/>
              <p:cNvSpPr txBox="1"/>
              <p:nvPr/>
            </p:nvSpPr>
            <p:spPr>
              <a:xfrm>
                <a:off x="7143833" y="3000268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8" name="文本框 2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833" y="3000268"/>
                <a:ext cx="515946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16" t="-191" r="79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9" name="文本框 208"/>
              <p:cNvSpPr txBox="1"/>
              <p:nvPr/>
            </p:nvSpPr>
            <p:spPr>
              <a:xfrm>
                <a:off x="7270654" y="2629678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9" name="文本框 2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0654" y="2629678"/>
                <a:ext cx="515946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104" t="-52" r="45" b="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0" name="文本框 209"/>
              <p:cNvSpPr txBox="1"/>
              <p:nvPr/>
            </p:nvSpPr>
            <p:spPr>
              <a:xfrm>
                <a:off x="6695600" y="4655496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0" name="文本框 2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600" y="4655496"/>
                <a:ext cx="515946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31" t="-112" r="94" b="1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1" name="文本框 210"/>
              <p:cNvSpPr txBox="1"/>
              <p:nvPr/>
            </p:nvSpPr>
            <p:spPr>
              <a:xfrm>
                <a:off x="7528434" y="4370174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1" name="文本框 2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434" y="4370174"/>
                <a:ext cx="515946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99" t="-38" r="39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2" name="文本框 211"/>
              <p:cNvSpPr txBox="1"/>
              <p:nvPr/>
            </p:nvSpPr>
            <p:spPr>
              <a:xfrm>
                <a:off x="8044380" y="4209375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2" name="文本框 2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4380" y="4209375"/>
                <a:ext cx="515946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39" t="-215" r="102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3" name="文本框 212"/>
              <p:cNvSpPr txBox="1"/>
              <p:nvPr/>
            </p:nvSpPr>
            <p:spPr>
              <a:xfrm>
                <a:off x="4672679" y="3784803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3" name="文本框 2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679" y="3784803"/>
                <a:ext cx="515946" cy="276999"/>
              </a:xfrm>
              <a:prstGeom prst="rect">
                <a:avLst/>
              </a:prstGeom>
              <a:blipFill rotWithShape="1">
                <a:blip r:embed="rId1"/>
                <a:stretch>
                  <a:fillRect l="-68" t="-73" r="8" b="1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箭头: 环形 215"/>
          <p:cNvSpPr/>
          <p:nvPr/>
        </p:nvSpPr>
        <p:spPr>
          <a:xfrm rot="1888985" flipH="1">
            <a:off x="8224187" y="2698080"/>
            <a:ext cx="1429045" cy="1393259"/>
          </a:xfrm>
          <a:prstGeom prst="circularArrow">
            <a:avLst>
              <a:gd name="adj1" fmla="val 791"/>
              <a:gd name="adj2" fmla="val 969318"/>
              <a:gd name="adj3" fmla="val 20455443"/>
              <a:gd name="adj4" fmla="val 12461729"/>
              <a:gd name="adj5" fmla="val 213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7" name="箭头: 环形 216"/>
          <p:cNvSpPr/>
          <p:nvPr/>
        </p:nvSpPr>
        <p:spPr>
          <a:xfrm rot="20051173" flipH="1" flipV="1">
            <a:off x="8224184" y="2934093"/>
            <a:ext cx="1429045" cy="1393259"/>
          </a:xfrm>
          <a:prstGeom prst="circularArrow">
            <a:avLst>
              <a:gd name="adj1" fmla="val 791"/>
              <a:gd name="adj2" fmla="val 969318"/>
              <a:gd name="adj3" fmla="val 20455443"/>
              <a:gd name="adj4" fmla="val 12167160"/>
              <a:gd name="adj5" fmla="val 2132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8" name="文本框 217"/>
              <p:cNvSpPr txBox="1"/>
              <p:nvPr/>
            </p:nvSpPr>
            <p:spPr>
              <a:xfrm>
                <a:off x="8659764" y="4013030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8" name="文本框 2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9764" y="4013030"/>
                <a:ext cx="515946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52" t="-168" r="115" b="2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9" name="文本框 218"/>
              <p:cNvSpPr txBox="1"/>
              <p:nvPr/>
            </p:nvSpPr>
            <p:spPr>
              <a:xfrm>
                <a:off x="8663605" y="2449389"/>
                <a:ext cx="515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9" name="文本框 2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605" y="2449389"/>
                <a:ext cx="515946" cy="276999"/>
              </a:xfrm>
              <a:prstGeom prst="rect">
                <a:avLst/>
              </a:prstGeom>
              <a:blipFill rotWithShape="1">
                <a:blip r:embed="rId1"/>
                <a:stretch>
                  <a:fillRect l="-58" t="-70" r="121" b="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图片 2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1174" y="785998"/>
            <a:ext cx="7789276" cy="4775165"/>
          </a:xfrm>
          <a:prstGeom prst="rect">
            <a:avLst/>
          </a:prstGeom>
        </p:spPr>
      </p:pic>
      <p:cxnSp>
        <p:nvCxnSpPr>
          <p:cNvPr id="223" name="直接连接符 222"/>
          <p:cNvCxnSpPr/>
          <p:nvPr/>
        </p:nvCxnSpPr>
        <p:spPr>
          <a:xfrm>
            <a:off x="2370288" y="2275711"/>
            <a:ext cx="7054673" cy="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5" b="1689"/>
          <a:stretch>
            <a:fillRect/>
          </a:stretch>
        </p:blipFill>
        <p:spPr>
          <a:xfrm>
            <a:off x="583456" y="936978"/>
            <a:ext cx="10878334" cy="52267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图片 2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6367"/>
            <a:ext cx="12192000" cy="6265265"/>
          </a:xfrm>
          <a:prstGeom prst="rect">
            <a:avLst/>
          </a:prstGeom>
        </p:spPr>
      </p:pic>
      <p:cxnSp>
        <p:nvCxnSpPr>
          <p:cNvPr id="223" name="直接连接符 222"/>
          <p:cNvCxnSpPr/>
          <p:nvPr/>
        </p:nvCxnSpPr>
        <p:spPr>
          <a:xfrm>
            <a:off x="2816199" y="6492111"/>
            <a:ext cx="7054673" cy="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/>
          <p:cNvGrpSpPr/>
          <p:nvPr/>
        </p:nvGrpSpPr>
        <p:grpSpPr>
          <a:xfrm>
            <a:off x="334010" y="-156210"/>
            <a:ext cx="4638675" cy="6750685"/>
            <a:chOff x="526" y="-246"/>
            <a:chExt cx="7305" cy="10631"/>
          </a:xfrm>
        </p:grpSpPr>
        <p:sp>
          <p:nvSpPr>
            <p:cNvPr id="97" name="文本框 96"/>
            <p:cNvSpPr txBox="1"/>
            <p:nvPr/>
          </p:nvSpPr>
          <p:spPr>
            <a:xfrm>
              <a:off x="5735" y="6920"/>
              <a:ext cx="178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 b="1">
                  <a:latin typeface="微软雅黑" panose="020B0503020204020204" charset="-122"/>
                  <a:ea typeface="微软雅黑" panose="020B0503020204020204" charset="-122"/>
                </a:rPr>
                <a:t>fail to meet</a:t>
              </a:r>
              <a:endParaRPr lang="en-US" altLang="zh-CN" sz="10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526" y="4045"/>
              <a:ext cx="6840" cy="6340"/>
            </a:xfrm>
            <a:prstGeom prst="rect">
              <a:avLst/>
            </a:prstGeom>
            <a:noFill/>
            <a:ln w="19050">
              <a:solidFill>
                <a:srgbClr val="A498B9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en-US" altLang="zh-CN" sz="1600" dirty="0">
                <a:ln>
                  <a:solidFill>
                    <a:srgbClr val="E98D05"/>
                  </a:solidFill>
                </a:ln>
                <a:solidFill>
                  <a:srgbClr val="E98D0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571" y="156"/>
              <a:ext cx="3366" cy="3319"/>
            </a:xfrm>
            <a:prstGeom prst="rect">
              <a:avLst/>
            </a:prstGeom>
            <a:noFill/>
            <a:ln w="19050">
              <a:solidFill>
                <a:srgbClr val="B7DDE8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CN" sz="1600" dirty="0">
                <a:ln>
                  <a:solidFill>
                    <a:srgbClr val="E98D05"/>
                  </a:solidFill>
                </a:ln>
                <a:solidFill>
                  <a:srgbClr val="E98D0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4194" y="1185"/>
              <a:ext cx="3173" cy="2291"/>
            </a:xfrm>
            <a:prstGeom prst="rect">
              <a:avLst/>
            </a:prstGeom>
            <a:noFill/>
            <a:ln w="19050">
              <a:solidFill>
                <a:srgbClr val="E98D05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CN" sz="1600" dirty="0">
                <a:ln>
                  <a:solidFill>
                    <a:srgbClr val="E98D05"/>
                  </a:solidFill>
                </a:ln>
                <a:solidFill>
                  <a:srgbClr val="E98D0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678" y="0"/>
              <a:ext cx="1710" cy="462"/>
            </a:xfrm>
            <a:prstGeom prst="rect">
              <a:avLst/>
            </a:prstGeom>
            <a:solidFill>
              <a:srgbClr val="B7DDE8"/>
            </a:solidFill>
            <a:ln>
              <a:solidFill>
                <a:srgbClr val="B7DDE8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Training set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708" y="732"/>
              <a:ext cx="1310" cy="566"/>
            </a:xfrm>
            <a:prstGeom prst="rect">
              <a:avLst/>
            </a:prstGeom>
            <a:solidFill>
              <a:srgbClr val="DEE1CC"/>
            </a:solidFill>
            <a:ln>
              <a:solidFill>
                <a:srgbClr val="DEE1C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feature</a:t>
              </a:r>
              <a:endPara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678" y="2183"/>
              <a:ext cx="1310" cy="734"/>
            </a:xfrm>
            <a:prstGeom prst="rect">
              <a:avLst/>
            </a:prstGeom>
            <a:solidFill>
              <a:srgbClr val="DEE1CC"/>
            </a:solidFill>
            <a:ln>
              <a:solidFill>
                <a:srgbClr val="DEE1C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truth label</a:t>
              </a:r>
              <a:endPara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 rot="0">
              <a:off x="2466" y="797"/>
              <a:ext cx="1368" cy="2083"/>
              <a:chOff x="2406" y="1144"/>
              <a:chExt cx="1368" cy="2083"/>
            </a:xfrm>
          </p:grpSpPr>
          <p:sp>
            <p:nvSpPr>
              <p:cNvPr id="3" name="圆角矩形 2"/>
              <p:cNvSpPr/>
              <p:nvPr/>
            </p:nvSpPr>
            <p:spPr>
              <a:xfrm>
                <a:off x="2412" y="1144"/>
                <a:ext cx="1362" cy="697"/>
              </a:xfrm>
              <a:prstGeom prst="roundRect">
                <a:avLst/>
              </a:prstGeom>
              <a:solidFill>
                <a:srgbClr val="B7DDE8"/>
              </a:solidFill>
              <a:ln>
                <a:solidFill>
                  <a:srgbClr val="B7DDE8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BilLSTM</a:t>
                </a:r>
                <a:endParaRPr lang="en-US" altLang="zh-CN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" name="圆角矩形 18"/>
              <p:cNvSpPr/>
              <p:nvPr/>
            </p:nvSpPr>
            <p:spPr>
              <a:xfrm>
                <a:off x="2407" y="2530"/>
                <a:ext cx="1362" cy="697"/>
              </a:xfrm>
              <a:prstGeom prst="roundRect">
                <a:avLst/>
              </a:prstGeom>
              <a:solidFill>
                <a:srgbClr val="B7DDE8"/>
              </a:solidFill>
              <a:ln>
                <a:solidFill>
                  <a:srgbClr val="B7DDE8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RF</a:t>
                </a:r>
                <a:endParaRPr lang="en-US" altLang="zh-CN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cxnSp>
            <p:nvCxnSpPr>
              <p:cNvPr id="28" name="肘形连接符 27"/>
              <p:cNvCxnSpPr>
                <a:stCxn id="19" idx="1"/>
                <a:endCxn id="3" idx="1"/>
              </p:cNvCxnSpPr>
              <p:nvPr/>
            </p:nvCxnSpPr>
            <p:spPr>
              <a:xfrm rot="10800000" flipH="1">
                <a:off x="2406" y="1493"/>
                <a:ext cx="5" cy="1386"/>
              </a:xfrm>
              <a:prstGeom prst="bentConnector3">
                <a:avLst>
                  <a:gd name="adj1" fmla="val -446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45" name="矩形 44"/>
            <p:cNvSpPr/>
            <p:nvPr/>
          </p:nvSpPr>
          <p:spPr>
            <a:xfrm>
              <a:off x="4174" y="-246"/>
              <a:ext cx="1310" cy="566"/>
            </a:xfrm>
            <a:prstGeom prst="rect">
              <a:avLst/>
            </a:prstGeom>
            <a:solidFill>
              <a:srgbClr val="DEE1CC"/>
            </a:solidFill>
            <a:ln>
              <a:solidFill>
                <a:srgbClr val="DEE1C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feature</a:t>
              </a:r>
              <a:endPara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6276" y="-246"/>
              <a:ext cx="1309" cy="567"/>
            </a:xfrm>
            <a:prstGeom prst="rect">
              <a:avLst/>
            </a:prstGeom>
            <a:solidFill>
              <a:srgbClr val="DEE1CC"/>
            </a:solidFill>
            <a:ln>
              <a:solidFill>
                <a:srgbClr val="DEE1C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truth label</a:t>
              </a:r>
              <a:endPara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48" name="肘形连接符 47"/>
            <p:cNvCxnSpPr>
              <a:stCxn id="40" idx="0"/>
            </p:cNvCxnSpPr>
            <p:nvPr/>
          </p:nvCxnSpPr>
          <p:spPr>
            <a:xfrm rot="16200000" flipV="1">
              <a:off x="4702" y="549"/>
              <a:ext cx="386" cy="1900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1" name="文本框 50"/>
            <p:cNvSpPr txBox="1"/>
            <p:nvPr/>
          </p:nvSpPr>
          <p:spPr>
            <a:xfrm>
              <a:off x="4782" y="1184"/>
              <a:ext cx="72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no</a:t>
              </a:r>
              <a:endParaRPr lang="en-US" altLang="zh-CN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59" name="组合 58"/>
            <p:cNvGrpSpPr/>
            <p:nvPr/>
          </p:nvGrpSpPr>
          <p:grpSpPr>
            <a:xfrm rot="0">
              <a:off x="4462" y="1692"/>
              <a:ext cx="2905" cy="1393"/>
              <a:chOff x="4627" y="2115"/>
              <a:chExt cx="2905" cy="1393"/>
            </a:xfrm>
          </p:grpSpPr>
          <p:sp>
            <p:nvSpPr>
              <p:cNvPr id="40" name="流程图: 决策 39"/>
              <p:cNvSpPr/>
              <p:nvPr/>
            </p:nvSpPr>
            <p:spPr>
              <a:xfrm>
                <a:off x="5072" y="2115"/>
                <a:ext cx="1875" cy="1023"/>
              </a:xfrm>
              <a:prstGeom prst="flowChartDecision">
                <a:avLst/>
              </a:prstGeom>
              <a:solidFill>
                <a:srgbClr val="FCEADC"/>
              </a:solidFill>
              <a:ln>
                <a:solidFill>
                  <a:srgbClr val="FCEADC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7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4627" y="2324"/>
                <a:ext cx="2766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b="1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whether it is optimal</a:t>
                </a:r>
                <a:endParaRPr lang="en-US" altLang="zh-CN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ctr"/>
                <a:endParaRPr lang="en-US" altLang="zh-CN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6222" y="3025"/>
                <a:ext cx="1310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b="1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yes</a:t>
                </a:r>
                <a:endParaRPr lang="en-US" altLang="zh-CN" sz="1400" b="1"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  <p:cxnSp>
          <p:nvCxnSpPr>
            <p:cNvPr id="56" name="肘形连接符 55"/>
            <p:cNvCxnSpPr>
              <a:stCxn id="45" idx="2"/>
              <a:endCxn id="26" idx="0"/>
            </p:cNvCxnSpPr>
            <p:nvPr/>
          </p:nvCxnSpPr>
          <p:spPr>
            <a:xfrm rot="5400000" flipV="1">
              <a:off x="4873" y="277"/>
              <a:ext cx="865" cy="952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7" name="肘形连接符 56"/>
            <p:cNvCxnSpPr>
              <a:stCxn id="47" idx="2"/>
              <a:endCxn id="26" idx="0"/>
            </p:cNvCxnSpPr>
            <p:nvPr/>
          </p:nvCxnSpPr>
          <p:spPr>
            <a:xfrm rot="5400000">
              <a:off x="5924" y="178"/>
              <a:ext cx="864" cy="115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8" name="矩形 57"/>
            <p:cNvSpPr/>
            <p:nvPr/>
          </p:nvSpPr>
          <p:spPr>
            <a:xfrm>
              <a:off x="5976" y="1059"/>
              <a:ext cx="1535" cy="656"/>
            </a:xfrm>
            <a:prstGeom prst="rect">
              <a:avLst/>
            </a:prstGeom>
            <a:solidFill>
              <a:srgbClr val="F59D56"/>
            </a:solidFill>
            <a:ln>
              <a:solidFill>
                <a:srgbClr val="F79B5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Validation set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68" name="组合 67"/>
            <p:cNvGrpSpPr/>
            <p:nvPr/>
          </p:nvGrpSpPr>
          <p:grpSpPr>
            <a:xfrm rot="0">
              <a:off x="707" y="4196"/>
              <a:ext cx="3122" cy="1641"/>
              <a:chOff x="707" y="4196"/>
              <a:chExt cx="3122" cy="1641"/>
            </a:xfrm>
          </p:grpSpPr>
          <p:sp>
            <p:nvSpPr>
              <p:cNvPr id="63" name="矩形: 圆角 3"/>
              <p:cNvSpPr/>
              <p:nvPr/>
            </p:nvSpPr>
            <p:spPr>
              <a:xfrm>
                <a:off x="707" y="4645"/>
                <a:ext cx="3122" cy="1192"/>
              </a:xfrm>
              <a:prstGeom prst="roundRect">
                <a:avLst>
                  <a:gd name="adj" fmla="val 10201"/>
                </a:avLst>
              </a:prstGeom>
              <a:noFill/>
              <a:ln w="19050">
                <a:solidFill>
                  <a:srgbClr val="E6AB7D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圆角矩形 63"/>
              <p:cNvSpPr/>
              <p:nvPr/>
            </p:nvSpPr>
            <p:spPr>
              <a:xfrm>
                <a:off x="1128" y="4196"/>
                <a:ext cx="2270" cy="822"/>
              </a:xfrm>
              <a:prstGeom prst="roundRect">
                <a:avLst/>
              </a:prstGeom>
              <a:solidFill>
                <a:srgbClr val="F59D56"/>
              </a:solidFill>
              <a:ln>
                <a:solidFill>
                  <a:srgbClr val="F79B53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200" b="1">
                    <a:latin typeface="微软雅黑" panose="020B0503020204020204" charset="-122"/>
                    <a:ea typeface="微软雅黑" panose="020B0503020204020204" charset="-122"/>
                  </a:rPr>
                  <a:t>Model Validation Set Error</a:t>
                </a:r>
                <a:endParaRPr lang="en-US" altLang="zh-CN" sz="12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5" name="矩形 64"/>
                  <p:cNvSpPr/>
                  <p:nvPr/>
                </p:nvSpPr>
                <p:spPr>
                  <a:xfrm>
                    <a:off x="1128" y="5165"/>
                    <a:ext cx="1395" cy="520"/>
                  </a:xfrm>
                  <a:prstGeom prst="rect">
                    <a:avLst/>
                  </a:prstGeom>
                  <a:solidFill>
                    <a:srgbClr val="FBD8BC"/>
                  </a:solidFill>
                  <a:ln>
                    <a:solidFill>
                      <a:srgbClr val="FBD8BC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𝐵𝑖𝐿𝑆𝑇𝑀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65" name="矩形 6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8" y="5165"/>
                    <a:ext cx="1395" cy="520"/>
                  </a:xfrm>
                  <a:prstGeom prst="rect">
                    <a:avLst/>
                  </a:prstGeom>
                  <a:blipFill rotWithShape="1">
                    <a:blip r:embed="rId1"/>
                  </a:blipFill>
                  <a:ln>
                    <a:solidFill>
                      <a:srgbClr val="FBD8BC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6" name="矩形 65"/>
                  <p:cNvSpPr/>
                  <p:nvPr/>
                </p:nvSpPr>
                <p:spPr>
                  <a:xfrm>
                    <a:off x="2671" y="5166"/>
                    <a:ext cx="727" cy="519"/>
                  </a:xfrm>
                  <a:prstGeom prst="rect">
                    <a:avLst/>
                  </a:prstGeom>
                  <a:solidFill>
                    <a:srgbClr val="FBD8BC"/>
                  </a:solidFill>
                  <a:ln>
                    <a:solidFill>
                      <a:srgbClr val="FBD8BC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𝑅𝐹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66" name="矩形 6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71" y="5166"/>
                    <a:ext cx="727" cy="519"/>
                  </a:xfrm>
                  <a:prstGeom prst="rect">
                    <a:avLst/>
                  </a:prstGeom>
                  <a:blipFill rotWithShape="1">
                    <a:blip r:embed="rId2"/>
                  </a:blipFill>
                  <a:ln>
                    <a:solidFill>
                      <a:srgbClr val="FBD8BC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0" name="组合 69"/>
            <p:cNvGrpSpPr/>
            <p:nvPr/>
          </p:nvGrpSpPr>
          <p:grpSpPr>
            <a:xfrm rot="0">
              <a:off x="4263" y="4324"/>
              <a:ext cx="2861" cy="1501"/>
              <a:chOff x="802" y="4336"/>
              <a:chExt cx="2861" cy="1501"/>
            </a:xfrm>
          </p:grpSpPr>
          <p:sp>
            <p:nvSpPr>
              <p:cNvPr id="71" name="矩形: 圆角 3"/>
              <p:cNvSpPr/>
              <p:nvPr/>
            </p:nvSpPr>
            <p:spPr>
              <a:xfrm>
                <a:off x="802" y="4645"/>
                <a:ext cx="2861" cy="1192"/>
              </a:xfrm>
              <a:prstGeom prst="roundRect">
                <a:avLst>
                  <a:gd name="adj" fmla="val 10201"/>
                </a:avLst>
              </a:prstGeom>
              <a:noFill/>
              <a:ln w="19050">
                <a:solidFill>
                  <a:srgbClr val="E6AB7D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圆角矩形 71"/>
              <p:cNvSpPr/>
              <p:nvPr/>
            </p:nvSpPr>
            <p:spPr>
              <a:xfrm>
                <a:off x="1128" y="4336"/>
                <a:ext cx="2270" cy="602"/>
              </a:xfrm>
              <a:prstGeom prst="roundRect">
                <a:avLst/>
              </a:prstGeom>
              <a:solidFill>
                <a:srgbClr val="F59D56"/>
              </a:solidFill>
              <a:ln>
                <a:solidFill>
                  <a:srgbClr val="F79B53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200" b="1">
                    <a:latin typeface="微软雅黑" panose="020B0503020204020204" charset="-122"/>
                    <a:ea typeface="微软雅黑" panose="020B0503020204020204" charset="-122"/>
                  </a:rPr>
                  <a:t>optimal model</a:t>
                </a:r>
                <a:endParaRPr lang="en-US" altLang="zh-CN" sz="12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3" name="矩形 72"/>
                  <p:cNvSpPr/>
                  <p:nvPr/>
                </p:nvSpPr>
                <p:spPr>
                  <a:xfrm>
                    <a:off x="1023" y="5165"/>
                    <a:ext cx="1395" cy="520"/>
                  </a:xfrm>
                  <a:prstGeom prst="rect">
                    <a:avLst/>
                  </a:prstGeom>
                  <a:solidFill>
                    <a:srgbClr val="FBD8BC"/>
                  </a:solidFill>
                  <a:ln>
                    <a:solidFill>
                      <a:srgbClr val="FBD8BC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𝐵𝑖𝐿𝑆𝑇𝑀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73" name="矩形 7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3" y="5165"/>
                    <a:ext cx="1395" cy="520"/>
                  </a:xfrm>
                  <a:prstGeom prst="rect">
                    <a:avLst/>
                  </a:prstGeom>
                  <a:blipFill rotWithShape="1">
                    <a:blip r:embed="rId3"/>
                  </a:blipFill>
                  <a:ln>
                    <a:solidFill>
                      <a:srgbClr val="FBD8BC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4" name="矩形 73"/>
                  <p:cNvSpPr/>
                  <p:nvPr/>
                </p:nvSpPr>
                <p:spPr>
                  <a:xfrm>
                    <a:off x="2596" y="5166"/>
                    <a:ext cx="844" cy="519"/>
                  </a:xfrm>
                  <a:prstGeom prst="rect">
                    <a:avLst/>
                  </a:prstGeom>
                  <a:solidFill>
                    <a:srgbClr val="FBD8BC"/>
                  </a:solidFill>
                  <a:ln>
                    <a:solidFill>
                      <a:srgbClr val="FBD8BC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𝑅𝐹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74" name="矩形 7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96" y="5166"/>
                    <a:ext cx="844" cy="519"/>
                  </a:xfrm>
                  <a:prstGeom prst="rect">
                    <a:avLst/>
                  </a:prstGeom>
                  <a:blipFill rotWithShape="1">
                    <a:blip r:embed="rId4"/>
                  </a:blipFill>
                  <a:ln>
                    <a:solidFill>
                      <a:srgbClr val="FBD8BC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5" name="肘形连接符 74"/>
            <p:cNvCxnSpPr>
              <a:endCxn id="72" idx="0"/>
            </p:cNvCxnSpPr>
            <p:nvPr/>
          </p:nvCxnSpPr>
          <p:spPr>
            <a:xfrm rot="5400000">
              <a:off x="5001" y="3481"/>
              <a:ext cx="1566" cy="120"/>
            </a:xfrm>
            <a:prstGeom prst="bentConnector3">
              <a:avLst>
                <a:gd name="adj1" fmla="val 50064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6" name="矩形: 圆角 3"/>
            <p:cNvSpPr/>
            <p:nvPr/>
          </p:nvSpPr>
          <p:spPr>
            <a:xfrm>
              <a:off x="707" y="6159"/>
              <a:ext cx="6417" cy="3961"/>
            </a:xfrm>
            <a:prstGeom prst="roundRect">
              <a:avLst>
                <a:gd name="adj" fmla="val 10201"/>
              </a:avLst>
            </a:prstGeom>
            <a:noFill/>
            <a:ln w="19050">
              <a:solidFill>
                <a:srgbClr val="A5625B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矩形 76"/>
            <p:cNvSpPr/>
            <p:nvPr/>
          </p:nvSpPr>
          <p:spPr>
            <a:xfrm>
              <a:off x="5051" y="6017"/>
              <a:ext cx="1880" cy="574"/>
            </a:xfrm>
            <a:prstGeom prst="rect">
              <a:avLst/>
            </a:prstGeom>
            <a:solidFill>
              <a:srgbClr val="E77010"/>
            </a:solidFill>
            <a:ln>
              <a:solidFill>
                <a:srgbClr val="E7701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combination model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矩形 77"/>
                <p:cNvSpPr/>
                <p:nvPr/>
              </p:nvSpPr>
              <p:spPr>
                <a:xfrm>
                  <a:off x="1128" y="6289"/>
                  <a:ext cx="1887" cy="521"/>
                </a:xfrm>
                <a:prstGeom prst="rect">
                  <a:avLst/>
                </a:prstGeom>
                <a:solidFill>
                  <a:srgbClr val="FBD8BC"/>
                </a:solidFill>
                <a:ln>
                  <a:solidFill>
                    <a:srgbClr val="F8D8BD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200" b="1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set a threshold:</a:t>
                  </a:r>
                  <a14:m>
                    <m:oMath xmlns:m="http://schemas.openxmlformats.org/officeDocument/2006/math">
                      <m:r>
                        <a:rPr lang="en-US" altLang="zh-CN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𝜽</m:t>
                      </m:r>
                    </m:oMath>
                  </a14:m>
                  <a:endParaRPr lang="en-US" altLang="zh-CN" sz="1400" b="1" i="1">
                    <a:solidFill>
                      <a:schemeClr val="tx1"/>
                    </a:solidFill>
                    <a:latin typeface="Cambria Math" panose="02040503050406030204" pitchFamily="18" charset="0"/>
                    <a:ea typeface="MS Mincho" charset="0"/>
                    <a:cs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78" name="矩形 7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8" y="6289"/>
                  <a:ext cx="1887" cy="521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solidFill>
                    <a:srgbClr val="F8D8BD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流程图: 准备 79"/>
            <p:cNvSpPr/>
            <p:nvPr/>
          </p:nvSpPr>
          <p:spPr>
            <a:xfrm>
              <a:off x="803" y="7053"/>
              <a:ext cx="5117" cy="500"/>
            </a:xfrm>
            <a:prstGeom prst="flowChartPreparation">
              <a:avLst/>
            </a:prstGeom>
            <a:solidFill>
              <a:srgbClr val="B7DDE8"/>
            </a:solidFill>
            <a:ln>
              <a:solidFill>
                <a:srgbClr val="B7DDE8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2" name="流程图: 决策 81"/>
            <p:cNvSpPr/>
            <p:nvPr/>
          </p:nvSpPr>
          <p:spPr>
            <a:xfrm>
              <a:off x="5403" y="7968"/>
              <a:ext cx="1528" cy="818"/>
            </a:xfrm>
            <a:prstGeom prst="flowChartDecision">
              <a:avLst/>
            </a:prstGeom>
            <a:solidFill>
              <a:srgbClr val="F2DCDB"/>
            </a:solidFill>
            <a:ln>
              <a:solidFill>
                <a:srgbClr val="F1DCDB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文本框 82"/>
                <p:cNvSpPr txBox="1"/>
                <p:nvPr/>
              </p:nvSpPr>
              <p:spPr>
                <a:xfrm>
                  <a:off x="5385" y="8131"/>
                  <a:ext cx="2446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𝑩𝒊𝑳𝑺𝑻𝑴</m:t>
                          </m:r>
                        </m:sub>
                      </m:sSub>
                    </m:oMath>
                  </a14:m>
                  <a:r>
                    <a:rPr lang="en-US" altLang="zh-CN" sz="12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&gt;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𝑹𝑭</m:t>
                          </m:r>
                        </m:sub>
                      </m:sSub>
                    </m:oMath>
                  </a14:m>
                  <a:endParaRPr lang="en-US" altLang="zh-CN" sz="1200" b="1" i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mc:Choice>
          <mc:Fallback>
            <p:sp>
              <p:nvSpPr>
                <p:cNvPr id="83" name="文本框 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5" y="8131"/>
                  <a:ext cx="2446" cy="434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" name="肘形连接符 95"/>
            <p:cNvCxnSpPr/>
            <p:nvPr/>
          </p:nvCxnSpPr>
          <p:spPr>
            <a:xfrm>
              <a:off x="5845" y="7309"/>
              <a:ext cx="322" cy="698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16" name="组合 115"/>
            <p:cNvGrpSpPr/>
            <p:nvPr/>
          </p:nvGrpSpPr>
          <p:grpSpPr>
            <a:xfrm rot="0">
              <a:off x="1736" y="7586"/>
              <a:ext cx="1134" cy="781"/>
              <a:chOff x="1736" y="7963"/>
              <a:chExt cx="1134" cy="781"/>
            </a:xfrm>
          </p:grpSpPr>
          <p:sp>
            <p:nvSpPr>
              <p:cNvPr id="98" name="文本框 97"/>
              <p:cNvSpPr txBox="1"/>
              <p:nvPr/>
            </p:nvSpPr>
            <p:spPr>
              <a:xfrm>
                <a:off x="1736" y="7987"/>
                <a:ext cx="1134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 b="1">
                    <a:latin typeface="微软雅黑" panose="020B0503020204020204" charset="-122"/>
                    <a:ea typeface="微软雅黑" panose="020B0503020204020204" charset="-122"/>
                  </a:rPr>
                  <a:t>meet</a:t>
                </a:r>
                <a:endParaRPr lang="en-US" altLang="zh-CN" sz="12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cxnSp>
            <p:nvCxnSpPr>
              <p:cNvPr id="99" name="直接箭头连接符 98"/>
              <p:cNvCxnSpPr/>
              <p:nvPr/>
            </p:nvCxnSpPr>
            <p:spPr>
              <a:xfrm flipH="1">
                <a:off x="1786" y="7963"/>
                <a:ext cx="7" cy="78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15" name="组合 114"/>
            <p:cNvGrpSpPr/>
            <p:nvPr/>
          </p:nvGrpSpPr>
          <p:grpSpPr>
            <a:xfrm rot="0">
              <a:off x="678" y="8424"/>
              <a:ext cx="4178" cy="620"/>
              <a:chOff x="678" y="8502"/>
              <a:chExt cx="4178" cy="620"/>
            </a:xfrm>
          </p:grpSpPr>
          <p:sp>
            <p:nvSpPr>
              <p:cNvPr id="100" name="矩形 99"/>
              <p:cNvSpPr/>
              <p:nvPr/>
            </p:nvSpPr>
            <p:spPr>
              <a:xfrm>
                <a:off x="782" y="8502"/>
                <a:ext cx="4014" cy="621"/>
              </a:xfrm>
              <a:prstGeom prst="rect">
                <a:avLst/>
              </a:prstGeom>
              <a:solidFill>
                <a:srgbClr val="FBD8BC"/>
              </a:solidFill>
              <a:ln>
                <a:solidFill>
                  <a:srgbClr val="FBD8BC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1" name="文本框 100"/>
                  <p:cNvSpPr txBox="1"/>
                  <p:nvPr/>
                </p:nvSpPr>
                <p:spPr>
                  <a:xfrm>
                    <a:off x="678" y="8520"/>
                    <a:ext cx="4178" cy="5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9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9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altLang="zh-CN" sz="9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𝑩𝒊𝑳𝑺𝑻𝑴</m:t>
                              </m:r>
                            </m:sub>
                          </m:sSub>
                          <m:r>
                            <a:rPr lang="en-US" altLang="zh-CN" sz="9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9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𝑹𝑭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𝑹𝑭</m:t>
                                  </m:r>
                                </m:sub>
                              </m:sSub>
                              <m:r>
                                <a:rPr lang="en-US" altLang="zh-CN" sz="9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𝑩𝒊𝑳𝑺𝑻𝑴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9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9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9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altLang="zh-CN" sz="9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𝑹𝑭</m:t>
                              </m:r>
                            </m:sub>
                          </m:sSub>
                          <m:r>
                            <a:rPr lang="en-US" altLang="zh-CN" sz="9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9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𝑩𝒊𝑳𝑺𝑻𝑴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𝑹𝑭</m:t>
                                  </m:r>
                                </m:sub>
                              </m:sSub>
                              <m:r>
                                <a:rPr lang="en-US" altLang="zh-CN" sz="9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𝑩𝒊𝑳𝑺𝑻𝑴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n-US" altLang="zh-CN" sz="900" b="1" i="1">
                      <a:latin typeface="Cambria Math" panose="02040503050406030204" pitchFamily="18" charset="0"/>
                      <a:cs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101" name="文本框 10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8" y="8520"/>
                    <a:ext cx="4178" cy="583"/>
                  </a:xfrm>
                  <a:prstGeom prst="rect">
                    <a:avLst/>
                  </a:prstGeom>
                  <a:blipFill rotWithShape="1">
                    <a:blip r:embed="rId7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4" name="文本框 103"/>
            <p:cNvSpPr txBox="1"/>
            <p:nvPr/>
          </p:nvSpPr>
          <p:spPr>
            <a:xfrm>
              <a:off x="4807" y="8698"/>
              <a:ext cx="677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no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6126" y="8688"/>
              <a:ext cx="84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yes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" name="文本框 106"/>
                <p:cNvSpPr txBox="1"/>
                <p:nvPr/>
              </p:nvSpPr>
              <p:spPr>
                <a:xfrm>
                  <a:off x="1778" y="9483"/>
                  <a:ext cx="2416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𝑹𝑭</m:t>
                          </m:r>
                        </m:sub>
                      </m:sSub>
                    </m:oMath>
                  </a14:m>
                  <a:r>
                    <a:rPr lang="en-US" altLang="zh-CN" sz="12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=0,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𝑩𝒊𝑳𝑺𝑻𝑴</m:t>
                          </m:r>
                        </m:sub>
                      </m:sSub>
                    </m:oMath>
                  </a14:m>
                  <a:r>
                    <a:rPr lang="en-US" altLang="zh-CN" sz="12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=1</a:t>
                  </a:r>
                  <a:endParaRPr lang="en-US" altLang="zh-CN" sz="12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mc:Choice>
          <mc:Fallback>
            <p:sp>
              <p:nvSpPr>
                <p:cNvPr id="107" name="文本框 10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8" y="9483"/>
                  <a:ext cx="2416" cy="434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8" name="文本框 107"/>
                <p:cNvSpPr txBox="1"/>
                <p:nvPr/>
              </p:nvSpPr>
              <p:spPr>
                <a:xfrm>
                  <a:off x="4589" y="9483"/>
                  <a:ext cx="2528" cy="5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𝑹𝑭</m:t>
                          </m:r>
                        </m:sub>
                      </m:sSub>
                    </m:oMath>
                  </a14:m>
                  <a:r>
                    <a:rPr lang="en-US" altLang="zh-CN" sz="12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=1,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𝑩𝒊𝑳𝑺𝑻𝑴</m:t>
                          </m:r>
                        </m:sub>
                      </m:sSub>
                    </m:oMath>
                  </a14:m>
                  <a:r>
                    <a:rPr lang="en-US" altLang="zh-CN" sz="12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=0</a:t>
                  </a:r>
                  <a:endParaRPr lang="en-US" altLang="zh-CN"/>
                </a:p>
                <a:p>
                  <a:endParaRPr lang="zh-CN" altLang="en-US"/>
                </a:p>
              </p:txBody>
            </p:sp>
          </mc:Choice>
          <mc:Fallback>
            <p:sp>
              <p:nvSpPr>
                <p:cNvPr id="108" name="文本框 10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9" y="9483"/>
                  <a:ext cx="2528" cy="523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9" name="肘形连接符 108"/>
            <p:cNvCxnSpPr>
              <a:stCxn id="82" idx="1"/>
              <a:endCxn id="107" idx="3"/>
            </p:cNvCxnSpPr>
            <p:nvPr/>
          </p:nvCxnSpPr>
          <p:spPr>
            <a:xfrm rot="10800000" flipV="1">
              <a:off x="4193" y="8376"/>
              <a:ext cx="1209" cy="1323"/>
            </a:xfrm>
            <a:prstGeom prst="bentConnector3">
              <a:avLst>
                <a:gd name="adj1" fmla="val 45574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0" name="直接箭头连接符 109"/>
            <p:cNvCxnSpPr>
              <a:stCxn id="82" idx="2"/>
            </p:cNvCxnSpPr>
            <p:nvPr/>
          </p:nvCxnSpPr>
          <p:spPr>
            <a:xfrm flipH="1">
              <a:off x="6160" y="8786"/>
              <a:ext cx="7" cy="62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1" name="矩形 110"/>
            <p:cNvSpPr/>
            <p:nvPr/>
          </p:nvSpPr>
          <p:spPr>
            <a:xfrm>
              <a:off x="570" y="9699"/>
              <a:ext cx="1307" cy="575"/>
            </a:xfrm>
            <a:prstGeom prst="rect">
              <a:avLst/>
            </a:prstGeom>
            <a:solidFill>
              <a:srgbClr val="AA9ABF"/>
            </a:solidFill>
            <a:ln>
              <a:solidFill>
                <a:srgbClr val="AA9ABF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Test set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" name="文本框 80"/>
                <p:cNvSpPr txBox="1"/>
                <p:nvPr/>
              </p:nvSpPr>
              <p:spPr>
                <a:xfrm>
                  <a:off x="930" y="7053"/>
                  <a:ext cx="4915" cy="434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altLang="zh-CN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𝑬</m:t>
                                </m:r>
                              </m:e>
                              <m:sub>
                                <m:r>
                                  <a:rPr lang="en-US" altLang="zh-CN" sz="1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𝑩𝒊𝑳𝑺𝑻𝑴</m:t>
                                </m:r>
                              </m:sub>
                            </m:sSub>
                            <m:r>
                              <a:rPr lang="en-US" altLang="zh-CN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𝑬</m:t>
                                </m:r>
                              </m:e>
                              <m:sub>
                                <m:r>
                                  <a:rPr lang="en-US" altLang="zh-CN" sz="1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𝑹𝑭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𝒎𝒂𝒙</m:t>
                        </m:r>
                        <m:r>
                          <a:rPr lang="en-US" altLang="zh-CN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𝑩𝒊𝑳𝑺𝑻𝑴</m:t>
                            </m:r>
                          </m:sub>
                        </m:sSub>
                        <m:r>
                          <a:rPr lang="en-US" altLang="zh-CN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𝑹𝑭</m:t>
                            </m:r>
                          </m:sub>
                        </m:sSub>
                        <m:r>
                          <a:rPr lang="en-US" altLang="zh-CN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)&lt;</m:t>
                        </m:r>
                        <m:r>
                          <a:rPr lang="en-US" altLang="zh-CN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𝜽</m:t>
                        </m:r>
                      </m:oMath>
                    </m:oMathPara>
                  </a14:m>
                  <a:endParaRPr lang="en-US" altLang="zh-CN" sz="1200" b="1" i="1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81" name="文本框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" y="7053"/>
                  <a:ext cx="4915" cy="434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5" name="肘形连接符 124"/>
            <p:cNvCxnSpPr>
              <a:stCxn id="24" idx="3"/>
            </p:cNvCxnSpPr>
            <p:nvPr/>
          </p:nvCxnSpPr>
          <p:spPr>
            <a:xfrm>
              <a:off x="2018" y="1015"/>
              <a:ext cx="217" cy="827"/>
            </a:xfrm>
            <a:prstGeom prst="bentConnector2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6" name="肘形连接符 125"/>
            <p:cNvCxnSpPr>
              <a:stCxn id="25" idx="3"/>
            </p:cNvCxnSpPr>
            <p:nvPr/>
          </p:nvCxnSpPr>
          <p:spPr>
            <a:xfrm flipV="1">
              <a:off x="1988" y="1661"/>
              <a:ext cx="247" cy="889"/>
            </a:xfrm>
            <a:prstGeom prst="bentConnector2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肘形连接符 49"/>
            <p:cNvCxnSpPr>
              <a:stCxn id="2" idx="3"/>
            </p:cNvCxnSpPr>
            <p:nvPr/>
          </p:nvCxnSpPr>
          <p:spPr>
            <a:xfrm>
              <a:off x="3937" y="1816"/>
              <a:ext cx="1114" cy="36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130" name="图片 1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0950" y="0"/>
            <a:ext cx="46482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/>
          <p:cNvGrpSpPr/>
          <p:nvPr/>
        </p:nvGrpSpPr>
        <p:grpSpPr>
          <a:xfrm>
            <a:off x="334010" y="-156210"/>
            <a:ext cx="4638675" cy="6750685"/>
            <a:chOff x="526" y="-246"/>
            <a:chExt cx="7305" cy="10631"/>
          </a:xfrm>
        </p:grpSpPr>
        <p:sp>
          <p:nvSpPr>
            <p:cNvPr id="97" name="文本框 96"/>
            <p:cNvSpPr txBox="1"/>
            <p:nvPr/>
          </p:nvSpPr>
          <p:spPr>
            <a:xfrm>
              <a:off x="5735" y="6920"/>
              <a:ext cx="1782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>
                  <a:latin typeface="微软雅黑" panose="020B0503020204020204" charset="-122"/>
                  <a:ea typeface="微软雅黑" panose="020B0503020204020204" charset="-122"/>
                </a:rPr>
                <a:t>不满足</a:t>
              </a:r>
              <a:endParaRPr lang="zh-CN" altLang="en-US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526" y="4045"/>
              <a:ext cx="6840" cy="6340"/>
            </a:xfrm>
            <a:prstGeom prst="rect">
              <a:avLst/>
            </a:prstGeom>
            <a:noFill/>
            <a:ln w="19050">
              <a:solidFill>
                <a:srgbClr val="A498B9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en-US" altLang="zh-CN" sz="1600" dirty="0">
                <a:ln>
                  <a:solidFill>
                    <a:srgbClr val="E98D05"/>
                  </a:solidFill>
                </a:ln>
                <a:solidFill>
                  <a:srgbClr val="E98D0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571" y="156"/>
              <a:ext cx="3366" cy="3319"/>
            </a:xfrm>
            <a:prstGeom prst="rect">
              <a:avLst/>
            </a:prstGeom>
            <a:noFill/>
            <a:ln w="19050">
              <a:solidFill>
                <a:srgbClr val="B7DDE8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CN" sz="1600" dirty="0">
                <a:ln>
                  <a:solidFill>
                    <a:srgbClr val="E98D05"/>
                  </a:solidFill>
                </a:ln>
                <a:solidFill>
                  <a:srgbClr val="E98D0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4194" y="1185"/>
              <a:ext cx="3173" cy="2291"/>
            </a:xfrm>
            <a:prstGeom prst="rect">
              <a:avLst/>
            </a:prstGeom>
            <a:noFill/>
            <a:ln w="19050">
              <a:solidFill>
                <a:srgbClr val="E98D05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CN" sz="1600" dirty="0">
                <a:ln>
                  <a:solidFill>
                    <a:srgbClr val="E98D05"/>
                  </a:solidFill>
                </a:ln>
                <a:solidFill>
                  <a:srgbClr val="E98D0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678" y="0"/>
              <a:ext cx="1710" cy="462"/>
            </a:xfrm>
            <a:prstGeom prst="rect">
              <a:avLst/>
            </a:prstGeom>
            <a:solidFill>
              <a:srgbClr val="B7DDE8"/>
            </a:solidFill>
            <a:ln>
              <a:solidFill>
                <a:srgbClr val="B7DDE8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 b="1">
                  <a:latin typeface="微软雅黑" panose="020B0503020204020204" charset="-122"/>
                  <a:ea typeface="微软雅黑" panose="020B0503020204020204" charset="-122"/>
                </a:rPr>
                <a:t>训练</a:t>
              </a:r>
              <a:r>
                <a:rPr lang="zh-CN" altLang="en-US" sz="1200" b="1">
                  <a:latin typeface="微软雅黑" panose="020B0503020204020204" charset="-122"/>
                  <a:ea typeface="微软雅黑" panose="020B0503020204020204" charset="-122"/>
                </a:rPr>
                <a:t>集</a:t>
              </a:r>
              <a:endParaRPr lang="zh-CN" altLang="en-US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708" y="732"/>
              <a:ext cx="1310" cy="566"/>
            </a:xfrm>
            <a:prstGeom prst="rect">
              <a:avLst/>
            </a:prstGeom>
            <a:solidFill>
              <a:srgbClr val="DEE1CC"/>
            </a:solidFill>
            <a:ln>
              <a:solidFill>
                <a:srgbClr val="DEE1C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特征</a:t>
              </a:r>
              <a:endPara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678" y="2183"/>
              <a:ext cx="1310" cy="734"/>
            </a:xfrm>
            <a:prstGeom prst="rect">
              <a:avLst/>
            </a:prstGeom>
            <a:solidFill>
              <a:srgbClr val="DEE1CC"/>
            </a:solidFill>
            <a:ln>
              <a:solidFill>
                <a:srgbClr val="DEE1C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真实</a:t>
              </a:r>
              <a:r>
                <a:rPr lang="zh-CN" altLang="en-US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标签</a:t>
              </a:r>
              <a:endPara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 rot="0">
              <a:off x="2466" y="797"/>
              <a:ext cx="1368" cy="2083"/>
              <a:chOff x="2406" y="1144"/>
              <a:chExt cx="1368" cy="2083"/>
            </a:xfrm>
          </p:grpSpPr>
          <p:sp>
            <p:nvSpPr>
              <p:cNvPr id="3" name="圆角矩形 2"/>
              <p:cNvSpPr/>
              <p:nvPr/>
            </p:nvSpPr>
            <p:spPr>
              <a:xfrm>
                <a:off x="2412" y="1144"/>
                <a:ext cx="1362" cy="697"/>
              </a:xfrm>
              <a:prstGeom prst="roundRect">
                <a:avLst/>
              </a:prstGeom>
              <a:solidFill>
                <a:srgbClr val="B7DDE8"/>
              </a:solidFill>
              <a:ln>
                <a:solidFill>
                  <a:srgbClr val="B7DDE8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BilLSTM</a:t>
                </a:r>
                <a:endParaRPr lang="en-US" altLang="zh-CN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" name="圆角矩形 18"/>
              <p:cNvSpPr/>
              <p:nvPr/>
            </p:nvSpPr>
            <p:spPr>
              <a:xfrm>
                <a:off x="2407" y="2530"/>
                <a:ext cx="1362" cy="697"/>
              </a:xfrm>
              <a:prstGeom prst="roundRect">
                <a:avLst/>
              </a:prstGeom>
              <a:solidFill>
                <a:srgbClr val="B7DDE8"/>
              </a:solidFill>
              <a:ln>
                <a:solidFill>
                  <a:srgbClr val="B7DDE8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RF</a:t>
                </a:r>
                <a:endParaRPr lang="en-US" altLang="zh-CN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cxnSp>
            <p:nvCxnSpPr>
              <p:cNvPr id="28" name="肘形连接符 27"/>
              <p:cNvCxnSpPr>
                <a:stCxn id="19" idx="1"/>
                <a:endCxn id="3" idx="1"/>
              </p:cNvCxnSpPr>
              <p:nvPr/>
            </p:nvCxnSpPr>
            <p:spPr>
              <a:xfrm rot="10800000" flipH="1">
                <a:off x="2406" y="1493"/>
                <a:ext cx="5" cy="1386"/>
              </a:xfrm>
              <a:prstGeom prst="bentConnector3">
                <a:avLst>
                  <a:gd name="adj1" fmla="val -446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45" name="矩形 44"/>
            <p:cNvSpPr/>
            <p:nvPr/>
          </p:nvSpPr>
          <p:spPr>
            <a:xfrm>
              <a:off x="4174" y="-246"/>
              <a:ext cx="1310" cy="566"/>
            </a:xfrm>
            <a:prstGeom prst="rect">
              <a:avLst/>
            </a:prstGeom>
            <a:solidFill>
              <a:srgbClr val="DEE1CC"/>
            </a:solidFill>
            <a:ln>
              <a:solidFill>
                <a:srgbClr val="DEE1C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特征</a:t>
              </a:r>
              <a:endPara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6276" y="-246"/>
              <a:ext cx="1309" cy="567"/>
            </a:xfrm>
            <a:prstGeom prst="rect">
              <a:avLst/>
            </a:prstGeom>
            <a:solidFill>
              <a:srgbClr val="DEE1CC"/>
            </a:solidFill>
            <a:ln>
              <a:solidFill>
                <a:srgbClr val="DEE1C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真实</a:t>
              </a:r>
              <a:r>
                <a:rPr lang="zh-CN" altLang="en-US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标签</a:t>
              </a:r>
              <a:endPara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48" name="肘形连接符 47"/>
            <p:cNvCxnSpPr>
              <a:stCxn id="40" idx="0"/>
            </p:cNvCxnSpPr>
            <p:nvPr/>
          </p:nvCxnSpPr>
          <p:spPr>
            <a:xfrm rot="16200000" flipV="1">
              <a:off x="4702" y="549"/>
              <a:ext cx="386" cy="1900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1" name="文本框 50"/>
            <p:cNvSpPr txBox="1"/>
            <p:nvPr/>
          </p:nvSpPr>
          <p:spPr>
            <a:xfrm>
              <a:off x="4782" y="1184"/>
              <a:ext cx="72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no</a:t>
              </a:r>
              <a:endParaRPr lang="en-US" altLang="zh-CN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59" name="组合 58"/>
            <p:cNvGrpSpPr/>
            <p:nvPr/>
          </p:nvGrpSpPr>
          <p:grpSpPr>
            <a:xfrm rot="0">
              <a:off x="4501" y="1692"/>
              <a:ext cx="2866" cy="1393"/>
              <a:chOff x="4666" y="2115"/>
              <a:chExt cx="2866" cy="1393"/>
            </a:xfrm>
          </p:grpSpPr>
          <p:sp>
            <p:nvSpPr>
              <p:cNvPr id="40" name="流程图: 决策 39"/>
              <p:cNvSpPr/>
              <p:nvPr/>
            </p:nvSpPr>
            <p:spPr>
              <a:xfrm>
                <a:off x="5072" y="2115"/>
                <a:ext cx="1875" cy="1023"/>
              </a:xfrm>
              <a:prstGeom prst="flowChartDecision">
                <a:avLst/>
              </a:prstGeom>
              <a:solidFill>
                <a:srgbClr val="FCEADC"/>
              </a:solidFill>
              <a:ln>
                <a:solidFill>
                  <a:srgbClr val="FCEADC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7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4666" y="2415"/>
                <a:ext cx="2766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是否</a:t>
                </a:r>
                <a:r>
                  <a:rPr lang="zh-CN" altLang="en-US" sz="1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最优</a:t>
                </a:r>
                <a:endParaRPr lang="zh-CN" altLang="en-US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6222" y="3025"/>
                <a:ext cx="1310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b="1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yes</a:t>
                </a:r>
                <a:endParaRPr lang="en-US" altLang="zh-CN" sz="1400" b="1"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  <p:cxnSp>
          <p:nvCxnSpPr>
            <p:cNvPr id="56" name="肘形连接符 55"/>
            <p:cNvCxnSpPr>
              <a:stCxn id="45" idx="2"/>
              <a:endCxn id="26" idx="0"/>
            </p:cNvCxnSpPr>
            <p:nvPr/>
          </p:nvCxnSpPr>
          <p:spPr>
            <a:xfrm rot="5400000" flipV="1">
              <a:off x="4873" y="277"/>
              <a:ext cx="865" cy="952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7" name="肘形连接符 56"/>
            <p:cNvCxnSpPr>
              <a:stCxn id="47" idx="2"/>
              <a:endCxn id="26" idx="0"/>
            </p:cNvCxnSpPr>
            <p:nvPr/>
          </p:nvCxnSpPr>
          <p:spPr>
            <a:xfrm rot="5400000">
              <a:off x="5924" y="178"/>
              <a:ext cx="864" cy="115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8" name="矩形 57"/>
            <p:cNvSpPr/>
            <p:nvPr/>
          </p:nvSpPr>
          <p:spPr>
            <a:xfrm>
              <a:off x="5976" y="1059"/>
              <a:ext cx="1535" cy="656"/>
            </a:xfrm>
            <a:prstGeom prst="rect">
              <a:avLst/>
            </a:prstGeom>
            <a:solidFill>
              <a:srgbClr val="F59D56"/>
            </a:solidFill>
            <a:ln>
              <a:solidFill>
                <a:srgbClr val="F79B5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 b="1">
                  <a:latin typeface="微软雅黑" panose="020B0503020204020204" charset="-122"/>
                  <a:ea typeface="微软雅黑" panose="020B0503020204020204" charset="-122"/>
                </a:rPr>
                <a:t>验证</a:t>
              </a:r>
              <a:r>
                <a:rPr lang="zh-CN" altLang="en-US" sz="1200" b="1">
                  <a:latin typeface="微软雅黑" panose="020B0503020204020204" charset="-122"/>
                  <a:ea typeface="微软雅黑" panose="020B0503020204020204" charset="-122"/>
                </a:rPr>
                <a:t>集</a:t>
              </a:r>
              <a:endParaRPr lang="zh-CN" altLang="en-US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68" name="组合 67"/>
            <p:cNvGrpSpPr/>
            <p:nvPr/>
          </p:nvGrpSpPr>
          <p:grpSpPr>
            <a:xfrm rot="0">
              <a:off x="707" y="4196"/>
              <a:ext cx="3122" cy="1641"/>
              <a:chOff x="707" y="4196"/>
              <a:chExt cx="3122" cy="1641"/>
            </a:xfrm>
          </p:grpSpPr>
          <p:sp>
            <p:nvSpPr>
              <p:cNvPr id="63" name="矩形: 圆角 3"/>
              <p:cNvSpPr/>
              <p:nvPr/>
            </p:nvSpPr>
            <p:spPr>
              <a:xfrm>
                <a:off x="707" y="4645"/>
                <a:ext cx="3122" cy="1192"/>
              </a:xfrm>
              <a:prstGeom prst="roundRect">
                <a:avLst>
                  <a:gd name="adj" fmla="val 10201"/>
                </a:avLst>
              </a:prstGeom>
              <a:noFill/>
              <a:ln w="19050">
                <a:solidFill>
                  <a:srgbClr val="E6AB7D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圆角矩形 63"/>
              <p:cNvSpPr/>
              <p:nvPr/>
            </p:nvSpPr>
            <p:spPr>
              <a:xfrm>
                <a:off x="1128" y="4196"/>
                <a:ext cx="2270" cy="822"/>
              </a:xfrm>
              <a:prstGeom prst="roundRect">
                <a:avLst/>
              </a:prstGeom>
              <a:solidFill>
                <a:srgbClr val="F59D56"/>
              </a:solidFill>
              <a:ln>
                <a:solidFill>
                  <a:srgbClr val="F79B53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200" b="1">
                    <a:latin typeface="微软雅黑" panose="020B0503020204020204" charset="-122"/>
                    <a:ea typeface="微软雅黑" panose="020B0503020204020204" charset="-122"/>
                  </a:rPr>
                  <a:t>模型验证集误差</a:t>
                </a:r>
                <a:endParaRPr lang="zh-CN" altLang="en-US" sz="12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5" name="矩形 64"/>
                  <p:cNvSpPr/>
                  <p:nvPr/>
                </p:nvSpPr>
                <p:spPr>
                  <a:xfrm>
                    <a:off x="1128" y="5165"/>
                    <a:ext cx="1395" cy="520"/>
                  </a:xfrm>
                  <a:prstGeom prst="rect">
                    <a:avLst/>
                  </a:prstGeom>
                  <a:solidFill>
                    <a:srgbClr val="FBD8BC"/>
                  </a:solidFill>
                  <a:ln>
                    <a:solidFill>
                      <a:srgbClr val="FBD8BC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𝐵𝑖𝐿𝑆𝑇𝑀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65" name="矩形 6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8" y="5165"/>
                    <a:ext cx="1395" cy="520"/>
                  </a:xfrm>
                  <a:prstGeom prst="rect">
                    <a:avLst/>
                  </a:prstGeom>
                  <a:blipFill rotWithShape="1">
                    <a:blip r:embed="rId1"/>
                  </a:blipFill>
                  <a:ln>
                    <a:solidFill>
                      <a:srgbClr val="FBD8BC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6" name="矩形 65"/>
                  <p:cNvSpPr/>
                  <p:nvPr/>
                </p:nvSpPr>
                <p:spPr>
                  <a:xfrm>
                    <a:off x="2671" y="5166"/>
                    <a:ext cx="727" cy="519"/>
                  </a:xfrm>
                  <a:prstGeom prst="rect">
                    <a:avLst/>
                  </a:prstGeom>
                  <a:solidFill>
                    <a:srgbClr val="FBD8BC"/>
                  </a:solidFill>
                  <a:ln>
                    <a:solidFill>
                      <a:srgbClr val="FBD8BC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𝑅𝐹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66" name="矩形 6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71" y="5166"/>
                    <a:ext cx="727" cy="519"/>
                  </a:xfrm>
                  <a:prstGeom prst="rect">
                    <a:avLst/>
                  </a:prstGeom>
                  <a:blipFill rotWithShape="1">
                    <a:blip r:embed="rId2"/>
                  </a:blipFill>
                  <a:ln>
                    <a:solidFill>
                      <a:srgbClr val="FBD8BC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0" name="组合 69"/>
            <p:cNvGrpSpPr/>
            <p:nvPr/>
          </p:nvGrpSpPr>
          <p:grpSpPr>
            <a:xfrm rot="0">
              <a:off x="4263" y="4324"/>
              <a:ext cx="2861" cy="1501"/>
              <a:chOff x="802" y="4336"/>
              <a:chExt cx="2861" cy="1501"/>
            </a:xfrm>
          </p:grpSpPr>
          <p:sp>
            <p:nvSpPr>
              <p:cNvPr id="71" name="矩形: 圆角 3"/>
              <p:cNvSpPr/>
              <p:nvPr/>
            </p:nvSpPr>
            <p:spPr>
              <a:xfrm>
                <a:off x="802" y="4645"/>
                <a:ext cx="2861" cy="1192"/>
              </a:xfrm>
              <a:prstGeom prst="roundRect">
                <a:avLst>
                  <a:gd name="adj" fmla="val 10201"/>
                </a:avLst>
              </a:prstGeom>
              <a:noFill/>
              <a:ln w="19050">
                <a:solidFill>
                  <a:srgbClr val="E6AB7D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圆角矩形 71"/>
              <p:cNvSpPr/>
              <p:nvPr/>
            </p:nvSpPr>
            <p:spPr>
              <a:xfrm>
                <a:off x="1128" y="4336"/>
                <a:ext cx="2270" cy="602"/>
              </a:xfrm>
              <a:prstGeom prst="roundRect">
                <a:avLst/>
              </a:prstGeom>
              <a:solidFill>
                <a:srgbClr val="F59D56"/>
              </a:solidFill>
              <a:ln>
                <a:solidFill>
                  <a:srgbClr val="F79B53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200" b="1">
                    <a:latin typeface="微软雅黑" panose="020B0503020204020204" charset="-122"/>
                    <a:ea typeface="微软雅黑" panose="020B0503020204020204" charset="-122"/>
                  </a:rPr>
                  <a:t>最优模型</a:t>
                </a:r>
                <a:endParaRPr lang="zh-CN" altLang="en-US" sz="12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3" name="矩形 72"/>
                  <p:cNvSpPr/>
                  <p:nvPr/>
                </p:nvSpPr>
                <p:spPr>
                  <a:xfrm>
                    <a:off x="1023" y="5165"/>
                    <a:ext cx="1395" cy="520"/>
                  </a:xfrm>
                  <a:prstGeom prst="rect">
                    <a:avLst/>
                  </a:prstGeom>
                  <a:solidFill>
                    <a:srgbClr val="FBD8BC"/>
                  </a:solidFill>
                  <a:ln>
                    <a:solidFill>
                      <a:srgbClr val="FBD8BC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𝐵𝑖𝐿𝑆𝑇𝑀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73" name="矩形 7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3" y="5165"/>
                    <a:ext cx="1395" cy="520"/>
                  </a:xfrm>
                  <a:prstGeom prst="rect">
                    <a:avLst/>
                  </a:prstGeom>
                  <a:blipFill rotWithShape="1">
                    <a:blip r:embed="rId3"/>
                  </a:blipFill>
                  <a:ln>
                    <a:solidFill>
                      <a:srgbClr val="FBD8BC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4" name="矩形 73"/>
                  <p:cNvSpPr/>
                  <p:nvPr/>
                </p:nvSpPr>
                <p:spPr>
                  <a:xfrm>
                    <a:off x="2596" y="5166"/>
                    <a:ext cx="844" cy="519"/>
                  </a:xfrm>
                  <a:prstGeom prst="rect">
                    <a:avLst/>
                  </a:prstGeom>
                  <a:solidFill>
                    <a:srgbClr val="FBD8BC"/>
                  </a:solidFill>
                  <a:ln>
                    <a:solidFill>
                      <a:srgbClr val="FBD8BC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𝑅𝐹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74" name="矩形 7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96" y="5166"/>
                    <a:ext cx="844" cy="519"/>
                  </a:xfrm>
                  <a:prstGeom prst="rect">
                    <a:avLst/>
                  </a:prstGeom>
                  <a:blipFill rotWithShape="1">
                    <a:blip r:embed="rId4"/>
                  </a:blipFill>
                  <a:ln>
                    <a:solidFill>
                      <a:srgbClr val="FBD8BC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5" name="肘形连接符 74"/>
            <p:cNvCxnSpPr>
              <a:endCxn id="72" idx="0"/>
            </p:cNvCxnSpPr>
            <p:nvPr/>
          </p:nvCxnSpPr>
          <p:spPr>
            <a:xfrm rot="5400000">
              <a:off x="5001" y="3481"/>
              <a:ext cx="1566" cy="120"/>
            </a:xfrm>
            <a:prstGeom prst="bentConnector3">
              <a:avLst>
                <a:gd name="adj1" fmla="val 50064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6" name="矩形: 圆角 3"/>
            <p:cNvSpPr/>
            <p:nvPr/>
          </p:nvSpPr>
          <p:spPr>
            <a:xfrm>
              <a:off x="707" y="6159"/>
              <a:ext cx="6417" cy="3961"/>
            </a:xfrm>
            <a:prstGeom prst="roundRect">
              <a:avLst>
                <a:gd name="adj" fmla="val 10201"/>
              </a:avLst>
            </a:prstGeom>
            <a:noFill/>
            <a:ln w="19050">
              <a:solidFill>
                <a:srgbClr val="A5625B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矩形 76"/>
            <p:cNvSpPr/>
            <p:nvPr/>
          </p:nvSpPr>
          <p:spPr>
            <a:xfrm>
              <a:off x="5051" y="6017"/>
              <a:ext cx="1880" cy="574"/>
            </a:xfrm>
            <a:prstGeom prst="rect">
              <a:avLst/>
            </a:prstGeom>
            <a:solidFill>
              <a:srgbClr val="E77010"/>
            </a:solidFill>
            <a:ln>
              <a:solidFill>
                <a:srgbClr val="E7701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 b="1">
                  <a:latin typeface="微软雅黑" panose="020B0503020204020204" charset="-122"/>
                  <a:ea typeface="微软雅黑" panose="020B0503020204020204" charset="-122"/>
                </a:rPr>
                <a:t>集成组合</a:t>
              </a:r>
              <a:r>
                <a:rPr lang="zh-CN" altLang="en-US" sz="1200" b="1">
                  <a:latin typeface="微软雅黑" panose="020B0503020204020204" charset="-122"/>
                  <a:ea typeface="微软雅黑" panose="020B0503020204020204" charset="-122"/>
                </a:rPr>
                <a:t>模型</a:t>
              </a:r>
              <a:endParaRPr lang="zh-CN" altLang="en-US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矩形 77"/>
                <p:cNvSpPr/>
                <p:nvPr/>
              </p:nvSpPr>
              <p:spPr>
                <a:xfrm>
                  <a:off x="1128" y="6289"/>
                  <a:ext cx="1887" cy="521"/>
                </a:xfrm>
                <a:prstGeom prst="rect">
                  <a:avLst/>
                </a:prstGeom>
                <a:solidFill>
                  <a:srgbClr val="FBD8BC"/>
                </a:solidFill>
                <a:ln>
                  <a:solidFill>
                    <a:srgbClr val="F8D8BD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1200" b="1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设置阈值</a:t>
                  </a:r>
                  <a:r>
                    <a:rPr lang="en-US" altLang="zh-CN" sz="1200" b="1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:</a:t>
                  </a:r>
                  <a14:m>
                    <m:oMath xmlns:m="http://schemas.openxmlformats.org/officeDocument/2006/math">
                      <m:r>
                        <a:rPr lang="en-US" altLang="zh-CN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𝜽</m:t>
                      </m:r>
                    </m:oMath>
                  </a14:m>
                  <a:endParaRPr lang="en-US" altLang="zh-CN" sz="1400" b="1" i="1">
                    <a:solidFill>
                      <a:schemeClr val="tx1"/>
                    </a:solidFill>
                    <a:latin typeface="Cambria Math" panose="02040503050406030204" pitchFamily="18" charset="0"/>
                    <a:ea typeface="MS Mincho" charset="0"/>
                    <a:cs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78" name="矩形 7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8" y="6289"/>
                  <a:ext cx="1887" cy="521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solidFill>
                    <a:srgbClr val="F8D8BD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流程图: 准备 79"/>
            <p:cNvSpPr/>
            <p:nvPr/>
          </p:nvSpPr>
          <p:spPr>
            <a:xfrm>
              <a:off x="803" y="7053"/>
              <a:ext cx="5117" cy="500"/>
            </a:xfrm>
            <a:prstGeom prst="flowChartPreparation">
              <a:avLst/>
            </a:prstGeom>
            <a:solidFill>
              <a:srgbClr val="B7DDE8"/>
            </a:solidFill>
            <a:ln>
              <a:solidFill>
                <a:srgbClr val="B7DDE8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2" name="流程图: 决策 81"/>
            <p:cNvSpPr/>
            <p:nvPr/>
          </p:nvSpPr>
          <p:spPr>
            <a:xfrm>
              <a:off x="5403" y="7968"/>
              <a:ext cx="1528" cy="818"/>
            </a:xfrm>
            <a:prstGeom prst="flowChartDecision">
              <a:avLst/>
            </a:prstGeom>
            <a:solidFill>
              <a:srgbClr val="F2DCDB"/>
            </a:solidFill>
            <a:ln>
              <a:solidFill>
                <a:srgbClr val="F1DCDB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文本框 82"/>
                <p:cNvSpPr txBox="1"/>
                <p:nvPr/>
              </p:nvSpPr>
              <p:spPr>
                <a:xfrm>
                  <a:off x="5385" y="8131"/>
                  <a:ext cx="2446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𝑩𝒊𝑳𝑺𝑻𝑴</m:t>
                          </m:r>
                        </m:sub>
                      </m:sSub>
                    </m:oMath>
                  </a14:m>
                  <a:r>
                    <a:rPr lang="en-US" altLang="zh-CN" sz="12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&gt;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𝑹𝑭</m:t>
                          </m:r>
                        </m:sub>
                      </m:sSub>
                    </m:oMath>
                  </a14:m>
                  <a:endParaRPr lang="en-US" altLang="zh-CN" sz="1200" b="1" i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mc:Choice>
          <mc:Fallback>
            <p:sp>
              <p:nvSpPr>
                <p:cNvPr id="83" name="文本框 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5" y="8131"/>
                  <a:ext cx="2446" cy="434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" name="肘形连接符 95"/>
            <p:cNvCxnSpPr/>
            <p:nvPr/>
          </p:nvCxnSpPr>
          <p:spPr>
            <a:xfrm>
              <a:off x="5845" y="7309"/>
              <a:ext cx="322" cy="698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16" name="组合 115"/>
            <p:cNvGrpSpPr/>
            <p:nvPr/>
          </p:nvGrpSpPr>
          <p:grpSpPr>
            <a:xfrm rot="0">
              <a:off x="1736" y="7586"/>
              <a:ext cx="1134" cy="781"/>
              <a:chOff x="1736" y="7963"/>
              <a:chExt cx="1134" cy="781"/>
            </a:xfrm>
          </p:grpSpPr>
          <p:sp>
            <p:nvSpPr>
              <p:cNvPr id="98" name="文本框 97"/>
              <p:cNvSpPr txBox="1"/>
              <p:nvPr/>
            </p:nvSpPr>
            <p:spPr>
              <a:xfrm>
                <a:off x="1736" y="7987"/>
                <a:ext cx="1134" cy="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200" b="1">
                    <a:latin typeface="微软雅黑" panose="020B0503020204020204" charset="-122"/>
                    <a:ea typeface="微软雅黑" panose="020B0503020204020204" charset="-122"/>
                  </a:rPr>
                  <a:t>满足</a:t>
                </a:r>
                <a:endParaRPr lang="zh-CN" altLang="en-US" sz="12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cxnSp>
            <p:nvCxnSpPr>
              <p:cNvPr id="99" name="直接箭头连接符 98"/>
              <p:cNvCxnSpPr/>
              <p:nvPr/>
            </p:nvCxnSpPr>
            <p:spPr>
              <a:xfrm flipH="1">
                <a:off x="1786" y="7963"/>
                <a:ext cx="7" cy="78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15" name="组合 114"/>
            <p:cNvGrpSpPr/>
            <p:nvPr/>
          </p:nvGrpSpPr>
          <p:grpSpPr>
            <a:xfrm rot="0">
              <a:off x="678" y="8424"/>
              <a:ext cx="4178" cy="620"/>
              <a:chOff x="678" y="8502"/>
              <a:chExt cx="4178" cy="620"/>
            </a:xfrm>
          </p:grpSpPr>
          <p:sp>
            <p:nvSpPr>
              <p:cNvPr id="100" name="矩形 99"/>
              <p:cNvSpPr/>
              <p:nvPr/>
            </p:nvSpPr>
            <p:spPr>
              <a:xfrm>
                <a:off x="782" y="8502"/>
                <a:ext cx="4014" cy="621"/>
              </a:xfrm>
              <a:prstGeom prst="rect">
                <a:avLst/>
              </a:prstGeom>
              <a:solidFill>
                <a:srgbClr val="FBD8BC"/>
              </a:solidFill>
              <a:ln>
                <a:solidFill>
                  <a:srgbClr val="FBD8BC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1" name="文本框 100"/>
                  <p:cNvSpPr txBox="1"/>
                  <p:nvPr/>
                </p:nvSpPr>
                <p:spPr>
                  <a:xfrm>
                    <a:off x="678" y="8520"/>
                    <a:ext cx="4178" cy="5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9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9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altLang="zh-CN" sz="9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𝑩𝒊𝑳𝑺𝑻𝑴</m:t>
                              </m:r>
                            </m:sub>
                          </m:sSub>
                          <m:r>
                            <a:rPr lang="en-US" altLang="zh-CN" sz="9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9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𝑹𝑭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𝑹𝑭</m:t>
                                  </m:r>
                                </m:sub>
                              </m:sSub>
                              <m:r>
                                <a:rPr lang="en-US" altLang="zh-CN" sz="9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𝑩𝒊𝑳𝑺𝑻𝑴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9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9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9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altLang="zh-CN" sz="9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𝑹𝑭</m:t>
                              </m:r>
                            </m:sub>
                          </m:sSub>
                          <m:r>
                            <a:rPr lang="en-US" altLang="zh-CN" sz="9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9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𝑩𝒊𝑳𝑺𝑻𝑴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𝑹𝑭</m:t>
                                  </m:r>
                                </m:sub>
                              </m:sSub>
                              <m:r>
                                <a:rPr lang="en-US" altLang="zh-CN" sz="9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altLang="zh-CN" sz="900" b="1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𝑩𝒊𝑳𝑺𝑻𝑴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n-US" altLang="zh-CN" sz="900" b="1" i="1">
                      <a:latin typeface="Cambria Math" panose="02040503050406030204" pitchFamily="18" charset="0"/>
                      <a:cs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101" name="文本框 10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8" y="8520"/>
                    <a:ext cx="4178" cy="583"/>
                  </a:xfrm>
                  <a:prstGeom prst="rect">
                    <a:avLst/>
                  </a:prstGeom>
                  <a:blipFill rotWithShape="1">
                    <a:blip r:embed="rId7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4" name="文本框 103"/>
            <p:cNvSpPr txBox="1"/>
            <p:nvPr/>
          </p:nvSpPr>
          <p:spPr>
            <a:xfrm>
              <a:off x="4807" y="8698"/>
              <a:ext cx="677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no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6126" y="8688"/>
              <a:ext cx="84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yes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" name="文本框 106"/>
                <p:cNvSpPr txBox="1"/>
                <p:nvPr/>
              </p:nvSpPr>
              <p:spPr>
                <a:xfrm>
                  <a:off x="1778" y="9483"/>
                  <a:ext cx="2416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𝑹𝑭</m:t>
                          </m:r>
                        </m:sub>
                      </m:sSub>
                    </m:oMath>
                  </a14:m>
                  <a:r>
                    <a:rPr lang="en-US" altLang="zh-CN" sz="12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=0,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𝑩𝒊𝑳𝑺𝑻𝑴</m:t>
                          </m:r>
                        </m:sub>
                      </m:sSub>
                    </m:oMath>
                  </a14:m>
                  <a:r>
                    <a:rPr lang="en-US" altLang="zh-CN" sz="12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=1</a:t>
                  </a:r>
                  <a:endParaRPr lang="en-US" altLang="zh-CN" sz="1200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mc:Choice>
          <mc:Fallback>
            <p:sp>
              <p:nvSpPr>
                <p:cNvPr id="107" name="文本框 10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8" y="9483"/>
                  <a:ext cx="2416" cy="434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8" name="文本框 107"/>
                <p:cNvSpPr txBox="1"/>
                <p:nvPr/>
              </p:nvSpPr>
              <p:spPr>
                <a:xfrm>
                  <a:off x="4784" y="9483"/>
                  <a:ext cx="2528" cy="5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𝑹𝑭</m:t>
                          </m:r>
                        </m:sub>
                      </m:sSub>
                    </m:oMath>
                  </a14:m>
                  <a:r>
                    <a:rPr lang="en-US" altLang="zh-CN" sz="12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=1,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𝑩𝒊𝑳𝑺𝑻𝑴</m:t>
                          </m:r>
                        </m:sub>
                      </m:sSub>
                    </m:oMath>
                  </a14:m>
                  <a:r>
                    <a:rPr lang="en-US" altLang="zh-CN" sz="1200" b="1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=0</a:t>
                  </a:r>
                  <a:endParaRPr lang="en-US" altLang="zh-CN"/>
                </a:p>
                <a:p>
                  <a:endParaRPr lang="zh-CN" altLang="en-US"/>
                </a:p>
              </p:txBody>
            </p:sp>
          </mc:Choice>
          <mc:Fallback>
            <p:sp>
              <p:nvSpPr>
                <p:cNvPr id="108" name="文本框 10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4" y="9483"/>
                  <a:ext cx="2528" cy="523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9" name="肘形连接符 108"/>
            <p:cNvCxnSpPr>
              <a:stCxn id="82" idx="1"/>
              <a:endCxn id="107" idx="3"/>
            </p:cNvCxnSpPr>
            <p:nvPr/>
          </p:nvCxnSpPr>
          <p:spPr>
            <a:xfrm rot="10800000" flipV="1">
              <a:off x="4193" y="8376"/>
              <a:ext cx="1209" cy="1323"/>
            </a:xfrm>
            <a:prstGeom prst="bentConnector3">
              <a:avLst>
                <a:gd name="adj1" fmla="val 45574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0" name="直接箭头连接符 109"/>
            <p:cNvCxnSpPr>
              <a:stCxn id="82" idx="2"/>
            </p:cNvCxnSpPr>
            <p:nvPr/>
          </p:nvCxnSpPr>
          <p:spPr>
            <a:xfrm flipH="1">
              <a:off x="6160" y="8786"/>
              <a:ext cx="7" cy="62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1" name="矩形 110"/>
            <p:cNvSpPr/>
            <p:nvPr/>
          </p:nvSpPr>
          <p:spPr>
            <a:xfrm>
              <a:off x="570" y="9699"/>
              <a:ext cx="1307" cy="575"/>
            </a:xfrm>
            <a:prstGeom prst="rect">
              <a:avLst/>
            </a:prstGeom>
            <a:solidFill>
              <a:srgbClr val="AA9ABF"/>
            </a:solidFill>
            <a:ln>
              <a:solidFill>
                <a:srgbClr val="AA9ABF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 b="1">
                  <a:latin typeface="微软雅黑" panose="020B0503020204020204" charset="-122"/>
                  <a:ea typeface="微软雅黑" panose="020B0503020204020204" charset="-122"/>
                </a:rPr>
                <a:t>测试</a:t>
              </a:r>
              <a:r>
                <a:rPr lang="zh-CN" altLang="en-US" sz="1200" b="1">
                  <a:latin typeface="微软雅黑" panose="020B0503020204020204" charset="-122"/>
                  <a:ea typeface="微软雅黑" panose="020B0503020204020204" charset="-122"/>
                </a:rPr>
                <a:t>集</a:t>
              </a:r>
              <a:endParaRPr lang="zh-CN" altLang="en-US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" name="文本框 80"/>
                <p:cNvSpPr txBox="1"/>
                <p:nvPr/>
              </p:nvSpPr>
              <p:spPr>
                <a:xfrm>
                  <a:off x="930" y="7053"/>
                  <a:ext cx="4915" cy="434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altLang="zh-CN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𝑬</m:t>
                                </m:r>
                              </m:e>
                              <m:sub>
                                <m:r>
                                  <a:rPr lang="en-US" altLang="zh-CN" sz="1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𝑩𝒊𝑳𝑺𝑻𝑴</m:t>
                                </m:r>
                              </m:sub>
                            </m:sSub>
                            <m:r>
                              <a:rPr lang="en-US" altLang="zh-CN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𝑬</m:t>
                                </m:r>
                              </m:e>
                              <m:sub>
                                <m:r>
                                  <a:rPr lang="en-US" altLang="zh-CN" sz="1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𝑹𝑭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𝒎𝒂𝒙</m:t>
                        </m:r>
                        <m:r>
                          <a:rPr lang="en-US" altLang="zh-CN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𝑩𝒊𝑳𝑺𝑻𝑴</m:t>
                            </m:r>
                          </m:sub>
                        </m:sSub>
                        <m:r>
                          <a:rPr lang="en-US" altLang="zh-CN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𝑹𝑭</m:t>
                            </m:r>
                          </m:sub>
                        </m:sSub>
                        <m:r>
                          <a:rPr lang="en-US" altLang="zh-CN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)&lt;</m:t>
                        </m:r>
                        <m:r>
                          <a:rPr lang="en-US" altLang="zh-CN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𝜽</m:t>
                        </m:r>
                      </m:oMath>
                    </m:oMathPara>
                  </a14:m>
                  <a:endParaRPr lang="en-US" altLang="zh-CN" sz="1200" b="1" i="1">
                    <a:solidFill>
                      <a:schemeClr val="tx1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81" name="文本框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" y="7053"/>
                  <a:ext cx="4915" cy="434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5" name="肘形连接符 124"/>
            <p:cNvCxnSpPr>
              <a:stCxn id="24" idx="3"/>
            </p:cNvCxnSpPr>
            <p:nvPr/>
          </p:nvCxnSpPr>
          <p:spPr>
            <a:xfrm>
              <a:off x="2018" y="1015"/>
              <a:ext cx="217" cy="827"/>
            </a:xfrm>
            <a:prstGeom prst="bentConnector2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6" name="肘形连接符 125"/>
            <p:cNvCxnSpPr>
              <a:stCxn id="25" idx="3"/>
            </p:cNvCxnSpPr>
            <p:nvPr/>
          </p:nvCxnSpPr>
          <p:spPr>
            <a:xfrm flipV="1">
              <a:off x="1988" y="1661"/>
              <a:ext cx="247" cy="889"/>
            </a:xfrm>
            <a:prstGeom prst="bentConnector2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肘形连接符 49"/>
            <p:cNvCxnSpPr>
              <a:stCxn id="2" idx="3"/>
            </p:cNvCxnSpPr>
            <p:nvPr/>
          </p:nvCxnSpPr>
          <p:spPr>
            <a:xfrm>
              <a:off x="3937" y="1816"/>
              <a:ext cx="1114" cy="36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130" name="图片 1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0950" y="0"/>
            <a:ext cx="46482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文本框 138"/>
          <p:cNvSpPr txBox="1"/>
          <p:nvPr/>
        </p:nvSpPr>
        <p:spPr>
          <a:xfrm>
            <a:off x="14032230" y="5366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32" name="矩形 131"/>
          <p:cNvSpPr/>
          <p:nvPr/>
        </p:nvSpPr>
        <p:spPr>
          <a:xfrm>
            <a:off x="235585" y="1700530"/>
            <a:ext cx="1356360" cy="3949700"/>
          </a:xfrm>
          <a:prstGeom prst="rect">
            <a:avLst/>
          </a:prstGeom>
          <a:ln w="6350" cap="flat" cmpd="sng" algn="ctr">
            <a:solidFill>
              <a:schemeClr val="accent6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altLang="zh-CN" sz="16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8" name="组合 37"/>
          <p:cNvGrpSpPr/>
          <p:nvPr/>
        </p:nvGrpSpPr>
        <p:grpSpPr>
          <a:xfrm rot="0">
            <a:off x="360680" y="2132330"/>
            <a:ext cx="1099185" cy="3471545"/>
            <a:chOff x="718" y="5392"/>
            <a:chExt cx="1731" cy="5467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1"/>
            <a:srcRect b="12333"/>
            <a:stretch>
              <a:fillRect/>
            </a:stretch>
          </p:blipFill>
          <p:spPr>
            <a:xfrm>
              <a:off x="723" y="9706"/>
              <a:ext cx="1726" cy="1153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" y="8403"/>
              <a:ext cx="1726" cy="1173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8" y="5392"/>
              <a:ext cx="1730" cy="1154"/>
            </a:xfrm>
            <a:prstGeom prst="rect">
              <a:avLst/>
            </a:prstGeom>
          </p:spPr>
        </p:pic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8" y="6620"/>
              <a:ext cx="1731" cy="1173"/>
            </a:xfrm>
            <a:prstGeom prst="rect">
              <a:avLst/>
            </a:prstGeom>
          </p:spPr>
        </p:pic>
      </p:grpSp>
      <p:sp>
        <p:nvSpPr>
          <p:cNvPr id="64" name="矩形: 圆角 50"/>
          <p:cNvSpPr/>
          <p:nvPr/>
        </p:nvSpPr>
        <p:spPr>
          <a:xfrm>
            <a:off x="10750550" y="446405"/>
            <a:ext cx="1358900" cy="5205730"/>
          </a:xfrm>
          <a:prstGeom prst="roundRect">
            <a:avLst>
              <a:gd name="adj" fmla="val 6767"/>
            </a:avLst>
          </a:prstGeom>
          <a:noFill/>
          <a:ln w="28575">
            <a:solidFill>
              <a:schemeClr val="accent6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箭头: 下 46"/>
          <p:cNvSpPr/>
          <p:nvPr/>
        </p:nvSpPr>
        <p:spPr>
          <a:xfrm rot="16200000">
            <a:off x="10621645" y="1368425"/>
            <a:ext cx="300990" cy="421005"/>
          </a:xfrm>
          <a:prstGeom prst="downArrow">
            <a:avLst>
              <a:gd name="adj1" fmla="val 51961"/>
              <a:gd name="adj2" fmla="val 86758"/>
            </a:avLst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78" name="矩形 77"/>
          <p:cNvSpPr/>
          <p:nvPr/>
        </p:nvSpPr>
        <p:spPr>
          <a:xfrm>
            <a:off x="11536680" y="2662555"/>
            <a:ext cx="521970" cy="360045"/>
          </a:xfrm>
          <a:prstGeom prst="rect">
            <a:avLst/>
          </a:prstGeom>
          <a:solidFill>
            <a:srgbClr val="B3D4A4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</a:rPr>
              <a:t>output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9" name="曲线连接符 78"/>
          <p:cNvCxnSpPr>
            <a:stCxn id="73" idx="3"/>
            <a:endCxn id="78" idx="2"/>
          </p:cNvCxnSpPr>
          <p:nvPr/>
        </p:nvCxnSpPr>
        <p:spPr>
          <a:xfrm flipV="1">
            <a:off x="11564620" y="3022600"/>
            <a:ext cx="233045" cy="1289050"/>
          </a:xfrm>
          <a:prstGeom prst="curvedConnector2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03" name="组合 102"/>
          <p:cNvGrpSpPr/>
          <p:nvPr/>
        </p:nvGrpSpPr>
        <p:grpSpPr>
          <a:xfrm rot="0">
            <a:off x="2471420" y="654685"/>
            <a:ext cx="4003675" cy="4744720"/>
            <a:chOff x="3868" y="2131"/>
            <a:chExt cx="6305" cy="7472"/>
          </a:xfrm>
        </p:grpSpPr>
        <p:pic>
          <p:nvPicPr>
            <p:cNvPr id="44" name="图片 6" descr="点击查看图片来源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81" y="6477"/>
              <a:ext cx="5958" cy="312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" name="文本框 50"/>
            <p:cNvSpPr txBox="1"/>
            <p:nvPr/>
          </p:nvSpPr>
          <p:spPr>
            <a:xfrm>
              <a:off x="3911" y="6267"/>
              <a:ext cx="167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>
                  <a:solidFill>
                    <a:schemeClr val="accent6"/>
                  </a:solidFill>
                </a:rPr>
                <a:t>RF</a:t>
              </a:r>
              <a:endParaRPr lang="en-US" altLang="zh-CN" b="1">
                <a:solidFill>
                  <a:schemeClr val="accent6"/>
                </a:solidFill>
              </a:endParaRPr>
            </a:p>
          </p:txBody>
        </p:sp>
        <p:pic>
          <p:nvPicPr>
            <p:cNvPr id="81" name="图片 80" descr="7907c8e9ce2126cb2d01792e0564d97d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52" y="2615"/>
              <a:ext cx="6221" cy="2847"/>
            </a:xfrm>
            <a:prstGeom prst="rect">
              <a:avLst/>
            </a:prstGeom>
          </p:spPr>
        </p:pic>
        <p:sp>
          <p:nvSpPr>
            <p:cNvPr id="50" name="文本框 49"/>
            <p:cNvSpPr txBox="1"/>
            <p:nvPr/>
          </p:nvSpPr>
          <p:spPr>
            <a:xfrm>
              <a:off x="3868" y="2131"/>
              <a:ext cx="167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>
                  <a:solidFill>
                    <a:schemeClr val="accent6"/>
                  </a:solidFill>
                </a:rPr>
                <a:t>BiLSTM</a:t>
              </a:r>
              <a:endParaRPr lang="en-US" altLang="zh-CN" b="1">
                <a:solidFill>
                  <a:schemeClr val="accent6"/>
                </a:solidFill>
              </a:endParaRPr>
            </a:p>
          </p:txBody>
        </p:sp>
      </p:grpSp>
      <p:sp>
        <p:nvSpPr>
          <p:cNvPr id="96" name="文本框 95"/>
          <p:cNvSpPr txBox="1"/>
          <p:nvPr/>
        </p:nvSpPr>
        <p:spPr>
          <a:xfrm>
            <a:off x="316230" y="1699895"/>
            <a:ext cx="1268095" cy="376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solidFill>
                  <a:srgbClr val="70AD47"/>
                </a:solidFill>
                <a:latin typeface="微软雅黑" panose="020B0503020204020204" charset="-122"/>
                <a:ea typeface="微软雅黑" panose="020B0503020204020204" charset="-122"/>
              </a:rPr>
              <a:t>tournament </a:t>
            </a:r>
            <a:endParaRPr lang="en-US" altLang="zh-CN" sz="1200" b="1">
              <a:solidFill>
                <a:srgbClr val="70AD4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1200" b="1">
                <a:solidFill>
                  <a:srgbClr val="70AD47"/>
                </a:solidFill>
                <a:latin typeface="微软雅黑" panose="020B0503020204020204" charset="-122"/>
                <a:ea typeface="微软雅黑" panose="020B0503020204020204" charset="-122"/>
              </a:rPr>
              <a:t>features</a:t>
            </a:r>
            <a:endParaRPr lang="en-US" altLang="zh-CN" sz="1200" b="1">
              <a:solidFill>
                <a:srgbClr val="70AD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0" name="组合 99"/>
          <p:cNvGrpSpPr/>
          <p:nvPr/>
        </p:nvGrpSpPr>
        <p:grpSpPr>
          <a:xfrm rot="5400000">
            <a:off x="782320" y="3820160"/>
            <a:ext cx="306070" cy="64770"/>
            <a:chOff x="2429" y="863"/>
            <a:chExt cx="482" cy="102"/>
          </a:xfrm>
        </p:grpSpPr>
        <p:sp>
          <p:nvSpPr>
            <p:cNvPr id="97" name="椭圆 96"/>
            <p:cNvSpPr/>
            <p:nvPr/>
          </p:nvSpPr>
          <p:spPr>
            <a:xfrm>
              <a:off x="2429" y="863"/>
              <a:ext cx="102" cy="10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椭圆 97"/>
            <p:cNvSpPr/>
            <p:nvPr/>
          </p:nvSpPr>
          <p:spPr>
            <a:xfrm>
              <a:off x="2619" y="863"/>
              <a:ext cx="102" cy="10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椭圆 98"/>
            <p:cNvSpPr/>
            <p:nvPr/>
          </p:nvSpPr>
          <p:spPr>
            <a:xfrm>
              <a:off x="2809" y="863"/>
              <a:ext cx="102" cy="10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26" name="组合 225"/>
          <p:cNvGrpSpPr/>
          <p:nvPr/>
        </p:nvGrpSpPr>
        <p:grpSpPr>
          <a:xfrm rot="0">
            <a:off x="244475" y="600075"/>
            <a:ext cx="1596390" cy="1132205"/>
            <a:chOff x="372" y="1876"/>
            <a:chExt cx="2514" cy="1783"/>
          </a:xfrm>
        </p:grpSpPr>
        <p:sp>
          <p:nvSpPr>
            <p:cNvPr id="131" name="矩形 130"/>
            <p:cNvSpPr/>
            <p:nvPr/>
          </p:nvSpPr>
          <p:spPr>
            <a:xfrm>
              <a:off x="372" y="1876"/>
              <a:ext cx="2136" cy="1652"/>
            </a:xfrm>
            <a:prstGeom prst="rect">
              <a:avLst/>
            </a:prstGeom>
            <a:ln w="6350" cap="flat" cmpd="sng" algn="ctr">
              <a:solidFill>
                <a:schemeClr val="accent6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altLang="zh-CN" sz="1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6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6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6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6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6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6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9" name="图片 58" descr="d1037fb241d0894f5c7088c414b9687f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3" y="2579"/>
              <a:ext cx="1729" cy="1081"/>
            </a:xfrm>
            <a:prstGeom prst="rect">
              <a:avLst/>
            </a:prstGeom>
          </p:spPr>
        </p:pic>
        <p:sp>
          <p:nvSpPr>
            <p:cNvPr id="83" name="文本框 82"/>
            <p:cNvSpPr txBox="1"/>
            <p:nvPr/>
          </p:nvSpPr>
          <p:spPr>
            <a:xfrm>
              <a:off x="372" y="1890"/>
              <a:ext cx="222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b="1">
                  <a:solidFill>
                    <a:srgbClr val="70AD47"/>
                  </a:solidFill>
                  <a:latin typeface="微软雅黑" panose="020B0503020204020204" charset="-122"/>
                  <a:ea typeface="微软雅黑" panose="020B0503020204020204" charset="-122"/>
                </a:rPr>
                <a:t>dependent variable</a:t>
              </a:r>
              <a:endParaRPr lang="en-US" altLang="zh-CN" sz="1200" b="1">
                <a:solidFill>
                  <a:srgbClr val="70AD4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01" name="直接箭头连接符 100"/>
            <p:cNvCxnSpPr/>
            <p:nvPr/>
          </p:nvCxnSpPr>
          <p:spPr>
            <a:xfrm flipV="1">
              <a:off x="2518" y="2670"/>
              <a:ext cx="369" cy="12"/>
            </a:xfrm>
            <a:prstGeom prst="straightConnector1">
              <a:avLst/>
            </a:prstGeom>
            <a:ln>
              <a:solidFill>
                <a:srgbClr val="70AD4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2" name="直接箭头连接符 101"/>
          <p:cNvCxnSpPr/>
          <p:nvPr/>
        </p:nvCxnSpPr>
        <p:spPr>
          <a:xfrm flipV="1">
            <a:off x="1616075" y="3793490"/>
            <a:ext cx="234315" cy="7620"/>
          </a:xfrm>
          <a:prstGeom prst="straightConnector1">
            <a:avLst/>
          </a:prstGeom>
          <a:ln>
            <a:solidFill>
              <a:srgbClr val="70AD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: 圆角 50"/>
          <p:cNvSpPr/>
          <p:nvPr/>
        </p:nvSpPr>
        <p:spPr>
          <a:xfrm>
            <a:off x="2298700" y="492760"/>
            <a:ext cx="4323715" cy="5260340"/>
          </a:xfrm>
          <a:prstGeom prst="roundRect">
            <a:avLst>
              <a:gd name="adj" fmla="val 6767"/>
            </a:avLst>
          </a:prstGeom>
          <a:noFill/>
          <a:ln w="28575">
            <a:solidFill>
              <a:schemeClr val="accent6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5" name="矩形 104"/>
          <p:cNvSpPr/>
          <p:nvPr/>
        </p:nvSpPr>
        <p:spPr>
          <a:xfrm>
            <a:off x="2476500" y="654685"/>
            <a:ext cx="3999230" cy="2322195"/>
          </a:xfrm>
          <a:prstGeom prst="rect">
            <a:avLst/>
          </a:prstGeom>
          <a:noFill/>
          <a:ln w="19050">
            <a:solidFill>
              <a:schemeClr val="accent6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2477135" y="3220085"/>
            <a:ext cx="3999230" cy="2283460"/>
          </a:xfrm>
          <a:prstGeom prst="rect">
            <a:avLst/>
          </a:prstGeom>
          <a:noFill/>
          <a:ln w="19050">
            <a:solidFill>
              <a:schemeClr val="accent6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7" name="组合 226"/>
          <p:cNvGrpSpPr/>
          <p:nvPr/>
        </p:nvGrpSpPr>
        <p:grpSpPr>
          <a:xfrm rot="0">
            <a:off x="1843405" y="492760"/>
            <a:ext cx="278765" cy="5260340"/>
            <a:chOff x="2903" y="1876"/>
            <a:chExt cx="439" cy="8284"/>
          </a:xfrm>
        </p:grpSpPr>
        <p:sp>
          <p:nvSpPr>
            <p:cNvPr id="6" name="矩形 5"/>
            <p:cNvSpPr/>
            <p:nvPr/>
          </p:nvSpPr>
          <p:spPr>
            <a:xfrm>
              <a:off x="2903" y="1876"/>
              <a:ext cx="414" cy="8284"/>
            </a:xfrm>
            <a:prstGeom prst="rect">
              <a:avLst/>
            </a:prstGeom>
            <a:noFill/>
            <a:ln w="19050">
              <a:solidFill>
                <a:srgbClr val="9F6055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900" b="1" dirty="0">
                  <a:solidFill>
                    <a:srgbClr val="8D6C6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zh-CN" sz="900" b="1" dirty="0">
                <a:solidFill>
                  <a:srgbClr val="8D6C67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文本框 110"/>
            <p:cNvSpPr txBox="1"/>
            <p:nvPr/>
          </p:nvSpPr>
          <p:spPr>
            <a:xfrm rot="5400000">
              <a:off x="-871" y="5713"/>
              <a:ext cx="8036" cy="3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 b="1">
                  <a:solidFill>
                    <a:srgbClr val="9F6055"/>
                  </a:solidFill>
                  <a:latin typeface="微软雅黑" panose="020B0503020204020204" charset="-122"/>
                  <a:ea typeface="微软雅黑" panose="020B0503020204020204" charset="-122"/>
                </a:rPr>
                <a:t>Hyperparameter algorithm tunin</a:t>
              </a:r>
              <a:r>
                <a:rPr lang="en-US" altLang="zh-CN" sz="1200" b="1">
                  <a:solidFill>
                    <a:srgbClr val="9F6055"/>
                  </a:solidFill>
                  <a:latin typeface="微软雅黑" panose="020B0503020204020204" charset="-122"/>
                  <a:ea typeface="微软雅黑" panose="020B0503020204020204" charset="-122"/>
                </a:rPr>
                <a:t>g</a:t>
              </a:r>
              <a:endParaRPr lang="en-US" altLang="zh-CN" sz="1200" b="1">
                <a:solidFill>
                  <a:srgbClr val="9F605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82" name="文本框 81"/>
          <p:cNvSpPr txBox="1"/>
          <p:nvPr/>
        </p:nvSpPr>
        <p:spPr>
          <a:xfrm rot="5400000">
            <a:off x="4401185" y="2934335"/>
            <a:ext cx="51600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 b="1">
                <a:solidFill>
                  <a:srgbClr val="9F6055"/>
                </a:solidFill>
                <a:latin typeface="微软雅黑" panose="020B0503020204020204" charset="-122"/>
                <a:ea typeface="微软雅黑" panose="020B0503020204020204" charset="-122"/>
              </a:rPr>
              <a:t>dataset splitting</a:t>
            </a:r>
            <a:endParaRPr lang="en-US" altLang="zh-CN" sz="1200" b="1">
              <a:solidFill>
                <a:srgbClr val="9F60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6840855" y="492125"/>
            <a:ext cx="262890" cy="5158105"/>
          </a:xfrm>
          <a:prstGeom prst="rect">
            <a:avLst/>
          </a:prstGeom>
          <a:noFill/>
          <a:ln w="19050">
            <a:solidFill>
              <a:srgbClr val="9F605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900" b="1" dirty="0">
                <a:solidFill>
                  <a:srgbClr val="8D6C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900" b="1" dirty="0">
              <a:solidFill>
                <a:srgbClr val="8D6C6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1" name="组合 230"/>
          <p:cNvGrpSpPr/>
          <p:nvPr/>
        </p:nvGrpSpPr>
        <p:grpSpPr>
          <a:xfrm rot="0">
            <a:off x="6618605" y="1132840"/>
            <a:ext cx="227330" cy="3867150"/>
            <a:chOff x="10423" y="2884"/>
            <a:chExt cx="358" cy="6090"/>
          </a:xfrm>
        </p:grpSpPr>
        <p:grpSp>
          <p:nvGrpSpPr>
            <p:cNvPr id="117" name="组合 116"/>
            <p:cNvGrpSpPr/>
            <p:nvPr/>
          </p:nvGrpSpPr>
          <p:grpSpPr>
            <a:xfrm>
              <a:off x="10430" y="2884"/>
              <a:ext cx="334" cy="856"/>
              <a:chOff x="10430" y="2884"/>
              <a:chExt cx="334" cy="856"/>
            </a:xfrm>
          </p:grpSpPr>
          <p:cxnSp>
            <p:nvCxnSpPr>
              <p:cNvPr id="115" name="直接箭头连接符 114"/>
              <p:cNvCxnSpPr/>
              <p:nvPr/>
            </p:nvCxnSpPr>
            <p:spPr>
              <a:xfrm>
                <a:off x="10430" y="2884"/>
                <a:ext cx="327" cy="0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箭头连接符 113"/>
              <p:cNvCxnSpPr/>
              <p:nvPr/>
            </p:nvCxnSpPr>
            <p:spPr>
              <a:xfrm>
                <a:off x="10438" y="3324"/>
                <a:ext cx="327" cy="0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箭头连接符 115"/>
              <p:cNvCxnSpPr/>
              <p:nvPr/>
            </p:nvCxnSpPr>
            <p:spPr>
              <a:xfrm>
                <a:off x="10434" y="3740"/>
                <a:ext cx="327" cy="0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8" name="组合 117"/>
            <p:cNvGrpSpPr/>
            <p:nvPr/>
          </p:nvGrpSpPr>
          <p:grpSpPr>
            <a:xfrm>
              <a:off x="10443" y="4221"/>
              <a:ext cx="334" cy="856"/>
              <a:chOff x="10430" y="2884"/>
              <a:chExt cx="334" cy="856"/>
            </a:xfrm>
          </p:grpSpPr>
          <p:cxnSp>
            <p:nvCxnSpPr>
              <p:cNvPr id="119" name="直接箭头连接符 118"/>
              <p:cNvCxnSpPr/>
              <p:nvPr/>
            </p:nvCxnSpPr>
            <p:spPr>
              <a:xfrm>
                <a:off x="10430" y="2884"/>
                <a:ext cx="327" cy="0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箭头连接符 119"/>
              <p:cNvCxnSpPr/>
              <p:nvPr/>
            </p:nvCxnSpPr>
            <p:spPr>
              <a:xfrm>
                <a:off x="10438" y="3324"/>
                <a:ext cx="327" cy="0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箭头连接符 120"/>
              <p:cNvCxnSpPr/>
              <p:nvPr/>
            </p:nvCxnSpPr>
            <p:spPr>
              <a:xfrm>
                <a:off x="10434" y="3740"/>
                <a:ext cx="327" cy="0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2" name="组合 121"/>
            <p:cNvGrpSpPr/>
            <p:nvPr/>
          </p:nvGrpSpPr>
          <p:grpSpPr>
            <a:xfrm>
              <a:off x="10423" y="5612"/>
              <a:ext cx="334" cy="856"/>
              <a:chOff x="10430" y="2884"/>
              <a:chExt cx="334" cy="856"/>
            </a:xfrm>
          </p:grpSpPr>
          <p:cxnSp>
            <p:nvCxnSpPr>
              <p:cNvPr id="125" name="直接箭头连接符 124"/>
              <p:cNvCxnSpPr/>
              <p:nvPr/>
            </p:nvCxnSpPr>
            <p:spPr>
              <a:xfrm>
                <a:off x="10430" y="2884"/>
                <a:ext cx="327" cy="0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箭头连接符 125"/>
              <p:cNvCxnSpPr/>
              <p:nvPr/>
            </p:nvCxnSpPr>
            <p:spPr>
              <a:xfrm>
                <a:off x="10438" y="3324"/>
                <a:ext cx="327" cy="0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接箭头连接符 126"/>
              <p:cNvCxnSpPr/>
              <p:nvPr/>
            </p:nvCxnSpPr>
            <p:spPr>
              <a:xfrm>
                <a:off x="10434" y="3740"/>
                <a:ext cx="327" cy="0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8" name="组合 127"/>
            <p:cNvGrpSpPr/>
            <p:nvPr/>
          </p:nvGrpSpPr>
          <p:grpSpPr>
            <a:xfrm>
              <a:off x="10427" y="6862"/>
              <a:ext cx="334" cy="856"/>
              <a:chOff x="10430" y="2884"/>
              <a:chExt cx="334" cy="856"/>
            </a:xfrm>
          </p:grpSpPr>
          <p:cxnSp>
            <p:nvCxnSpPr>
              <p:cNvPr id="129" name="直接箭头连接符 128"/>
              <p:cNvCxnSpPr/>
              <p:nvPr/>
            </p:nvCxnSpPr>
            <p:spPr>
              <a:xfrm>
                <a:off x="10430" y="2884"/>
                <a:ext cx="327" cy="0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接箭头连接符 129"/>
              <p:cNvCxnSpPr/>
              <p:nvPr/>
            </p:nvCxnSpPr>
            <p:spPr>
              <a:xfrm>
                <a:off x="10438" y="3324"/>
                <a:ext cx="327" cy="0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箭头连接符 132"/>
              <p:cNvCxnSpPr/>
              <p:nvPr/>
            </p:nvCxnSpPr>
            <p:spPr>
              <a:xfrm>
                <a:off x="10434" y="3740"/>
                <a:ext cx="327" cy="0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4" name="组合 133"/>
            <p:cNvGrpSpPr/>
            <p:nvPr/>
          </p:nvGrpSpPr>
          <p:grpSpPr>
            <a:xfrm>
              <a:off x="10447" y="8118"/>
              <a:ext cx="334" cy="856"/>
              <a:chOff x="10430" y="2884"/>
              <a:chExt cx="334" cy="856"/>
            </a:xfrm>
          </p:grpSpPr>
          <p:cxnSp>
            <p:nvCxnSpPr>
              <p:cNvPr id="136" name="直接箭头连接符 135"/>
              <p:cNvCxnSpPr/>
              <p:nvPr/>
            </p:nvCxnSpPr>
            <p:spPr>
              <a:xfrm>
                <a:off x="10430" y="2884"/>
                <a:ext cx="327" cy="0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箭头连接符 136"/>
              <p:cNvCxnSpPr/>
              <p:nvPr/>
            </p:nvCxnSpPr>
            <p:spPr>
              <a:xfrm>
                <a:off x="10438" y="3324"/>
                <a:ext cx="327" cy="0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箭头连接符 137"/>
              <p:cNvCxnSpPr/>
              <p:nvPr/>
            </p:nvCxnSpPr>
            <p:spPr>
              <a:xfrm>
                <a:off x="10434" y="3740"/>
                <a:ext cx="327" cy="0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0" name="矩形: 圆角 50"/>
          <p:cNvSpPr/>
          <p:nvPr/>
        </p:nvSpPr>
        <p:spPr>
          <a:xfrm>
            <a:off x="7230110" y="446405"/>
            <a:ext cx="3426460" cy="5205730"/>
          </a:xfrm>
          <a:prstGeom prst="roundRect">
            <a:avLst>
              <a:gd name="adj" fmla="val 6767"/>
            </a:avLst>
          </a:prstGeom>
          <a:noFill/>
          <a:ln w="28575">
            <a:solidFill>
              <a:schemeClr val="accent6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2" name="箭头: 下 46"/>
          <p:cNvSpPr/>
          <p:nvPr/>
        </p:nvSpPr>
        <p:spPr>
          <a:xfrm rot="16200000">
            <a:off x="10621645" y="4306570"/>
            <a:ext cx="300990" cy="421005"/>
          </a:xfrm>
          <a:prstGeom prst="downArrow">
            <a:avLst>
              <a:gd name="adj1" fmla="val 51961"/>
              <a:gd name="adj2" fmla="val 86758"/>
            </a:avLst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grpSp>
        <p:nvGrpSpPr>
          <p:cNvPr id="208" name="组合 207"/>
          <p:cNvGrpSpPr/>
          <p:nvPr/>
        </p:nvGrpSpPr>
        <p:grpSpPr>
          <a:xfrm rot="0">
            <a:off x="10751185" y="689610"/>
            <a:ext cx="1046480" cy="1972945"/>
            <a:chOff x="16931" y="2186"/>
            <a:chExt cx="1648" cy="3107"/>
          </a:xfrm>
        </p:grpSpPr>
        <p:sp>
          <p:nvSpPr>
            <p:cNvPr id="67" name="矩形 66"/>
            <p:cNvSpPr/>
            <p:nvPr/>
          </p:nvSpPr>
          <p:spPr>
            <a:xfrm>
              <a:off x="17036" y="2186"/>
              <a:ext cx="688" cy="526"/>
            </a:xfrm>
            <a:prstGeom prst="rect">
              <a:avLst/>
            </a:prstGeom>
          </p:spPr>
          <p:style>
            <a:lnRef idx="0">
              <a:srgbClr val="FFFFFF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8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2" name="圆角矩形 71"/>
            <p:cNvSpPr/>
            <p:nvPr/>
          </p:nvSpPr>
          <p:spPr>
            <a:xfrm>
              <a:off x="17912" y="3099"/>
              <a:ext cx="351" cy="975"/>
            </a:xfrm>
            <a:prstGeom prst="roundRect">
              <a:avLst/>
            </a:prstGeom>
            <a:solidFill>
              <a:srgbClr val="B3D4A4"/>
            </a:solidFill>
          </p:spPr>
          <p:style>
            <a:lnRef idx="0">
              <a:srgbClr val="FFFFFF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74" name="曲线连接符 73"/>
            <p:cNvCxnSpPr>
              <a:stCxn id="67" idx="3"/>
              <a:endCxn id="72" idx="0"/>
            </p:cNvCxnSpPr>
            <p:nvPr/>
          </p:nvCxnSpPr>
          <p:spPr>
            <a:xfrm>
              <a:off x="17724" y="2449"/>
              <a:ext cx="364" cy="650"/>
            </a:xfrm>
            <a:prstGeom prst="curvedConnector2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tailEnd type="arrow" w="med" len="med"/>
            </a:ln>
          </p:spPr>
          <p:style>
            <a:lnRef idx="2">
              <a:schemeClr val="accent6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5" name="曲线连接符 74"/>
            <p:cNvCxnSpPr>
              <a:stCxn id="205" idx="3"/>
              <a:endCxn id="72" idx="2"/>
            </p:cNvCxnSpPr>
            <p:nvPr/>
          </p:nvCxnSpPr>
          <p:spPr>
            <a:xfrm flipV="1">
              <a:off x="17772" y="4074"/>
              <a:ext cx="316" cy="653"/>
            </a:xfrm>
            <a:prstGeom prst="curvedConnector2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0" name="曲线连接符 79"/>
            <p:cNvCxnSpPr>
              <a:stCxn id="72" idx="3"/>
              <a:endCxn id="78" idx="0"/>
            </p:cNvCxnSpPr>
            <p:nvPr/>
          </p:nvCxnSpPr>
          <p:spPr>
            <a:xfrm>
              <a:off x="18263" y="3587"/>
              <a:ext cx="316" cy="1706"/>
            </a:xfrm>
            <a:prstGeom prst="curvedConnector2">
              <a:avLst/>
            </a:prstGeom>
            <a:ln>
              <a:solidFill>
                <a:schemeClr val="accent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03" name="文本框 202"/>
            <p:cNvSpPr txBox="1"/>
            <p:nvPr/>
          </p:nvSpPr>
          <p:spPr>
            <a:xfrm>
              <a:off x="16931" y="2273"/>
              <a:ext cx="861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00" b="1" i="1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rPr>
                <a:t>Predict</a:t>
              </a:r>
              <a:endParaRPr lang="en-US" altLang="zh-CN" sz="900" b="1" i="1">
                <a:latin typeface="Cambria Math" panose="02040503050406030204" pitchFamily="18" charset="0"/>
                <a:ea typeface="微软雅黑" panose="020B0503020204020204" charset="-122"/>
                <a:cs typeface="Cambria Math" panose="02040503050406030204" pitchFamily="18" charset="0"/>
              </a:endParaRPr>
            </a:p>
          </p:txBody>
        </p:sp>
        <p:grpSp>
          <p:nvGrpSpPr>
            <p:cNvPr id="206" name="组合 205"/>
            <p:cNvGrpSpPr/>
            <p:nvPr/>
          </p:nvGrpSpPr>
          <p:grpSpPr>
            <a:xfrm>
              <a:off x="16986" y="4452"/>
              <a:ext cx="786" cy="526"/>
              <a:chOff x="17052" y="4767"/>
              <a:chExt cx="786" cy="526"/>
            </a:xfrm>
          </p:grpSpPr>
          <p:sp>
            <p:nvSpPr>
              <p:cNvPr id="204" name="矩形 203"/>
              <p:cNvSpPr/>
              <p:nvPr/>
            </p:nvSpPr>
            <p:spPr>
              <a:xfrm>
                <a:off x="17078" y="4767"/>
                <a:ext cx="760" cy="526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800" b="1" i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05" name="文本框 204"/>
              <p:cNvSpPr txBox="1"/>
              <p:nvPr/>
            </p:nvSpPr>
            <p:spPr>
              <a:xfrm>
                <a:off x="17052" y="4849"/>
                <a:ext cx="786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 b="1">
                    <a:sym typeface="+mn-ea"/>
                  </a:rPr>
                  <a:t>value</a:t>
                </a:r>
                <a:endParaRPr lang="en-US" altLang="zh-CN" sz="1000" b="1">
                  <a:sym typeface="+mn-ea"/>
                </a:endParaRPr>
              </a:p>
            </p:txBody>
          </p:sp>
        </p:grpSp>
      </p:grpSp>
      <p:grpSp>
        <p:nvGrpSpPr>
          <p:cNvPr id="210" name="组合 209"/>
          <p:cNvGrpSpPr/>
          <p:nvPr/>
        </p:nvGrpSpPr>
        <p:grpSpPr>
          <a:xfrm rot="0">
            <a:off x="10786110" y="3656965"/>
            <a:ext cx="810895" cy="1772920"/>
            <a:chOff x="16986" y="2186"/>
            <a:chExt cx="1277" cy="2792"/>
          </a:xfrm>
        </p:grpSpPr>
        <p:sp>
          <p:nvSpPr>
            <p:cNvPr id="211" name="矩形 210"/>
            <p:cNvSpPr/>
            <p:nvPr/>
          </p:nvSpPr>
          <p:spPr>
            <a:xfrm>
              <a:off x="17036" y="2186"/>
              <a:ext cx="688" cy="526"/>
            </a:xfrm>
            <a:prstGeom prst="rect">
              <a:avLst/>
            </a:prstGeom>
          </p:spPr>
          <p:style>
            <a:lnRef idx="0">
              <a:srgbClr val="FFFFFF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8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2" name="圆角矩形 211"/>
            <p:cNvSpPr/>
            <p:nvPr/>
          </p:nvSpPr>
          <p:spPr>
            <a:xfrm>
              <a:off x="17912" y="3099"/>
              <a:ext cx="351" cy="975"/>
            </a:xfrm>
            <a:prstGeom prst="roundRect">
              <a:avLst/>
            </a:prstGeom>
            <a:solidFill>
              <a:srgbClr val="B3D4A4"/>
            </a:solidFill>
          </p:spPr>
          <p:style>
            <a:lnRef idx="0">
              <a:srgbClr val="FFFFFF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13" name="曲线连接符 212"/>
            <p:cNvCxnSpPr>
              <a:stCxn id="211" idx="3"/>
              <a:endCxn id="212" idx="0"/>
            </p:cNvCxnSpPr>
            <p:nvPr/>
          </p:nvCxnSpPr>
          <p:spPr>
            <a:xfrm>
              <a:off x="17724" y="2449"/>
              <a:ext cx="364" cy="650"/>
            </a:xfrm>
            <a:prstGeom prst="curvedConnector2">
              <a:avLst/>
            </a:prstGeom>
            <a:ln>
              <a:solidFill>
                <a:schemeClr val="accent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4" name="曲线连接符 213"/>
            <p:cNvCxnSpPr>
              <a:stCxn id="224" idx="3"/>
              <a:endCxn id="212" idx="2"/>
            </p:cNvCxnSpPr>
            <p:nvPr/>
          </p:nvCxnSpPr>
          <p:spPr>
            <a:xfrm flipV="1">
              <a:off x="17807" y="4074"/>
              <a:ext cx="281" cy="660"/>
            </a:xfrm>
            <a:prstGeom prst="curvedConnector2">
              <a:avLst/>
            </a:prstGeom>
            <a:ln>
              <a:solidFill>
                <a:schemeClr val="accent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16" name="文本框 215"/>
            <p:cNvSpPr txBox="1"/>
            <p:nvPr/>
          </p:nvSpPr>
          <p:spPr>
            <a:xfrm>
              <a:off x="16986" y="2253"/>
              <a:ext cx="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 b="1">
                  <a:sym typeface="+mn-ea"/>
                </a:rPr>
                <a:t>value</a:t>
              </a:r>
              <a:endParaRPr lang="en-US" altLang="zh-CN" sz="1000" b="1" i="1">
                <a:latin typeface="Cambria Math" panose="02040503050406030204" pitchFamily="18" charset="0"/>
                <a:ea typeface="微软雅黑" panose="020B0503020204020204" charset="-122"/>
                <a:cs typeface="Cambria Math" panose="02040503050406030204" pitchFamily="18" charset="0"/>
                <a:sym typeface="+mn-ea"/>
              </a:endParaRPr>
            </a:p>
          </p:txBody>
        </p:sp>
        <p:sp>
          <p:nvSpPr>
            <p:cNvPr id="218" name="矩形 217"/>
            <p:cNvSpPr/>
            <p:nvPr/>
          </p:nvSpPr>
          <p:spPr>
            <a:xfrm>
              <a:off x="17012" y="4452"/>
              <a:ext cx="760" cy="526"/>
            </a:xfrm>
            <a:prstGeom prst="rect">
              <a:avLst/>
            </a:prstGeom>
          </p:spPr>
          <p:style>
            <a:lnRef idx="0">
              <a:srgbClr val="FFFFFF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8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2" name="文本框 221"/>
              <p:cNvSpPr txBox="1"/>
              <p:nvPr/>
            </p:nvSpPr>
            <p:spPr>
              <a:xfrm rot="5400000">
                <a:off x="11247755" y="1464310"/>
                <a:ext cx="482600" cy="229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9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9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𝑩𝒊𝑳𝑺𝑻𝑴</m:t>
                          </m:r>
                        </m:sub>
                      </m:sSub>
                    </m:oMath>
                  </m:oMathPara>
                </a14:m>
                <a:endParaRPr lang="en-US" altLang="zh-CN" sz="900" b="1" i="1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22" name="文本框 2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247755" y="1464310"/>
                <a:ext cx="482600" cy="229870"/>
              </a:xfrm>
              <a:prstGeom prst="rect">
                <a:avLst/>
              </a:prstGeom>
              <a:blipFill rotWithShape="1">
                <a:blip r:embed="rId8"/>
                <a:stretch>
                  <a:fillRect l="26184" t="-54972" r="26184" b="-709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3" name="文本框 222"/>
              <p:cNvSpPr txBox="1"/>
              <p:nvPr/>
            </p:nvSpPr>
            <p:spPr>
              <a:xfrm rot="5400000">
                <a:off x="11247120" y="4438650"/>
                <a:ext cx="499110" cy="245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𝑅𝐹</m:t>
                          </m:r>
                        </m:sub>
                      </m:sSub>
                    </m:oMath>
                  </m:oMathPara>
                </a14:m>
                <a:endParaRPr lang="en-US" altLang="zh-CN" sz="1000" b="1">
                  <a:sym typeface="+mn-ea"/>
                </a:endParaRPr>
              </a:p>
            </p:txBody>
          </p:sp>
        </mc:Choice>
        <mc:Fallback>
          <p:sp>
            <p:nvSpPr>
              <p:cNvPr id="223" name="文本框 2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247120" y="4438650"/>
                <a:ext cx="499110" cy="245110"/>
              </a:xfrm>
              <a:prstGeom prst="rect">
                <a:avLst/>
              </a:prstGeom>
              <a:blipFill rotWithShape="1">
                <a:blip r:embed="rId9"/>
                <a:stretch>
                  <a:fillRect l="25445" t="-51813" r="25445" b="-518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4" name="文本框 223"/>
          <p:cNvSpPr txBox="1"/>
          <p:nvPr/>
        </p:nvSpPr>
        <p:spPr>
          <a:xfrm>
            <a:off x="10760710" y="5150485"/>
            <a:ext cx="546735" cy="248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 b="1" i="1">
                <a:latin typeface="Cambria Math" panose="02040503050406030204" pitchFamily="18" charset="0"/>
                <a:ea typeface="微软雅黑" panose="020B0503020204020204" charset="-122"/>
                <a:cs typeface="Cambria Math" panose="02040503050406030204" pitchFamily="18" charset="0"/>
              </a:rPr>
              <a:t>Predict</a:t>
            </a:r>
            <a:endParaRPr lang="en-US" altLang="zh-CN" sz="900" b="1" i="1">
              <a:latin typeface="Cambria Math" panose="02040503050406030204" pitchFamily="18" charset="0"/>
              <a:ea typeface="微软雅黑" panose="020B0503020204020204" charset="-122"/>
              <a:cs typeface="Cambria Math" panose="02040503050406030204" pitchFamily="18" charset="0"/>
            </a:endParaRPr>
          </a:p>
        </p:txBody>
      </p:sp>
      <p:sp>
        <p:nvSpPr>
          <p:cNvPr id="225" name="矩形: 圆角 50"/>
          <p:cNvSpPr/>
          <p:nvPr/>
        </p:nvSpPr>
        <p:spPr>
          <a:xfrm>
            <a:off x="133985" y="501650"/>
            <a:ext cx="1549400" cy="5251450"/>
          </a:xfrm>
          <a:prstGeom prst="roundRect">
            <a:avLst>
              <a:gd name="adj" fmla="val 6767"/>
            </a:avLst>
          </a:prstGeom>
          <a:noFill/>
          <a:ln w="28575">
            <a:solidFill>
              <a:schemeClr val="accent6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30" name="组合 229"/>
          <p:cNvGrpSpPr/>
          <p:nvPr/>
        </p:nvGrpSpPr>
        <p:grpSpPr>
          <a:xfrm rot="0">
            <a:off x="2106295" y="1518920"/>
            <a:ext cx="420370" cy="3239135"/>
            <a:chOff x="4105" y="4186"/>
            <a:chExt cx="662" cy="5101"/>
          </a:xfrm>
        </p:grpSpPr>
        <p:sp>
          <p:nvSpPr>
            <p:cNvPr id="228" name="箭头: 下 46"/>
            <p:cNvSpPr/>
            <p:nvPr/>
          </p:nvSpPr>
          <p:spPr>
            <a:xfrm rot="16200000">
              <a:off x="4199" y="4092"/>
              <a:ext cx="474" cy="663"/>
            </a:xfrm>
            <a:prstGeom prst="downArrow">
              <a:avLst>
                <a:gd name="adj1" fmla="val 51961"/>
                <a:gd name="adj2" fmla="val 86758"/>
              </a:avLst>
            </a:prstGeom>
            <a:gradFill flip="none" rotWithShape="1">
              <a:gsLst>
                <a:gs pos="0">
                  <a:schemeClr val="accent6">
                    <a:lumMod val="20000"/>
                    <a:lumOff val="80000"/>
                  </a:schemeClr>
                </a:gs>
                <a:gs pos="100000">
                  <a:schemeClr val="accent6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29" name="箭头: 下 46"/>
            <p:cNvSpPr/>
            <p:nvPr/>
          </p:nvSpPr>
          <p:spPr>
            <a:xfrm rot="16200000">
              <a:off x="4199" y="8719"/>
              <a:ext cx="474" cy="663"/>
            </a:xfrm>
            <a:prstGeom prst="downArrow">
              <a:avLst>
                <a:gd name="adj1" fmla="val 51961"/>
                <a:gd name="adj2" fmla="val 86758"/>
              </a:avLst>
            </a:prstGeom>
            <a:gradFill flip="none" rotWithShape="1">
              <a:gsLst>
                <a:gs pos="0">
                  <a:schemeClr val="accent6">
                    <a:lumMod val="20000"/>
                    <a:lumOff val="80000"/>
                  </a:schemeClr>
                </a:gs>
                <a:gs pos="100000">
                  <a:schemeClr val="accent6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pic>
        <p:nvPicPr>
          <p:cNvPr id="232" name="图片 23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7585" y="654685"/>
            <a:ext cx="3308350" cy="48272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40000" y="62992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文本框 138"/>
          <p:cNvSpPr txBox="1"/>
          <p:nvPr/>
        </p:nvSpPr>
        <p:spPr>
          <a:xfrm>
            <a:off x="14032230" y="5366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pSp>
        <p:nvGrpSpPr>
          <p:cNvPr id="41" name="组合 40"/>
          <p:cNvGrpSpPr/>
          <p:nvPr/>
        </p:nvGrpSpPr>
        <p:grpSpPr>
          <a:xfrm>
            <a:off x="109855" y="446405"/>
            <a:ext cx="11999595" cy="5306695"/>
            <a:chOff x="173" y="703"/>
            <a:chExt cx="18897" cy="8357"/>
          </a:xfrm>
        </p:grpSpPr>
        <p:sp>
          <p:nvSpPr>
            <p:cNvPr id="64" name="矩形: 圆角 50"/>
            <p:cNvSpPr/>
            <p:nvPr/>
          </p:nvSpPr>
          <p:spPr>
            <a:xfrm>
              <a:off x="16930" y="703"/>
              <a:ext cx="2140" cy="8198"/>
            </a:xfrm>
            <a:prstGeom prst="roundRect">
              <a:avLst>
                <a:gd name="adj" fmla="val 6767"/>
              </a:avLst>
            </a:prstGeom>
            <a:noFill/>
            <a:ln w="28575">
              <a:solidFill>
                <a:schemeClr val="accent6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2" name="箭头: 下 46"/>
            <p:cNvSpPr/>
            <p:nvPr>
              <p:custDataLst>
                <p:tags r:id="rId1"/>
              </p:custDataLst>
            </p:nvPr>
          </p:nvSpPr>
          <p:spPr>
            <a:xfrm rot="16200000">
              <a:off x="16727" y="2155"/>
              <a:ext cx="474" cy="663"/>
            </a:xfrm>
            <a:prstGeom prst="downArrow">
              <a:avLst>
                <a:gd name="adj1" fmla="val 51961"/>
                <a:gd name="adj2" fmla="val 86758"/>
              </a:avLst>
            </a:prstGeom>
            <a:gradFill flip="none" rotWithShape="1">
              <a:gsLst>
                <a:gs pos="0">
                  <a:schemeClr val="accent6">
                    <a:lumMod val="20000"/>
                    <a:lumOff val="80000"/>
                  </a:schemeClr>
                </a:gs>
                <a:gs pos="100000">
                  <a:schemeClr val="accent6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78" name="矩形 77"/>
            <p:cNvSpPr/>
            <p:nvPr/>
          </p:nvSpPr>
          <p:spPr>
            <a:xfrm>
              <a:off x="18168" y="4193"/>
              <a:ext cx="822" cy="567"/>
            </a:xfrm>
            <a:prstGeom prst="rect">
              <a:avLst/>
            </a:prstGeom>
            <a:solidFill>
              <a:srgbClr val="B3D4A4"/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输出</a:t>
              </a:r>
              <a:endPara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79" name="曲线连接符 78"/>
            <p:cNvCxnSpPr>
              <a:stCxn id="73" idx="3"/>
              <a:endCxn id="78" idx="2"/>
            </p:cNvCxnSpPr>
            <p:nvPr/>
          </p:nvCxnSpPr>
          <p:spPr>
            <a:xfrm flipV="1">
              <a:off x="18212" y="4760"/>
              <a:ext cx="367" cy="2030"/>
            </a:xfrm>
            <a:prstGeom prst="curvedConnector2">
              <a:avLst/>
            </a:prstGeom>
            <a:ln>
              <a:solidFill>
                <a:schemeClr val="accent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03" name="组合 102"/>
            <p:cNvGrpSpPr/>
            <p:nvPr/>
          </p:nvGrpSpPr>
          <p:grpSpPr>
            <a:xfrm rot="0">
              <a:off x="3892" y="1031"/>
              <a:ext cx="6171" cy="7794"/>
              <a:chOff x="3868" y="2131"/>
              <a:chExt cx="6171" cy="7541"/>
            </a:xfrm>
          </p:grpSpPr>
          <p:pic>
            <p:nvPicPr>
              <p:cNvPr id="44" name="图片 6" descr="点击查看图片来源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12" y="6165"/>
                <a:ext cx="6027" cy="3507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51" name="文本框 50"/>
              <p:cNvSpPr txBox="1"/>
              <p:nvPr/>
            </p:nvSpPr>
            <p:spPr>
              <a:xfrm>
                <a:off x="3876" y="6140"/>
                <a:ext cx="2072" cy="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 b="1">
                    <a:solidFill>
                      <a:schemeClr val="accent6"/>
                    </a:solidFill>
                  </a:rPr>
                  <a:t>RF</a:t>
                </a:r>
                <a:r>
                  <a:rPr lang="zh-CN" altLang="en-US" sz="1600" b="1">
                    <a:solidFill>
                      <a:schemeClr val="accent6"/>
                    </a:solidFill>
                  </a:rPr>
                  <a:t>随机森林</a:t>
                </a:r>
                <a:endParaRPr lang="zh-CN" altLang="en-US" sz="1600" b="1">
                  <a:solidFill>
                    <a:schemeClr val="accent6"/>
                  </a:solidFill>
                </a:endParaRPr>
              </a:p>
            </p:txBody>
          </p:sp>
          <p:pic>
            <p:nvPicPr>
              <p:cNvPr id="81" name="图片 80" descr="7907c8e9ce2126cb2d01792e0564d97d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52" y="2615"/>
                <a:ext cx="6087" cy="2673"/>
              </a:xfrm>
              <a:prstGeom prst="rect">
                <a:avLst/>
              </a:prstGeom>
            </p:spPr>
          </p:pic>
          <p:sp>
            <p:nvSpPr>
              <p:cNvPr id="50" name="文本框 49"/>
              <p:cNvSpPr txBox="1"/>
              <p:nvPr/>
            </p:nvSpPr>
            <p:spPr>
              <a:xfrm>
                <a:off x="3868" y="2131"/>
                <a:ext cx="2718" cy="5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b="1">
                    <a:solidFill>
                      <a:schemeClr val="accent6"/>
                    </a:solidFill>
                  </a:rPr>
                  <a:t>优化</a:t>
                </a:r>
                <a:r>
                  <a:rPr lang="en-US" altLang="zh-CN" b="1">
                    <a:solidFill>
                      <a:schemeClr val="accent6"/>
                    </a:solidFill>
                  </a:rPr>
                  <a:t>BiLSTM</a:t>
                </a:r>
                <a:endParaRPr lang="en-US" altLang="zh-CN" b="1">
                  <a:solidFill>
                    <a:schemeClr val="accent6"/>
                  </a:solidFill>
                </a:endParaRPr>
              </a:p>
            </p:txBody>
          </p:sp>
        </p:grpSp>
        <p:sp>
          <p:nvSpPr>
            <p:cNvPr id="104" name="矩形: 圆角 50"/>
            <p:cNvSpPr/>
            <p:nvPr/>
          </p:nvSpPr>
          <p:spPr>
            <a:xfrm>
              <a:off x="3620" y="776"/>
              <a:ext cx="6809" cy="8284"/>
            </a:xfrm>
            <a:prstGeom prst="roundRect">
              <a:avLst>
                <a:gd name="adj" fmla="val 6767"/>
              </a:avLst>
            </a:prstGeom>
            <a:noFill/>
            <a:ln w="28575">
              <a:solidFill>
                <a:schemeClr val="accent6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5" name="矩形 104"/>
            <p:cNvSpPr/>
            <p:nvPr/>
          </p:nvSpPr>
          <p:spPr>
            <a:xfrm>
              <a:off x="3900" y="1031"/>
              <a:ext cx="6298" cy="3657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en-US" altLang="zh-CN" sz="1600" dirty="0">
                <a:ln>
                  <a:solidFill>
                    <a:srgbClr val="E98D05"/>
                  </a:solidFill>
                </a:ln>
                <a:solidFill>
                  <a:srgbClr val="E98D0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矩形 105"/>
            <p:cNvSpPr/>
            <p:nvPr/>
          </p:nvSpPr>
          <p:spPr>
            <a:xfrm>
              <a:off x="3892" y="5068"/>
              <a:ext cx="6298" cy="3830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en-US" altLang="zh-CN" sz="1600" dirty="0">
                <a:ln>
                  <a:solidFill>
                    <a:srgbClr val="E98D05"/>
                  </a:solidFill>
                </a:ln>
                <a:solidFill>
                  <a:srgbClr val="E98D0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7" name="组合 226"/>
            <p:cNvGrpSpPr/>
            <p:nvPr/>
          </p:nvGrpSpPr>
          <p:grpSpPr>
            <a:xfrm rot="0">
              <a:off x="2903" y="776"/>
              <a:ext cx="439" cy="8284"/>
              <a:chOff x="2903" y="1876"/>
              <a:chExt cx="439" cy="8284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2903" y="1876"/>
                <a:ext cx="414" cy="8284"/>
              </a:xfrm>
              <a:prstGeom prst="rect">
                <a:avLst/>
              </a:prstGeom>
              <a:noFill/>
              <a:ln w="19050">
                <a:solidFill>
                  <a:srgbClr val="9F6055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b="1" dirty="0">
                    <a:solidFill>
                      <a:srgbClr val="8D6C67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CN" sz="900" b="1" dirty="0">
                  <a:solidFill>
                    <a:srgbClr val="8D6C6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" name="文本框 110"/>
              <p:cNvSpPr txBox="1"/>
              <p:nvPr/>
            </p:nvSpPr>
            <p:spPr>
              <a:xfrm rot="5400000">
                <a:off x="-871" y="5713"/>
                <a:ext cx="8036" cy="39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 sz="1200" b="1">
                    <a:solidFill>
                      <a:srgbClr val="9F6055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贝叶斯优化</a:t>
                </a:r>
                <a:r>
                  <a:rPr lang="zh-CN" altLang="en-US" sz="1200" b="1">
                    <a:solidFill>
                      <a:srgbClr val="9F6055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算法：超参数算法调优</a:t>
                </a:r>
                <a:endParaRPr lang="zh-CN" altLang="en-US" sz="1200" b="1">
                  <a:solidFill>
                    <a:srgbClr val="9F6055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82" name="文本框 81"/>
            <p:cNvSpPr txBox="1"/>
            <p:nvPr/>
          </p:nvSpPr>
          <p:spPr>
            <a:xfrm rot="5400000">
              <a:off x="6931" y="4621"/>
              <a:ext cx="812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>
                  <a:solidFill>
                    <a:srgbClr val="9F6055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数据集划分</a:t>
              </a:r>
              <a:r>
                <a:rPr lang="en-US" altLang="zh-CN" sz="1200" b="1">
                  <a:solidFill>
                    <a:srgbClr val="9F6055"/>
                  </a:solidFill>
                  <a:latin typeface="微软雅黑" panose="020B0503020204020204" charset="-122"/>
                  <a:ea typeface="微软雅黑" panose="020B0503020204020204" charset="-122"/>
                </a:rPr>
                <a:t>-10</a:t>
              </a:r>
              <a:r>
                <a:rPr lang="zh-CN" altLang="en-US" sz="1200" b="1">
                  <a:solidFill>
                    <a:srgbClr val="9F6055"/>
                  </a:solidFill>
                  <a:latin typeface="微软雅黑" panose="020B0503020204020204" charset="-122"/>
                  <a:ea typeface="微软雅黑" panose="020B0503020204020204" charset="-122"/>
                </a:rPr>
                <a:t>折交叉</a:t>
              </a:r>
              <a:r>
                <a:rPr lang="zh-CN" altLang="en-US" sz="1200" b="1">
                  <a:solidFill>
                    <a:srgbClr val="9F6055"/>
                  </a:solidFill>
                  <a:latin typeface="微软雅黑" panose="020B0503020204020204" charset="-122"/>
                  <a:ea typeface="微软雅黑" panose="020B0503020204020204" charset="-122"/>
                </a:rPr>
                <a:t>验证</a:t>
              </a:r>
              <a:endParaRPr lang="zh-CN" altLang="en-US" sz="1200" b="1">
                <a:solidFill>
                  <a:srgbClr val="9F605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10773" y="775"/>
              <a:ext cx="414" cy="8123"/>
            </a:xfrm>
            <a:prstGeom prst="rect">
              <a:avLst/>
            </a:prstGeom>
            <a:noFill/>
            <a:ln w="19050">
              <a:solidFill>
                <a:srgbClr val="9F6055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r>
                <a:rPr lang="en-US" altLang="zh-CN" sz="900" b="1" dirty="0">
                  <a:solidFill>
                    <a:srgbClr val="8D6C6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zh-CN" sz="900" b="1" dirty="0">
                <a:solidFill>
                  <a:srgbClr val="8D6C67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31" name="组合 230"/>
            <p:cNvGrpSpPr/>
            <p:nvPr/>
          </p:nvGrpSpPr>
          <p:grpSpPr>
            <a:xfrm rot="0">
              <a:off x="10423" y="1784"/>
              <a:ext cx="358" cy="6090"/>
              <a:chOff x="10423" y="2884"/>
              <a:chExt cx="358" cy="6090"/>
            </a:xfrm>
          </p:grpSpPr>
          <p:grpSp>
            <p:nvGrpSpPr>
              <p:cNvPr id="117" name="组合 116"/>
              <p:cNvGrpSpPr/>
              <p:nvPr/>
            </p:nvGrpSpPr>
            <p:grpSpPr>
              <a:xfrm>
                <a:off x="10430" y="2884"/>
                <a:ext cx="334" cy="856"/>
                <a:chOff x="10430" y="2884"/>
                <a:chExt cx="334" cy="856"/>
              </a:xfrm>
            </p:grpSpPr>
            <p:cxnSp>
              <p:nvCxnSpPr>
                <p:cNvPr id="115" name="直接箭头连接符 114"/>
                <p:cNvCxnSpPr/>
                <p:nvPr/>
              </p:nvCxnSpPr>
              <p:spPr>
                <a:xfrm>
                  <a:off x="10430" y="2884"/>
                  <a:ext cx="327" cy="0"/>
                </a:xfrm>
                <a:prstGeom prst="straightConnector1">
                  <a:avLst/>
                </a:prstGeom>
                <a:ln>
                  <a:solidFill>
                    <a:schemeClr val="accent6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直接箭头连接符 113"/>
                <p:cNvCxnSpPr/>
                <p:nvPr/>
              </p:nvCxnSpPr>
              <p:spPr>
                <a:xfrm>
                  <a:off x="10438" y="3324"/>
                  <a:ext cx="327" cy="0"/>
                </a:xfrm>
                <a:prstGeom prst="straightConnector1">
                  <a:avLst/>
                </a:prstGeom>
                <a:ln>
                  <a:solidFill>
                    <a:schemeClr val="accent6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接箭头连接符 115"/>
                <p:cNvCxnSpPr/>
                <p:nvPr/>
              </p:nvCxnSpPr>
              <p:spPr>
                <a:xfrm>
                  <a:off x="10434" y="3740"/>
                  <a:ext cx="327" cy="0"/>
                </a:xfrm>
                <a:prstGeom prst="straightConnector1">
                  <a:avLst/>
                </a:prstGeom>
                <a:ln>
                  <a:solidFill>
                    <a:schemeClr val="accent6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8" name="组合 117"/>
              <p:cNvGrpSpPr/>
              <p:nvPr/>
            </p:nvGrpSpPr>
            <p:grpSpPr>
              <a:xfrm>
                <a:off x="10443" y="4221"/>
                <a:ext cx="334" cy="856"/>
                <a:chOff x="10430" y="2884"/>
                <a:chExt cx="334" cy="856"/>
              </a:xfrm>
            </p:grpSpPr>
            <p:cxnSp>
              <p:nvCxnSpPr>
                <p:cNvPr id="119" name="直接箭头连接符 118"/>
                <p:cNvCxnSpPr/>
                <p:nvPr/>
              </p:nvCxnSpPr>
              <p:spPr>
                <a:xfrm>
                  <a:off x="10430" y="2884"/>
                  <a:ext cx="327" cy="0"/>
                </a:xfrm>
                <a:prstGeom prst="straightConnector1">
                  <a:avLst/>
                </a:prstGeom>
                <a:ln>
                  <a:solidFill>
                    <a:schemeClr val="accent6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直接箭头连接符 119"/>
                <p:cNvCxnSpPr/>
                <p:nvPr/>
              </p:nvCxnSpPr>
              <p:spPr>
                <a:xfrm>
                  <a:off x="10438" y="3324"/>
                  <a:ext cx="327" cy="0"/>
                </a:xfrm>
                <a:prstGeom prst="straightConnector1">
                  <a:avLst/>
                </a:prstGeom>
                <a:ln>
                  <a:solidFill>
                    <a:schemeClr val="accent6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直接箭头连接符 120"/>
                <p:cNvCxnSpPr/>
                <p:nvPr/>
              </p:nvCxnSpPr>
              <p:spPr>
                <a:xfrm>
                  <a:off x="10434" y="3740"/>
                  <a:ext cx="327" cy="0"/>
                </a:xfrm>
                <a:prstGeom prst="straightConnector1">
                  <a:avLst/>
                </a:prstGeom>
                <a:ln>
                  <a:solidFill>
                    <a:schemeClr val="accent6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2" name="组合 121"/>
              <p:cNvGrpSpPr/>
              <p:nvPr/>
            </p:nvGrpSpPr>
            <p:grpSpPr>
              <a:xfrm>
                <a:off x="10423" y="5612"/>
                <a:ext cx="334" cy="856"/>
                <a:chOff x="10430" y="2884"/>
                <a:chExt cx="334" cy="856"/>
              </a:xfrm>
            </p:grpSpPr>
            <p:cxnSp>
              <p:nvCxnSpPr>
                <p:cNvPr id="125" name="直接箭头连接符 124"/>
                <p:cNvCxnSpPr/>
                <p:nvPr/>
              </p:nvCxnSpPr>
              <p:spPr>
                <a:xfrm>
                  <a:off x="10430" y="2884"/>
                  <a:ext cx="327" cy="0"/>
                </a:xfrm>
                <a:prstGeom prst="straightConnector1">
                  <a:avLst/>
                </a:prstGeom>
                <a:ln>
                  <a:solidFill>
                    <a:schemeClr val="accent6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箭头连接符 125"/>
                <p:cNvCxnSpPr/>
                <p:nvPr/>
              </p:nvCxnSpPr>
              <p:spPr>
                <a:xfrm>
                  <a:off x="10438" y="3324"/>
                  <a:ext cx="327" cy="0"/>
                </a:xfrm>
                <a:prstGeom prst="straightConnector1">
                  <a:avLst/>
                </a:prstGeom>
                <a:ln>
                  <a:solidFill>
                    <a:schemeClr val="accent6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箭头连接符 126"/>
                <p:cNvCxnSpPr/>
                <p:nvPr/>
              </p:nvCxnSpPr>
              <p:spPr>
                <a:xfrm>
                  <a:off x="10434" y="3740"/>
                  <a:ext cx="327" cy="0"/>
                </a:xfrm>
                <a:prstGeom prst="straightConnector1">
                  <a:avLst/>
                </a:prstGeom>
                <a:ln>
                  <a:solidFill>
                    <a:schemeClr val="accent6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8" name="组合 127"/>
              <p:cNvGrpSpPr/>
              <p:nvPr/>
            </p:nvGrpSpPr>
            <p:grpSpPr>
              <a:xfrm>
                <a:off x="10427" y="6862"/>
                <a:ext cx="334" cy="856"/>
                <a:chOff x="10430" y="2884"/>
                <a:chExt cx="334" cy="856"/>
              </a:xfrm>
            </p:grpSpPr>
            <p:cxnSp>
              <p:nvCxnSpPr>
                <p:cNvPr id="129" name="直接箭头连接符 128"/>
                <p:cNvCxnSpPr/>
                <p:nvPr/>
              </p:nvCxnSpPr>
              <p:spPr>
                <a:xfrm>
                  <a:off x="10430" y="2884"/>
                  <a:ext cx="327" cy="0"/>
                </a:xfrm>
                <a:prstGeom prst="straightConnector1">
                  <a:avLst/>
                </a:prstGeom>
                <a:ln>
                  <a:solidFill>
                    <a:schemeClr val="accent6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箭头连接符 129"/>
                <p:cNvCxnSpPr/>
                <p:nvPr/>
              </p:nvCxnSpPr>
              <p:spPr>
                <a:xfrm>
                  <a:off x="10438" y="3324"/>
                  <a:ext cx="327" cy="0"/>
                </a:xfrm>
                <a:prstGeom prst="straightConnector1">
                  <a:avLst/>
                </a:prstGeom>
                <a:ln>
                  <a:solidFill>
                    <a:schemeClr val="accent6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直接箭头连接符 132"/>
                <p:cNvCxnSpPr/>
                <p:nvPr/>
              </p:nvCxnSpPr>
              <p:spPr>
                <a:xfrm>
                  <a:off x="10434" y="3740"/>
                  <a:ext cx="327" cy="0"/>
                </a:xfrm>
                <a:prstGeom prst="straightConnector1">
                  <a:avLst/>
                </a:prstGeom>
                <a:ln>
                  <a:solidFill>
                    <a:schemeClr val="accent6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4" name="组合 133"/>
              <p:cNvGrpSpPr/>
              <p:nvPr/>
            </p:nvGrpSpPr>
            <p:grpSpPr>
              <a:xfrm>
                <a:off x="10447" y="8118"/>
                <a:ext cx="334" cy="856"/>
                <a:chOff x="10430" y="2884"/>
                <a:chExt cx="334" cy="856"/>
              </a:xfrm>
            </p:grpSpPr>
            <p:cxnSp>
              <p:nvCxnSpPr>
                <p:cNvPr id="136" name="直接箭头连接符 135"/>
                <p:cNvCxnSpPr/>
                <p:nvPr/>
              </p:nvCxnSpPr>
              <p:spPr>
                <a:xfrm>
                  <a:off x="10430" y="2884"/>
                  <a:ext cx="327" cy="0"/>
                </a:xfrm>
                <a:prstGeom prst="straightConnector1">
                  <a:avLst/>
                </a:prstGeom>
                <a:ln>
                  <a:solidFill>
                    <a:schemeClr val="accent6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直接箭头连接符 136"/>
                <p:cNvCxnSpPr/>
                <p:nvPr/>
              </p:nvCxnSpPr>
              <p:spPr>
                <a:xfrm>
                  <a:off x="10438" y="3324"/>
                  <a:ext cx="327" cy="0"/>
                </a:xfrm>
                <a:prstGeom prst="straightConnector1">
                  <a:avLst/>
                </a:prstGeom>
                <a:ln>
                  <a:solidFill>
                    <a:schemeClr val="accent6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直接箭头连接符 137"/>
                <p:cNvCxnSpPr/>
                <p:nvPr/>
              </p:nvCxnSpPr>
              <p:spPr>
                <a:xfrm>
                  <a:off x="10434" y="3740"/>
                  <a:ext cx="327" cy="0"/>
                </a:xfrm>
                <a:prstGeom prst="straightConnector1">
                  <a:avLst/>
                </a:prstGeom>
                <a:ln>
                  <a:solidFill>
                    <a:schemeClr val="accent6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00" name="矩形: 圆角 50"/>
            <p:cNvSpPr/>
            <p:nvPr/>
          </p:nvSpPr>
          <p:spPr>
            <a:xfrm>
              <a:off x="11386" y="703"/>
              <a:ext cx="5396" cy="8198"/>
            </a:xfrm>
            <a:prstGeom prst="roundRect">
              <a:avLst>
                <a:gd name="adj" fmla="val 4299"/>
              </a:avLst>
            </a:prstGeom>
            <a:noFill/>
            <a:ln w="28575">
              <a:solidFill>
                <a:schemeClr val="accent6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2" name="箭头: 下 46"/>
            <p:cNvSpPr/>
            <p:nvPr>
              <p:custDataLst>
                <p:tags r:id="rId4"/>
              </p:custDataLst>
            </p:nvPr>
          </p:nvSpPr>
          <p:spPr>
            <a:xfrm rot="16200000">
              <a:off x="16727" y="6782"/>
              <a:ext cx="474" cy="663"/>
            </a:xfrm>
            <a:prstGeom prst="downArrow">
              <a:avLst>
                <a:gd name="adj1" fmla="val 51961"/>
                <a:gd name="adj2" fmla="val 86758"/>
              </a:avLst>
            </a:prstGeom>
            <a:gradFill flip="none" rotWithShape="1">
              <a:gsLst>
                <a:gs pos="0">
                  <a:schemeClr val="accent6">
                    <a:lumMod val="20000"/>
                    <a:lumOff val="80000"/>
                  </a:schemeClr>
                </a:gs>
                <a:gs pos="100000">
                  <a:schemeClr val="accent6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grpSp>
          <p:nvGrpSpPr>
            <p:cNvPr id="208" name="组合 207"/>
            <p:cNvGrpSpPr/>
            <p:nvPr>
              <p:custDataLst>
                <p:tags r:id="rId5"/>
              </p:custDataLst>
            </p:nvPr>
          </p:nvGrpSpPr>
          <p:grpSpPr>
            <a:xfrm rot="0">
              <a:off x="16931" y="1086"/>
              <a:ext cx="1648" cy="3107"/>
              <a:chOff x="16931" y="2186"/>
              <a:chExt cx="1648" cy="3107"/>
            </a:xfrm>
          </p:grpSpPr>
          <p:sp>
            <p:nvSpPr>
              <p:cNvPr id="67" name="矩形 66"/>
              <p:cNvSpPr/>
              <p:nvPr>
                <p:custDataLst>
                  <p:tags r:id="rId6"/>
                </p:custDataLst>
              </p:nvPr>
            </p:nvSpPr>
            <p:spPr>
              <a:xfrm>
                <a:off x="17036" y="2186"/>
                <a:ext cx="688" cy="526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800" b="1" i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72" name="圆角矩形 71"/>
              <p:cNvSpPr/>
              <p:nvPr>
                <p:custDataLst>
                  <p:tags r:id="rId7"/>
                </p:custDataLst>
              </p:nvPr>
            </p:nvSpPr>
            <p:spPr>
              <a:xfrm>
                <a:off x="17912" y="3099"/>
                <a:ext cx="351" cy="975"/>
              </a:xfrm>
              <a:prstGeom prst="roundRect">
                <a:avLst/>
              </a:prstGeom>
              <a:solidFill>
                <a:srgbClr val="B3D4A4"/>
              </a:solidFill>
            </p:spPr>
            <p:style>
              <a:lnRef idx="0">
                <a:srgbClr val="FFFFFF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4" name="曲线连接符 73"/>
              <p:cNvCxnSpPr>
                <a:stCxn id="67" idx="3"/>
                <a:endCxn id="72" idx="0"/>
              </p:cNvCxnSpPr>
              <p:nvPr>
                <p:custDataLst>
                  <p:tags r:id="rId8"/>
                </p:custDataLst>
              </p:nvPr>
            </p:nvCxnSpPr>
            <p:spPr>
              <a:xfrm>
                <a:off x="17724" y="2449"/>
                <a:ext cx="364" cy="650"/>
              </a:xfrm>
              <a:prstGeom prst="curvedConnector2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  <a:tailEnd type="arrow" w="med" len="med"/>
              </a:ln>
            </p:spPr>
            <p:style>
              <a:lnRef idx="2">
                <a:schemeClr val="accent6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5" name="曲线连接符 74"/>
              <p:cNvCxnSpPr>
                <a:stCxn id="205" idx="3"/>
                <a:endCxn id="72" idx="2"/>
              </p:cNvCxnSpPr>
              <p:nvPr>
                <p:custDataLst>
                  <p:tags r:id="rId9"/>
                </p:custDataLst>
              </p:nvPr>
            </p:nvCxnSpPr>
            <p:spPr>
              <a:xfrm flipV="1">
                <a:off x="17772" y="4074"/>
                <a:ext cx="316" cy="691"/>
              </a:xfrm>
              <a:prstGeom prst="curvedConnector2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0" name="曲线连接符 79"/>
              <p:cNvCxnSpPr>
                <a:stCxn id="72" idx="3"/>
                <a:endCxn id="78" idx="0"/>
              </p:cNvCxnSpPr>
              <p:nvPr/>
            </p:nvCxnSpPr>
            <p:spPr>
              <a:xfrm>
                <a:off x="18263" y="3587"/>
                <a:ext cx="316" cy="1706"/>
              </a:xfrm>
              <a:prstGeom prst="curvedConnector2">
                <a:avLst/>
              </a:prstGeom>
              <a:ln>
                <a:solidFill>
                  <a:schemeClr val="accent6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03" name="文本框 202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6931" y="2273"/>
                <a:ext cx="861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900" b="1" i="1"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预测</a:t>
                </a:r>
                <a:r>
                  <a:rPr lang="zh-CN" altLang="en-US" sz="900" b="1" i="1"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值</a:t>
                </a:r>
                <a:endParaRPr lang="zh-CN" altLang="en-US" sz="900" b="1" i="1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  <p:grpSp>
            <p:nvGrpSpPr>
              <p:cNvPr id="206" name="组合 205"/>
              <p:cNvGrpSpPr/>
              <p:nvPr/>
            </p:nvGrpSpPr>
            <p:grpSpPr>
              <a:xfrm>
                <a:off x="16986" y="4408"/>
                <a:ext cx="786" cy="694"/>
                <a:chOff x="17052" y="4723"/>
                <a:chExt cx="786" cy="694"/>
              </a:xfrm>
            </p:grpSpPr>
            <p:sp>
              <p:nvSpPr>
                <p:cNvPr id="204" name="矩形 203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17078" y="4767"/>
                  <a:ext cx="760" cy="526"/>
                </a:xfrm>
                <a:prstGeom prst="rect">
                  <a:avLst/>
                </a:prstGeom>
              </p:spPr>
              <p:style>
                <a:lnRef idx="0">
                  <a:srgbClr val="FFFFFF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800" b="1" i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205" name="文本框 204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17052" y="4723"/>
                  <a:ext cx="786" cy="6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pPr algn="ctr"/>
                  <a:r>
                    <a:rPr lang="zh-CN" altLang="en-US" sz="1000" b="1"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组合加权</a:t>
                  </a:r>
                  <a:endParaRPr lang="zh-CN" altLang="en-US" sz="1000" b="1"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</p:grpSp>
        </p:grpSp>
        <p:grpSp>
          <p:nvGrpSpPr>
            <p:cNvPr id="210" name="组合 209"/>
            <p:cNvGrpSpPr/>
            <p:nvPr>
              <p:custDataLst>
                <p:tags r:id="rId13"/>
              </p:custDataLst>
            </p:nvPr>
          </p:nvGrpSpPr>
          <p:grpSpPr>
            <a:xfrm rot="0">
              <a:off x="16986" y="5706"/>
              <a:ext cx="1277" cy="2845"/>
              <a:chOff x="16986" y="2133"/>
              <a:chExt cx="1277" cy="2845"/>
            </a:xfrm>
          </p:grpSpPr>
          <p:sp>
            <p:nvSpPr>
              <p:cNvPr id="211" name="矩形 210"/>
              <p:cNvSpPr/>
              <p:nvPr>
                <p:custDataLst>
                  <p:tags r:id="rId14"/>
                </p:custDataLst>
              </p:nvPr>
            </p:nvSpPr>
            <p:spPr>
              <a:xfrm>
                <a:off x="17036" y="2186"/>
                <a:ext cx="688" cy="526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800" b="1" i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12" name="圆角矩形 211"/>
              <p:cNvSpPr/>
              <p:nvPr>
                <p:custDataLst>
                  <p:tags r:id="rId15"/>
                </p:custDataLst>
              </p:nvPr>
            </p:nvSpPr>
            <p:spPr>
              <a:xfrm>
                <a:off x="17912" y="3099"/>
                <a:ext cx="351" cy="975"/>
              </a:xfrm>
              <a:prstGeom prst="roundRect">
                <a:avLst/>
              </a:prstGeom>
              <a:solidFill>
                <a:srgbClr val="B3D4A4"/>
              </a:solidFill>
            </p:spPr>
            <p:style>
              <a:lnRef idx="0">
                <a:srgbClr val="FFFFFF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13" name="曲线连接符 212"/>
              <p:cNvCxnSpPr>
                <a:stCxn id="211" idx="3"/>
                <a:endCxn id="212" idx="0"/>
              </p:cNvCxnSpPr>
              <p:nvPr>
                <p:custDataLst>
                  <p:tags r:id="rId16"/>
                </p:custDataLst>
              </p:nvPr>
            </p:nvCxnSpPr>
            <p:spPr>
              <a:xfrm>
                <a:off x="17724" y="2449"/>
                <a:ext cx="364" cy="650"/>
              </a:xfrm>
              <a:prstGeom prst="curvedConnector2">
                <a:avLst/>
              </a:prstGeom>
              <a:ln>
                <a:solidFill>
                  <a:schemeClr val="accent6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4" name="曲线连接符 213"/>
              <p:cNvCxnSpPr>
                <a:stCxn id="224" idx="3"/>
                <a:endCxn id="212" idx="2"/>
              </p:cNvCxnSpPr>
              <p:nvPr>
                <p:custDataLst>
                  <p:tags r:id="rId17"/>
                </p:custDataLst>
              </p:nvPr>
            </p:nvCxnSpPr>
            <p:spPr>
              <a:xfrm flipV="1">
                <a:off x="17807" y="4074"/>
                <a:ext cx="281" cy="660"/>
              </a:xfrm>
              <a:prstGeom prst="curvedConnector2">
                <a:avLst/>
              </a:prstGeom>
              <a:ln>
                <a:solidFill>
                  <a:schemeClr val="accent6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16" name="文本框 215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16986" y="2133"/>
                <a:ext cx="787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 b="1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组合加权</a:t>
                </a:r>
                <a:endParaRPr lang="en-US" altLang="zh-CN" sz="1000" b="1" i="1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  <a:sym typeface="+mn-ea"/>
                </a:endParaRPr>
              </a:p>
            </p:txBody>
          </p:sp>
          <p:sp>
            <p:nvSpPr>
              <p:cNvPr id="218" name="矩形 217"/>
              <p:cNvSpPr/>
              <p:nvPr>
                <p:custDataLst>
                  <p:tags r:id="rId19"/>
                </p:custDataLst>
              </p:nvPr>
            </p:nvSpPr>
            <p:spPr>
              <a:xfrm>
                <a:off x="17012" y="4452"/>
                <a:ext cx="760" cy="526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800" b="1" i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2" name="文本框 221"/>
                <p:cNvSpPr txBox="1"/>
                <p:nvPr/>
              </p:nvSpPr>
              <p:spPr>
                <a:xfrm rot="5400000">
                  <a:off x="17713" y="2306"/>
                  <a:ext cx="760" cy="3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900" b="1" i="1"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900" b="1" i="1"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altLang="zh-CN" sz="900" b="1" i="1"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  <m:t>𝑩𝒊𝑳𝑺𝑻𝑴</m:t>
                            </m:r>
                          </m:sub>
                        </m:sSub>
                      </m:oMath>
                    </m:oMathPara>
                  </a14:m>
                  <a:endParaRPr lang="en-US" altLang="zh-CN" sz="900" b="1" i="1"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22" name="文本框 2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7713" y="2306"/>
                  <a:ext cx="760" cy="362"/>
                </a:xfrm>
                <a:prstGeom prst="rect">
                  <a:avLst/>
                </a:prstGeom>
                <a:blipFill rotWithShape="1">
                  <a:blip r:embed="rId2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3" name="文本框 222"/>
                <p:cNvSpPr txBox="1"/>
                <p:nvPr/>
              </p:nvSpPr>
              <p:spPr>
                <a:xfrm rot="5400000">
                  <a:off x="17712" y="6990"/>
                  <a:ext cx="786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000" b="1" i="1"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1" i="1"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altLang="zh-CN" sz="1000" b="1" i="1"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  <m:t>𝑅𝐹</m:t>
                            </m:r>
                          </m:sub>
                        </m:sSub>
                      </m:oMath>
                    </m:oMathPara>
                  </a14:m>
                  <a:endParaRPr lang="en-US" altLang="zh-CN" sz="1000" b="1">
                    <a:sym typeface="+mn-ea"/>
                  </a:endParaRPr>
                </a:p>
              </p:txBody>
            </p:sp>
          </mc:Choice>
          <mc:Fallback>
            <p:sp>
              <p:nvSpPr>
                <p:cNvPr id="223" name="文本框 2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7712" y="6990"/>
                  <a:ext cx="786" cy="386"/>
                </a:xfrm>
                <a:prstGeom prst="rect">
                  <a:avLst/>
                </a:prstGeom>
                <a:blipFill rotWithShape="1">
                  <a:blip r:embed="rId2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4" name="文本框 223"/>
            <p:cNvSpPr txBox="1"/>
            <p:nvPr>
              <p:custDataLst>
                <p:tags r:id="rId22"/>
              </p:custDataLst>
            </p:nvPr>
          </p:nvSpPr>
          <p:spPr>
            <a:xfrm>
              <a:off x="16946" y="8111"/>
              <a:ext cx="861" cy="3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900" b="1" i="1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rPr>
                <a:t>预测</a:t>
              </a:r>
              <a:r>
                <a:rPr lang="zh-CN" altLang="en-US" sz="900" b="1" i="1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rPr>
                <a:t>值</a:t>
              </a:r>
              <a:endParaRPr lang="zh-CN" altLang="en-US" sz="900" b="1" i="1">
                <a:latin typeface="Cambria Math" panose="02040503050406030204" pitchFamily="18" charset="0"/>
                <a:ea typeface="微软雅黑" panose="020B0503020204020204" charset="-122"/>
                <a:cs typeface="Cambria Math" panose="02040503050406030204" pitchFamily="18" charset="0"/>
              </a:endParaRPr>
            </a:p>
          </p:txBody>
        </p:sp>
        <p:grpSp>
          <p:nvGrpSpPr>
            <p:cNvPr id="230" name="组合 229"/>
            <p:cNvGrpSpPr/>
            <p:nvPr/>
          </p:nvGrpSpPr>
          <p:grpSpPr>
            <a:xfrm rot="0">
              <a:off x="3317" y="2392"/>
              <a:ext cx="662" cy="5101"/>
              <a:chOff x="4105" y="4186"/>
              <a:chExt cx="662" cy="5101"/>
            </a:xfrm>
          </p:grpSpPr>
          <p:sp>
            <p:nvSpPr>
              <p:cNvPr id="228" name="箭头: 下 46"/>
              <p:cNvSpPr/>
              <p:nvPr/>
            </p:nvSpPr>
            <p:spPr>
              <a:xfrm rot="16200000">
                <a:off x="4199" y="4092"/>
                <a:ext cx="474" cy="663"/>
              </a:xfrm>
              <a:prstGeom prst="downArrow">
                <a:avLst>
                  <a:gd name="adj1" fmla="val 51961"/>
                  <a:gd name="adj2" fmla="val 86758"/>
                </a:avLst>
              </a:prstGeom>
              <a:gradFill flip="none" rotWithShape="1">
                <a:gsLst>
                  <a:gs pos="0">
                    <a:schemeClr val="accent6">
                      <a:lumMod val="20000"/>
                      <a:lumOff val="80000"/>
                    </a:schemeClr>
                  </a:gs>
                  <a:gs pos="100000">
                    <a:schemeClr val="accent6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229" name="箭头: 下 46"/>
              <p:cNvSpPr/>
              <p:nvPr/>
            </p:nvSpPr>
            <p:spPr>
              <a:xfrm rot="16200000">
                <a:off x="4199" y="8719"/>
                <a:ext cx="474" cy="663"/>
              </a:xfrm>
              <a:prstGeom prst="downArrow">
                <a:avLst>
                  <a:gd name="adj1" fmla="val 51961"/>
                  <a:gd name="adj2" fmla="val 86758"/>
                </a:avLst>
              </a:prstGeom>
              <a:gradFill flip="none" rotWithShape="1">
                <a:gsLst>
                  <a:gs pos="0">
                    <a:schemeClr val="accent6">
                      <a:lumMod val="20000"/>
                      <a:lumOff val="80000"/>
                    </a:schemeClr>
                  </a:gs>
                  <a:gs pos="100000">
                    <a:schemeClr val="accent6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1438" y="831"/>
              <a:ext cx="5440" cy="7924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>
              <a:off x="371" y="2678"/>
              <a:ext cx="2136" cy="6276"/>
            </a:xfrm>
            <a:prstGeom prst="rect">
              <a:avLst/>
            </a:prstGeom>
            <a:ln w="6350" cap="flat" cmpd="sng" algn="ctr">
              <a:solidFill>
                <a:schemeClr val="accent6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 altLang="zh-CN" sz="1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6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6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6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6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6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6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6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6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98" y="2759"/>
              <a:ext cx="1997" cy="5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200" b="1">
                  <a:solidFill>
                    <a:srgbClr val="70AD47"/>
                  </a:solidFill>
                  <a:latin typeface="微软雅黑" panose="020B0503020204020204" charset="-122"/>
                  <a:ea typeface="微软雅黑" panose="020B0503020204020204" charset="-122"/>
                </a:rPr>
                <a:t>特征工程</a:t>
              </a:r>
              <a:endParaRPr lang="zh-CN" altLang="en-US" sz="1200" b="1">
                <a:solidFill>
                  <a:srgbClr val="70AD4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 rot="0">
              <a:off x="173" y="945"/>
              <a:ext cx="2727" cy="1652"/>
              <a:chOff x="160" y="1876"/>
              <a:chExt cx="2727" cy="1652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278" y="1876"/>
                <a:ext cx="2230" cy="1652"/>
              </a:xfrm>
              <a:prstGeom prst="rect">
                <a:avLst/>
              </a:prstGeom>
              <a:ln w="6350" cap="flat" cmpd="sng" algn="ctr">
                <a:solidFill>
                  <a:schemeClr val="accent6"/>
                </a:solidFill>
                <a:prstDash val="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en-US" altLang="zh-CN" sz="1600" b="1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600" b="1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600" b="1" i="1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600" b="1" i="1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600" b="1" i="1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600" b="1" i="1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600" b="1" i="1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600" b="1" i="1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160" y="1890"/>
                <a:ext cx="2463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200" b="1">
                    <a:solidFill>
                      <a:srgbClr val="70AD47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目标变量：消费频率</a:t>
                </a:r>
                <a:endParaRPr lang="zh-CN" altLang="en-US" sz="1200" b="1">
                  <a:solidFill>
                    <a:srgbClr val="70AD47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cxnSp>
            <p:nvCxnSpPr>
              <p:cNvPr id="20" name="直接箭头连接符 19"/>
              <p:cNvCxnSpPr/>
              <p:nvPr/>
            </p:nvCxnSpPr>
            <p:spPr>
              <a:xfrm flipV="1">
                <a:off x="2518" y="2670"/>
                <a:ext cx="369" cy="12"/>
              </a:xfrm>
              <a:prstGeom prst="straightConnector1">
                <a:avLst/>
              </a:prstGeom>
              <a:ln>
                <a:solidFill>
                  <a:srgbClr val="70AD4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直接箭头连接符 20"/>
            <p:cNvCxnSpPr/>
            <p:nvPr/>
          </p:nvCxnSpPr>
          <p:spPr>
            <a:xfrm flipV="1">
              <a:off x="2545" y="5974"/>
              <a:ext cx="369" cy="12"/>
            </a:xfrm>
            <a:prstGeom prst="straightConnector1">
              <a:avLst/>
            </a:prstGeom>
            <a:ln>
              <a:solidFill>
                <a:srgbClr val="70AD4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: 圆角 50"/>
            <p:cNvSpPr/>
            <p:nvPr/>
          </p:nvSpPr>
          <p:spPr>
            <a:xfrm>
              <a:off x="211" y="790"/>
              <a:ext cx="2440" cy="8270"/>
            </a:xfrm>
            <a:prstGeom prst="roundRect">
              <a:avLst>
                <a:gd name="adj" fmla="val 6767"/>
              </a:avLst>
            </a:prstGeom>
            <a:noFill/>
            <a:ln w="28575">
              <a:solidFill>
                <a:schemeClr val="accent6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211" y="1456"/>
              <a:ext cx="2344" cy="87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en-US" sz="10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○</a:t>
              </a:r>
              <a:r>
                <a:rPr lang="zh-CN" altLang="en-US" sz="10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经常购买（每周</a:t>
              </a:r>
              <a:r>
                <a:rPr lang="en-US" altLang="zh-CN" sz="1000" b="1"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≥1</a:t>
              </a:r>
              <a:r>
                <a:rPr lang="zh-CN" altLang="en-US" sz="1000" b="1"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次</a:t>
              </a:r>
              <a:r>
                <a:rPr lang="zh-CN" altLang="en-US" sz="10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）</a:t>
              </a:r>
              <a:endParaRPr lang="zh-CN" altLang="en-US" sz="1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r>
                <a:rPr lang="en-US" altLang="en-US" sz="10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○</a:t>
              </a:r>
              <a:r>
                <a:rPr lang="zh-CN" altLang="en-US" sz="10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偶尔购买（每月</a:t>
              </a:r>
              <a:r>
                <a:rPr lang="en-US" altLang="zh-CN" sz="10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1-3</a:t>
              </a:r>
              <a:r>
                <a:rPr lang="zh-CN" altLang="en-US" sz="10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次）</a:t>
              </a:r>
              <a:endParaRPr lang="zh-CN" altLang="en-US" sz="1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r>
                <a:rPr lang="en-US" altLang="en-US" sz="10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○</a:t>
              </a:r>
              <a:r>
                <a:rPr lang="zh-CN" altLang="en-US" sz="10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很少购买（每月</a:t>
              </a:r>
              <a:r>
                <a:rPr lang="zh-CN" altLang="en-US" sz="1000" b="1"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≤</a:t>
              </a:r>
              <a:r>
                <a:rPr lang="en-US" altLang="zh-CN" sz="1000" b="1"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1</a:t>
              </a:r>
              <a:r>
                <a:rPr lang="zh-CN" altLang="en-US" sz="10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次）</a:t>
              </a:r>
              <a:endParaRPr lang="zh-CN" altLang="en-US" sz="1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33" name="图片 32" descr="未命名项目-图层 1 (7)"/>
            <p:cNvPicPr/>
            <p:nvPr/>
          </p:nvPicPr>
          <p:blipFill>
            <a:blip r:embed="rId24"/>
            <a:stretch>
              <a:fillRect/>
            </a:stretch>
          </p:blipFill>
          <p:spPr>
            <a:xfrm>
              <a:off x="563" y="7429"/>
              <a:ext cx="1820" cy="1525"/>
            </a:xfrm>
            <a:prstGeom prst="rect">
              <a:avLst/>
            </a:prstGeom>
          </p:spPr>
        </p:pic>
        <p:pic>
          <p:nvPicPr>
            <p:cNvPr id="37" name="图片 36" descr="未命名项目-图层 1 (8)"/>
            <p:cNvPicPr/>
            <p:nvPr/>
          </p:nvPicPr>
          <p:blipFill>
            <a:blip r:embed="rId25"/>
            <a:stretch>
              <a:fillRect/>
            </a:stretch>
          </p:blipFill>
          <p:spPr>
            <a:xfrm>
              <a:off x="563" y="5429"/>
              <a:ext cx="1820" cy="1525"/>
            </a:xfrm>
            <a:prstGeom prst="rect">
              <a:avLst/>
            </a:prstGeom>
          </p:spPr>
        </p:pic>
        <p:sp>
          <p:nvSpPr>
            <p:cNvPr id="39" name="文本框 38"/>
            <p:cNvSpPr txBox="1"/>
            <p:nvPr/>
          </p:nvSpPr>
          <p:spPr>
            <a:xfrm>
              <a:off x="386" y="3153"/>
              <a:ext cx="226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正式量表题的</a:t>
              </a:r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36</a:t>
              </a:r>
              <a:r>
                <a:rPr lang="zh-CN" altLang="en-US" sz="12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个特征</a:t>
              </a:r>
              <a:endPara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40" name="图片 39" descr="未命名项目-图层 1 (3)"/>
            <p:cNvPicPr/>
            <p:nvPr/>
          </p:nvPicPr>
          <p:blipFill>
            <a:blip r:embed="rId26"/>
            <a:stretch>
              <a:fillRect/>
            </a:stretch>
          </p:blipFill>
          <p:spPr>
            <a:xfrm>
              <a:off x="563" y="3854"/>
              <a:ext cx="1820" cy="1525"/>
            </a:xfrm>
            <a:prstGeom prst="rect">
              <a:avLst/>
            </a:prstGeom>
          </p:spPr>
        </p:pic>
        <p:grpSp>
          <p:nvGrpSpPr>
            <p:cNvPr id="12" name="组合 11"/>
            <p:cNvGrpSpPr/>
            <p:nvPr/>
          </p:nvGrpSpPr>
          <p:grpSpPr>
            <a:xfrm rot="5400000">
              <a:off x="1296" y="7139"/>
              <a:ext cx="387" cy="120"/>
              <a:chOff x="2429" y="863"/>
              <a:chExt cx="482" cy="102"/>
            </a:xfrm>
          </p:grpSpPr>
          <p:sp>
            <p:nvSpPr>
              <p:cNvPr id="13" name="椭圆 12"/>
              <p:cNvSpPr/>
              <p:nvPr/>
            </p:nvSpPr>
            <p:spPr>
              <a:xfrm>
                <a:off x="2429" y="863"/>
                <a:ext cx="102" cy="102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2619" y="863"/>
                <a:ext cx="102" cy="102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2809" y="863"/>
                <a:ext cx="102" cy="102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/>
          <p:cNvSpPr/>
          <p:nvPr/>
        </p:nvSpPr>
        <p:spPr>
          <a:xfrm>
            <a:off x="2111023" y="383822"/>
            <a:ext cx="7175217" cy="1255967"/>
          </a:xfrm>
          <a:prstGeom prst="roundRect">
            <a:avLst>
              <a:gd name="adj" fmla="val 6767"/>
            </a:avLst>
          </a:prstGeom>
          <a:noFill/>
          <a:ln w="28575"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2111023" y="383823"/>
            <a:ext cx="6722533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Obtain Pre-match Win Prediction</a:t>
            </a:r>
            <a:endParaRPr lang="zh-CN" altLang="en-US" sz="1400" b="1" dirty="0"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2515077" y="780129"/>
                <a:ext cx="97142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077" y="780129"/>
                <a:ext cx="971420" cy="184666"/>
              </a:xfrm>
              <a:prstGeom prst="rect">
                <a:avLst/>
              </a:prstGeom>
              <a:blipFill rotWithShape="1">
                <a:blip r:embed="rId1"/>
                <a:stretch>
                  <a:fillRect l="-49" t="-189" r="-4998" b="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矩形 27"/>
          <p:cNvSpPr/>
          <p:nvPr/>
        </p:nvSpPr>
        <p:spPr>
          <a:xfrm>
            <a:off x="2225041" y="691600"/>
            <a:ext cx="1591732" cy="846022"/>
          </a:xfrm>
          <a:prstGeom prst="rect">
            <a:avLst/>
          </a:pr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/>
              <p:cNvSpPr txBox="1"/>
              <p:nvPr/>
            </p:nvSpPr>
            <p:spPr>
              <a:xfrm>
                <a:off x="2341464" y="1034476"/>
                <a:ext cx="1315809" cy="3818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464" y="1034476"/>
                <a:ext cx="1315809" cy="381836"/>
              </a:xfrm>
              <a:prstGeom prst="rect">
                <a:avLst/>
              </a:prstGeom>
              <a:blipFill rotWithShape="1">
                <a:blip r:embed="rId2"/>
                <a:stretch>
                  <a:fillRect l="-17" t="-16" r="-2631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/>
              <p:cNvSpPr txBox="1"/>
              <p:nvPr/>
            </p:nvSpPr>
            <p:spPr>
              <a:xfrm>
                <a:off x="4807048" y="780129"/>
                <a:ext cx="114614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48" y="780129"/>
                <a:ext cx="1146148" cy="184666"/>
              </a:xfrm>
              <a:prstGeom prst="rect">
                <a:avLst/>
              </a:prstGeom>
              <a:blipFill rotWithShape="1">
                <a:blip r:embed="rId3"/>
                <a:stretch>
                  <a:fillRect l="-9" t="-189" r="-4204" b="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矩形 31"/>
          <p:cNvSpPr/>
          <p:nvPr/>
        </p:nvSpPr>
        <p:spPr>
          <a:xfrm>
            <a:off x="4022143" y="691600"/>
            <a:ext cx="2821419" cy="846022"/>
          </a:xfrm>
          <a:prstGeom prst="rect">
            <a:avLst/>
          </a:pr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4064433" y="1166200"/>
                <a:ext cx="2736838" cy="1995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×(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433" y="1166200"/>
                <a:ext cx="2736838" cy="199542"/>
              </a:xfrm>
              <a:prstGeom prst="rect">
                <a:avLst/>
              </a:prstGeom>
              <a:blipFill rotWithShape="1">
                <a:blip r:embed="rId4"/>
                <a:stretch>
                  <a:fillRect l="-16" t="-170" r="-1516" b="2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/>
              <p:cNvSpPr txBox="1"/>
              <p:nvPr/>
            </p:nvSpPr>
            <p:spPr>
              <a:xfrm>
                <a:off x="7487004" y="780129"/>
                <a:ext cx="1194238" cy="2021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34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7004" y="780129"/>
                <a:ext cx="1194238" cy="202171"/>
              </a:xfrm>
              <a:prstGeom prst="rect">
                <a:avLst/>
              </a:prstGeom>
              <a:blipFill rotWithShape="1">
                <a:blip r:embed="rId5"/>
                <a:stretch>
                  <a:fillRect l="-30" t="-173" r="-3975" b="2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矩形 36"/>
          <p:cNvSpPr/>
          <p:nvPr/>
        </p:nvSpPr>
        <p:spPr>
          <a:xfrm>
            <a:off x="7044655" y="691600"/>
            <a:ext cx="2078937" cy="846022"/>
          </a:xfrm>
          <a:prstGeom prst="rect">
            <a:avLst/>
          </a:pr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37"/>
              <p:cNvSpPr txBox="1"/>
              <p:nvPr/>
            </p:nvSpPr>
            <p:spPr>
              <a:xfrm>
                <a:off x="7086944" y="1074552"/>
                <a:ext cx="2036648" cy="360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400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944" y="1074552"/>
                <a:ext cx="2036648" cy="360868"/>
              </a:xfrm>
              <a:prstGeom prst="rect">
                <a:avLst/>
              </a:prstGeom>
              <a:blipFill rotWithShape="1">
                <a:blip r:embed="rId6"/>
                <a:stretch>
                  <a:fillRect l="-17" t="-37" r="-1189" b="-2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接箭头连接符 42"/>
          <p:cNvCxnSpPr>
            <a:stCxn id="28" idx="3"/>
            <a:endCxn id="32" idx="1"/>
          </p:cNvCxnSpPr>
          <p:nvPr/>
        </p:nvCxnSpPr>
        <p:spPr>
          <a:xfrm>
            <a:off x="3816773" y="1114611"/>
            <a:ext cx="205370" cy="0"/>
          </a:xfrm>
          <a:prstGeom prst="straightConnector1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>
            <a:stCxn id="32" idx="3"/>
            <a:endCxn id="37" idx="1"/>
          </p:cNvCxnSpPr>
          <p:nvPr/>
        </p:nvCxnSpPr>
        <p:spPr>
          <a:xfrm>
            <a:off x="6843562" y="1114611"/>
            <a:ext cx="201093" cy="0"/>
          </a:xfrm>
          <a:prstGeom prst="straightConnector1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: 圆角 50"/>
          <p:cNvSpPr/>
          <p:nvPr/>
        </p:nvSpPr>
        <p:spPr>
          <a:xfrm>
            <a:off x="2111023" y="1920574"/>
            <a:ext cx="8744284" cy="1255967"/>
          </a:xfrm>
          <a:prstGeom prst="roundRect">
            <a:avLst>
              <a:gd name="adj" fmla="val 6767"/>
            </a:avLst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2111023" y="1920575"/>
            <a:ext cx="6722533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Probability of Winning the First Point</a:t>
            </a:r>
            <a:endParaRPr lang="zh-CN" altLang="en-US" sz="1400" b="1" dirty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本框 52"/>
              <p:cNvSpPr txBox="1"/>
              <p:nvPr/>
            </p:nvSpPr>
            <p:spPr>
              <a:xfrm>
                <a:off x="2393722" y="2316881"/>
                <a:ext cx="94577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𝑨𝒔𝒔𝒖𝒎𝒑𝒕𝒊𝒐𝒏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53" name="文本框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3722" y="2316881"/>
                <a:ext cx="945772" cy="184666"/>
              </a:xfrm>
              <a:prstGeom prst="rect">
                <a:avLst/>
              </a:prstGeom>
              <a:blipFill rotWithShape="1">
                <a:blip r:embed="rId7"/>
                <a:stretch>
                  <a:fillRect l="-43" t="-217" r="-5301" b="1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矩形 53"/>
          <p:cNvSpPr/>
          <p:nvPr/>
        </p:nvSpPr>
        <p:spPr>
          <a:xfrm>
            <a:off x="2225041" y="2228352"/>
            <a:ext cx="1268752" cy="846022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本框 55"/>
              <p:cNvSpPr txBox="1"/>
              <p:nvPr/>
            </p:nvSpPr>
            <p:spPr>
              <a:xfrm>
                <a:off x="2341464" y="2691967"/>
                <a:ext cx="1050288" cy="1995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2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2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1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12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200" b="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56" name="文本框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464" y="2691967"/>
                <a:ext cx="1050288" cy="199542"/>
              </a:xfrm>
              <a:prstGeom prst="rect">
                <a:avLst/>
              </a:prstGeom>
              <a:blipFill rotWithShape="1">
                <a:blip r:embed="rId8"/>
                <a:stretch>
                  <a:fillRect l="-21" t="-101" r="-5118" b="1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本框 56"/>
              <p:cNvSpPr txBox="1"/>
              <p:nvPr/>
            </p:nvSpPr>
            <p:spPr>
              <a:xfrm>
                <a:off x="4013367" y="2316881"/>
                <a:ext cx="137217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𝑮𝑿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𝑮𝑿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57" name="文本框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367" y="2316881"/>
                <a:ext cx="1372171" cy="184666"/>
              </a:xfrm>
              <a:prstGeom prst="rect">
                <a:avLst/>
              </a:prstGeom>
              <a:blipFill rotWithShape="1">
                <a:blip r:embed="rId9"/>
                <a:stretch>
                  <a:fillRect l="-12" t="-217" r="-4296" b="1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矩形 57"/>
          <p:cNvSpPr/>
          <p:nvPr/>
        </p:nvSpPr>
        <p:spPr>
          <a:xfrm>
            <a:off x="3700066" y="2228352"/>
            <a:ext cx="1962097" cy="846022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本框 58"/>
              <p:cNvSpPr txBox="1"/>
              <p:nvPr/>
            </p:nvSpPr>
            <p:spPr>
              <a:xfrm>
                <a:off x="3767788" y="2702952"/>
                <a:ext cx="186333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𝐺𝑋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𝐺𝑋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𝐺𝑋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59" name="文本框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788" y="2702952"/>
                <a:ext cx="1863331" cy="184666"/>
              </a:xfrm>
              <a:prstGeom prst="rect">
                <a:avLst/>
              </a:prstGeom>
              <a:blipFill rotWithShape="1">
                <a:blip r:embed="rId10"/>
                <a:stretch>
                  <a:fillRect l="-18" t="-212" r="-2423" b="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/>
              <p:cNvSpPr txBox="1"/>
              <p:nvPr/>
            </p:nvSpPr>
            <p:spPr>
              <a:xfrm>
                <a:off x="6016137" y="2316881"/>
                <a:ext cx="141705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𝑺𝑨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60" name="文本框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137" y="2316881"/>
                <a:ext cx="1417055" cy="184666"/>
              </a:xfrm>
              <a:prstGeom prst="rect">
                <a:avLst/>
              </a:prstGeom>
              <a:blipFill rotWithShape="1">
                <a:blip r:embed="rId11"/>
                <a:stretch>
                  <a:fillRect l="-10" t="-217" r="-3190" b="1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矩形 60"/>
          <p:cNvSpPr/>
          <p:nvPr/>
        </p:nvSpPr>
        <p:spPr>
          <a:xfrm>
            <a:off x="5868436" y="2228352"/>
            <a:ext cx="1665852" cy="846022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/>
              <p:cNvSpPr txBox="1"/>
              <p:nvPr/>
            </p:nvSpPr>
            <p:spPr>
              <a:xfrm>
                <a:off x="5910724" y="2702952"/>
                <a:ext cx="159101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𝑆𝐴</m:t>
                          </m:r>
                        </m:sub>
                      </m:sSub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𝐺𝑋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𝐺𝑋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62" name="文本框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724" y="2702952"/>
                <a:ext cx="1591013" cy="184666"/>
              </a:xfrm>
              <a:prstGeom prst="rect">
                <a:avLst/>
              </a:prstGeom>
              <a:blipFill rotWithShape="1">
                <a:blip r:embed="rId12"/>
                <a:stretch>
                  <a:fillRect l="-9" t="-212" r="-1885" b="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直接箭头连接符 62"/>
          <p:cNvCxnSpPr>
            <a:stCxn id="54" idx="3"/>
            <a:endCxn id="58" idx="1"/>
          </p:cNvCxnSpPr>
          <p:nvPr/>
        </p:nvCxnSpPr>
        <p:spPr>
          <a:xfrm>
            <a:off x="3493793" y="2651363"/>
            <a:ext cx="206273" cy="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>
            <a:stCxn id="58" idx="3"/>
            <a:endCxn id="61" idx="1"/>
          </p:cNvCxnSpPr>
          <p:nvPr/>
        </p:nvCxnSpPr>
        <p:spPr>
          <a:xfrm>
            <a:off x="5662163" y="2651363"/>
            <a:ext cx="206273" cy="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本框 76"/>
              <p:cNvSpPr txBox="1"/>
              <p:nvPr/>
            </p:nvSpPr>
            <p:spPr>
              <a:xfrm>
                <a:off x="7888262" y="2316881"/>
                <a:ext cx="1001877" cy="2021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77" name="文本框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262" y="2316881"/>
                <a:ext cx="1001877" cy="202171"/>
              </a:xfrm>
              <a:prstGeom prst="rect">
                <a:avLst/>
              </a:prstGeom>
              <a:blipFill rotWithShape="1">
                <a:blip r:embed="rId13"/>
                <a:stretch>
                  <a:fillRect l="-29" t="-198" r="-4803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矩形 77"/>
          <p:cNvSpPr/>
          <p:nvPr/>
        </p:nvSpPr>
        <p:spPr>
          <a:xfrm>
            <a:off x="7740561" y="2228352"/>
            <a:ext cx="1342291" cy="846022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本框 78"/>
              <p:cNvSpPr txBox="1"/>
              <p:nvPr/>
            </p:nvSpPr>
            <p:spPr>
              <a:xfrm>
                <a:off x="7782849" y="2492648"/>
                <a:ext cx="1253869" cy="521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𝑆𝐴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79" name="文本框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2849" y="2492648"/>
                <a:ext cx="1253869" cy="521810"/>
              </a:xfrm>
              <a:prstGeom prst="rect">
                <a:avLst/>
              </a:prstGeom>
              <a:blipFill rotWithShape="1">
                <a:blip r:embed="rId14"/>
                <a:stretch>
                  <a:fillRect l="-23" t="-52" r="-2732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文本框 80"/>
              <p:cNvSpPr txBox="1"/>
              <p:nvPr/>
            </p:nvSpPr>
            <p:spPr>
              <a:xfrm>
                <a:off x="9508834" y="2316881"/>
                <a:ext cx="97462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81" name="文本框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8834" y="2316881"/>
                <a:ext cx="974626" cy="184666"/>
              </a:xfrm>
              <a:prstGeom prst="rect">
                <a:avLst/>
              </a:prstGeom>
              <a:blipFill rotWithShape="1">
                <a:blip r:embed="rId15"/>
                <a:stretch>
                  <a:fillRect l="-35" t="-217" r="-4927" b="1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矩形 81"/>
          <p:cNvSpPr/>
          <p:nvPr/>
        </p:nvSpPr>
        <p:spPr>
          <a:xfrm>
            <a:off x="9286240" y="2228352"/>
            <a:ext cx="1419815" cy="846022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文本框 82"/>
              <p:cNvSpPr txBox="1"/>
              <p:nvPr/>
            </p:nvSpPr>
            <p:spPr>
              <a:xfrm>
                <a:off x="9366167" y="2575940"/>
                <a:ext cx="125996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inverse solution</a:t>
                </a:r>
                <a:endPara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yields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3" name="文本框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6167" y="2575940"/>
                <a:ext cx="1259960" cy="369332"/>
              </a:xfrm>
              <a:prstGeom prst="rect">
                <a:avLst/>
              </a:prstGeom>
              <a:blipFill rotWithShape="1">
                <a:blip r:embed="rId16"/>
                <a:stretch>
                  <a:fillRect l="-44" t="-103" r="-2769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直接箭头连接符 96"/>
          <p:cNvCxnSpPr>
            <a:endCxn id="78" idx="1"/>
          </p:cNvCxnSpPr>
          <p:nvPr/>
        </p:nvCxnSpPr>
        <p:spPr>
          <a:xfrm>
            <a:off x="7577311" y="2651363"/>
            <a:ext cx="163250" cy="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>
            <a:endCxn id="82" idx="1"/>
          </p:cNvCxnSpPr>
          <p:nvPr/>
        </p:nvCxnSpPr>
        <p:spPr>
          <a:xfrm>
            <a:off x="9082117" y="2651363"/>
            <a:ext cx="204123" cy="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: 圆角 103"/>
          <p:cNvSpPr/>
          <p:nvPr/>
        </p:nvSpPr>
        <p:spPr>
          <a:xfrm>
            <a:off x="2111023" y="3457726"/>
            <a:ext cx="8888870" cy="1255967"/>
          </a:xfrm>
          <a:prstGeom prst="roundRect">
            <a:avLst>
              <a:gd name="adj" fmla="val 6767"/>
            </a:avLst>
          </a:prstGeom>
          <a:noFill/>
          <a:ln w="28575">
            <a:solidFill>
              <a:schemeClr val="accent2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文本框 104"/>
          <p:cNvSpPr txBox="1"/>
          <p:nvPr/>
        </p:nvSpPr>
        <p:spPr>
          <a:xfrm>
            <a:off x="2111023" y="3457727"/>
            <a:ext cx="6722533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Real-Time Win Probability</a:t>
            </a:r>
            <a:endParaRPr lang="zh-CN" altLang="en-US" sz="1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文本框 105"/>
              <p:cNvSpPr txBox="1"/>
              <p:nvPr/>
            </p:nvSpPr>
            <p:spPr>
              <a:xfrm>
                <a:off x="2314069" y="3854033"/>
                <a:ext cx="93936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06" name="文本框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069" y="3854033"/>
                <a:ext cx="939360" cy="184666"/>
              </a:xfrm>
              <a:prstGeom prst="rect">
                <a:avLst/>
              </a:prstGeom>
              <a:blipFill rotWithShape="1">
                <a:blip r:embed="rId17"/>
                <a:stretch>
                  <a:fillRect l="-14" t="-118" r="-5238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矩形 106"/>
          <p:cNvSpPr/>
          <p:nvPr/>
        </p:nvSpPr>
        <p:spPr>
          <a:xfrm>
            <a:off x="2225042" y="3765504"/>
            <a:ext cx="1105056" cy="846022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文本框 107"/>
              <p:cNvSpPr txBox="1"/>
              <p:nvPr/>
            </p:nvSpPr>
            <p:spPr>
              <a:xfrm>
                <a:off x="2383432" y="4115360"/>
                <a:ext cx="752129" cy="387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08" name="文本框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432" y="4115360"/>
                <a:ext cx="752129" cy="387414"/>
              </a:xfrm>
              <a:prstGeom prst="rect">
                <a:avLst/>
              </a:prstGeom>
              <a:blipFill rotWithShape="1">
                <a:blip r:embed="rId18"/>
                <a:stretch>
                  <a:fillRect l="-37" t="-145" r="-3808" b="-21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文本框 108"/>
              <p:cNvSpPr txBox="1"/>
              <p:nvPr/>
            </p:nvSpPr>
            <p:spPr>
              <a:xfrm>
                <a:off x="4163302" y="3854033"/>
                <a:ext cx="87043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𝑶𝒑𝒕𝒊𝒎𝒊𝒛𝒆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09" name="文本框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302" y="3854033"/>
                <a:ext cx="870431" cy="184666"/>
              </a:xfrm>
              <a:prstGeom prst="rect">
                <a:avLst/>
              </a:prstGeom>
              <a:blipFill rotWithShape="1">
                <a:blip r:embed="rId19"/>
                <a:stretch>
                  <a:fillRect l="-28" t="-118" r="-5753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矩形 109"/>
          <p:cNvSpPr/>
          <p:nvPr/>
        </p:nvSpPr>
        <p:spPr>
          <a:xfrm>
            <a:off x="3538032" y="3765504"/>
            <a:ext cx="2237092" cy="846022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文本框 110"/>
              <p:cNvSpPr txBox="1"/>
              <p:nvPr/>
            </p:nvSpPr>
            <p:spPr>
              <a:xfrm>
                <a:off x="3559258" y="4240104"/>
                <a:ext cx="219464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̅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11" name="文本框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258" y="4240104"/>
                <a:ext cx="2194640" cy="184666"/>
              </a:xfrm>
              <a:prstGeom prst="rect">
                <a:avLst/>
              </a:prstGeom>
              <a:blipFill rotWithShape="1">
                <a:blip r:embed="rId20"/>
                <a:stretch>
                  <a:fillRect l="-4" t="-113" r="-1497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文本框 111"/>
              <p:cNvSpPr txBox="1"/>
              <p:nvPr/>
            </p:nvSpPr>
            <p:spPr>
              <a:xfrm>
                <a:off x="6069113" y="3854033"/>
                <a:ext cx="1223092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𝜼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12" name="文本框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113" y="3854033"/>
                <a:ext cx="1223092" cy="184666"/>
              </a:xfrm>
              <a:prstGeom prst="rect">
                <a:avLst/>
              </a:prstGeom>
              <a:blipFill rotWithShape="1">
                <a:blip r:embed="rId21"/>
                <a:stretch>
                  <a:fillRect l="-34" t="-118" r="41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矩形 112"/>
          <p:cNvSpPr/>
          <p:nvPr/>
        </p:nvSpPr>
        <p:spPr>
          <a:xfrm>
            <a:off x="5997718" y="3765504"/>
            <a:ext cx="1323041" cy="846022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文本框 113"/>
              <p:cNvSpPr txBox="1"/>
              <p:nvPr/>
            </p:nvSpPr>
            <p:spPr>
              <a:xfrm>
                <a:off x="6145607" y="4149439"/>
                <a:ext cx="1016368" cy="3192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14" name="文本框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607" y="4149439"/>
                <a:ext cx="1016368" cy="319255"/>
              </a:xfrm>
              <a:prstGeom prst="rect">
                <a:avLst/>
              </a:prstGeom>
              <a:blipFill rotWithShape="1">
                <a:blip r:embed="rId22"/>
                <a:stretch>
                  <a:fillRect l="-8" t="-109" r="44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5" name="直接箭头连接符 114"/>
          <p:cNvCxnSpPr>
            <a:stCxn id="107" idx="3"/>
            <a:endCxn id="110" idx="1"/>
          </p:cNvCxnSpPr>
          <p:nvPr/>
        </p:nvCxnSpPr>
        <p:spPr>
          <a:xfrm>
            <a:off x="3330098" y="4188515"/>
            <a:ext cx="207934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>
            <a:stCxn id="110" idx="3"/>
            <a:endCxn id="113" idx="1"/>
          </p:cNvCxnSpPr>
          <p:nvPr/>
        </p:nvCxnSpPr>
        <p:spPr>
          <a:xfrm>
            <a:off x="5775124" y="4188515"/>
            <a:ext cx="222594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文本框 116"/>
              <p:cNvSpPr txBox="1"/>
              <p:nvPr/>
            </p:nvSpPr>
            <p:spPr>
              <a:xfrm>
                <a:off x="7788926" y="3852439"/>
                <a:ext cx="1314462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e>
                      </m:acc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17" name="文本框 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926" y="3852439"/>
                <a:ext cx="1314462" cy="184666"/>
              </a:xfrm>
              <a:prstGeom prst="rect">
                <a:avLst/>
              </a:prstGeom>
              <a:blipFill rotWithShape="1">
                <a:blip r:embed="rId23"/>
                <a:stretch>
                  <a:fillRect l="-1" t="-286" r="2" b="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矩形 117"/>
          <p:cNvSpPr/>
          <p:nvPr/>
        </p:nvSpPr>
        <p:spPr>
          <a:xfrm>
            <a:off x="7543353" y="3765504"/>
            <a:ext cx="1780140" cy="846022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文本框 118"/>
              <p:cNvSpPr txBox="1"/>
              <p:nvPr/>
            </p:nvSpPr>
            <p:spPr>
              <a:xfrm>
                <a:off x="7623280" y="4115231"/>
                <a:ext cx="1605696" cy="4392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i="1" dirty="0">
                  <a:latin typeface="Cambria Math" panose="02040503050406030204" pitchFamily="18" charset="0"/>
                </a:endParaRPr>
              </a:p>
              <a:p>
                <a:r>
                  <a:rPr lang="en-US" altLang="zh-CN" sz="300" i="1" dirty="0">
                    <a:latin typeface="Cambria Math" panose="02040503050406030204" pitchFamily="18" charset="0"/>
                  </a:rPr>
                  <a:t> </a:t>
                </a:r>
                <a:endParaRPr lang="en-US" altLang="zh-CN" sz="3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̅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acc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200" b="0" dirty="0"/>
              </a:p>
            </p:txBody>
          </p:sp>
        </mc:Choice>
        <mc:Fallback>
          <p:sp>
            <p:nvSpPr>
              <p:cNvPr id="119" name="文本框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280" y="4115231"/>
                <a:ext cx="1605696" cy="439287"/>
              </a:xfrm>
              <a:prstGeom prst="rect">
                <a:avLst/>
              </a:prstGeom>
              <a:blipFill rotWithShape="1">
                <a:blip r:embed="rId24"/>
                <a:stretch>
                  <a:fillRect l="-7" t="-98" r="32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文本框 119"/>
              <p:cNvSpPr txBox="1"/>
              <p:nvPr/>
            </p:nvSpPr>
            <p:spPr>
              <a:xfrm>
                <a:off x="9651501" y="3853317"/>
                <a:ext cx="974626" cy="1883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p>
                      </m:sSup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20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501" y="3853317"/>
                <a:ext cx="974626" cy="188385"/>
              </a:xfrm>
              <a:prstGeom prst="rect">
                <a:avLst/>
              </a:prstGeom>
              <a:blipFill rotWithShape="1">
                <a:blip r:embed="rId25"/>
                <a:stretch>
                  <a:fillRect l="-14" t="-73" r="-15698" b="2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矩形 120"/>
          <p:cNvSpPr/>
          <p:nvPr/>
        </p:nvSpPr>
        <p:spPr>
          <a:xfrm>
            <a:off x="9549512" y="3765504"/>
            <a:ext cx="1327022" cy="846022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5" name="直接箭头连接符 124"/>
          <p:cNvCxnSpPr>
            <a:stCxn id="113" idx="3"/>
            <a:endCxn id="118" idx="1"/>
          </p:cNvCxnSpPr>
          <p:nvPr/>
        </p:nvCxnSpPr>
        <p:spPr>
          <a:xfrm>
            <a:off x="7320759" y="4188515"/>
            <a:ext cx="222594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/>
          <p:cNvCxnSpPr>
            <a:stCxn id="118" idx="3"/>
            <a:endCxn id="121" idx="1"/>
          </p:cNvCxnSpPr>
          <p:nvPr/>
        </p:nvCxnSpPr>
        <p:spPr>
          <a:xfrm>
            <a:off x="9323493" y="4188515"/>
            <a:ext cx="226019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文本框 169"/>
              <p:cNvSpPr txBox="1"/>
              <p:nvPr/>
            </p:nvSpPr>
            <p:spPr>
              <a:xfrm>
                <a:off x="9592823" y="4239847"/>
                <a:ext cx="1245547" cy="1851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70" name="文本框 1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823" y="4239847"/>
                <a:ext cx="1245547" cy="185179"/>
              </a:xfrm>
              <a:prstGeom prst="rect">
                <a:avLst/>
              </a:prstGeom>
              <a:blipFill rotWithShape="1">
                <a:blip r:embed="rId26"/>
                <a:stretch>
                  <a:fillRect l="-41" t="-317" r="15" b="1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矩形: 圆角 171"/>
          <p:cNvSpPr/>
          <p:nvPr/>
        </p:nvSpPr>
        <p:spPr>
          <a:xfrm>
            <a:off x="2111023" y="4994878"/>
            <a:ext cx="8888870" cy="1255967"/>
          </a:xfrm>
          <a:prstGeom prst="roundRect">
            <a:avLst>
              <a:gd name="adj" fmla="val 6767"/>
            </a:avLst>
          </a:prstGeom>
          <a:noFill/>
          <a:ln w="28575">
            <a:solidFill>
              <a:schemeClr val="accent2">
                <a:lumMod val="75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文本框 172"/>
          <p:cNvSpPr txBox="1"/>
          <p:nvPr/>
        </p:nvSpPr>
        <p:spPr>
          <a:xfrm>
            <a:off x="2111023" y="4994879"/>
            <a:ext cx="6722533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Quantification of Momentum</a:t>
            </a:r>
            <a:endParaRPr lang="zh-CN" altLang="en-US" sz="14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4" name="文本框 173"/>
              <p:cNvSpPr txBox="1"/>
              <p:nvPr/>
            </p:nvSpPr>
            <p:spPr>
              <a:xfrm>
                <a:off x="2314069" y="5391185"/>
                <a:ext cx="93936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74" name="文本框 1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069" y="5391185"/>
                <a:ext cx="939360" cy="184666"/>
              </a:xfrm>
              <a:prstGeom prst="rect">
                <a:avLst/>
              </a:prstGeom>
              <a:blipFill rotWithShape="1">
                <a:blip r:embed="rId17"/>
                <a:stretch>
                  <a:fillRect l="-14" t="-19" r="-5238" b="2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" name="矩形 174"/>
          <p:cNvSpPr/>
          <p:nvPr/>
        </p:nvSpPr>
        <p:spPr>
          <a:xfrm>
            <a:off x="2225042" y="5302656"/>
            <a:ext cx="1105056" cy="846022"/>
          </a:xfrm>
          <a:prstGeom prst="rect">
            <a:avLst/>
          </a:prstGeom>
          <a:noFill/>
          <a:ln w="19050">
            <a:solidFill>
              <a:schemeClr val="accent2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6" name="文本框 175"/>
              <p:cNvSpPr txBox="1"/>
              <p:nvPr/>
            </p:nvSpPr>
            <p:spPr>
              <a:xfrm>
                <a:off x="2383432" y="5652512"/>
                <a:ext cx="752129" cy="387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76" name="文本框 1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432" y="5652512"/>
                <a:ext cx="752129" cy="387414"/>
              </a:xfrm>
              <a:prstGeom prst="rect">
                <a:avLst/>
              </a:prstGeom>
              <a:blipFill rotWithShape="1">
                <a:blip r:embed="rId18"/>
                <a:stretch>
                  <a:fillRect l="-37" t="-97" r="-3808" b="-21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7" name="文本框 176"/>
              <p:cNvSpPr txBox="1"/>
              <p:nvPr/>
            </p:nvSpPr>
            <p:spPr>
              <a:xfrm>
                <a:off x="4163302" y="5391185"/>
                <a:ext cx="87043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𝑶𝒑𝒕𝒊𝒎𝒊𝒛𝒆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77" name="文本框 1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302" y="5391185"/>
                <a:ext cx="870431" cy="184666"/>
              </a:xfrm>
              <a:prstGeom prst="rect">
                <a:avLst/>
              </a:prstGeom>
              <a:blipFill rotWithShape="1">
                <a:blip r:embed="rId19"/>
                <a:stretch>
                  <a:fillRect l="-28" t="-19" r="-5753" b="2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矩形 177"/>
          <p:cNvSpPr/>
          <p:nvPr/>
        </p:nvSpPr>
        <p:spPr>
          <a:xfrm>
            <a:off x="3538032" y="5302656"/>
            <a:ext cx="2237092" cy="846022"/>
          </a:xfrm>
          <a:prstGeom prst="rect">
            <a:avLst/>
          </a:prstGeom>
          <a:noFill/>
          <a:ln w="19050">
            <a:solidFill>
              <a:schemeClr val="accent2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文本框 178"/>
              <p:cNvSpPr txBox="1"/>
              <p:nvPr/>
            </p:nvSpPr>
            <p:spPr>
              <a:xfrm>
                <a:off x="3559258" y="5777256"/>
                <a:ext cx="219464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̅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79" name="文本框 1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258" y="5777256"/>
                <a:ext cx="2194640" cy="184666"/>
              </a:xfrm>
              <a:prstGeom prst="rect">
                <a:avLst/>
              </a:prstGeom>
              <a:blipFill rotWithShape="1">
                <a:blip r:embed="rId20"/>
                <a:stretch>
                  <a:fillRect l="-4" t="-14" r="-1497" b="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0" name="文本框 179"/>
              <p:cNvSpPr txBox="1"/>
              <p:nvPr/>
            </p:nvSpPr>
            <p:spPr>
              <a:xfrm>
                <a:off x="6069113" y="5391185"/>
                <a:ext cx="1223092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𝜼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80" name="文本框 1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113" y="5391185"/>
                <a:ext cx="1223092" cy="184666"/>
              </a:xfrm>
              <a:prstGeom prst="rect">
                <a:avLst/>
              </a:prstGeom>
              <a:blipFill rotWithShape="1">
                <a:blip r:embed="rId21"/>
                <a:stretch>
                  <a:fillRect l="-34" t="-19" r="41" b="2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矩形 180"/>
          <p:cNvSpPr/>
          <p:nvPr/>
        </p:nvSpPr>
        <p:spPr>
          <a:xfrm>
            <a:off x="5997718" y="5302656"/>
            <a:ext cx="1323041" cy="846022"/>
          </a:xfrm>
          <a:prstGeom prst="rect">
            <a:avLst/>
          </a:prstGeom>
          <a:noFill/>
          <a:ln w="19050">
            <a:solidFill>
              <a:schemeClr val="accent2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2" name="文本框 181"/>
              <p:cNvSpPr txBox="1"/>
              <p:nvPr/>
            </p:nvSpPr>
            <p:spPr>
              <a:xfrm>
                <a:off x="6145607" y="5686591"/>
                <a:ext cx="1016368" cy="3192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82" name="文本框 1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607" y="5686591"/>
                <a:ext cx="1016368" cy="319255"/>
              </a:xfrm>
              <a:prstGeom prst="rect">
                <a:avLst/>
              </a:prstGeom>
              <a:blipFill rotWithShape="1">
                <a:blip r:embed="rId22"/>
                <a:stretch>
                  <a:fillRect l="-8" t="-52" r="44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3" name="直接箭头连接符 182"/>
          <p:cNvCxnSpPr>
            <a:stCxn id="175" idx="3"/>
            <a:endCxn id="178" idx="1"/>
          </p:cNvCxnSpPr>
          <p:nvPr/>
        </p:nvCxnSpPr>
        <p:spPr>
          <a:xfrm>
            <a:off x="3330098" y="5725667"/>
            <a:ext cx="207934" cy="0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/>
          <p:cNvCxnSpPr>
            <a:stCxn id="178" idx="3"/>
            <a:endCxn id="181" idx="1"/>
          </p:cNvCxnSpPr>
          <p:nvPr/>
        </p:nvCxnSpPr>
        <p:spPr>
          <a:xfrm>
            <a:off x="5775124" y="5725667"/>
            <a:ext cx="222594" cy="0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5" name="文本框 184"/>
              <p:cNvSpPr txBox="1"/>
              <p:nvPr/>
            </p:nvSpPr>
            <p:spPr>
              <a:xfrm>
                <a:off x="7788926" y="5389591"/>
                <a:ext cx="1314462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e>
                      </m:acc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85" name="文本框 1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926" y="5389591"/>
                <a:ext cx="1314462" cy="184666"/>
              </a:xfrm>
              <a:prstGeom prst="rect">
                <a:avLst/>
              </a:prstGeom>
              <a:blipFill rotWithShape="1">
                <a:blip r:embed="rId23"/>
                <a:stretch>
                  <a:fillRect l="-1" t="-187" r="2" b="1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6" name="矩形 185"/>
          <p:cNvSpPr/>
          <p:nvPr/>
        </p:nvSpPr>
        <p:spPr>
          <a:xfrm>
            <a:off x="7543353" y="5302656"/>
            <a:ext cx="1780140" cy="846022"/>
          </a:xfrm>
          <a:prstGeom prst="rect">
            <a:avLst/>
          </a:prstGeom>
          <a:noFill/>
          <a:ln w="19050">
            <a:solidFill>
              <a:schemeClr val="accent2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本框 186"/>
              <p:cNvSpPr txBox="1"/>
              <p:nvPr/>
            </p:nvSpPr>
            <p:spPr>
              <a:xfrm>
                <a:off x="7623280" y="5652383"/>
                <a:ext cx="1605696" cy="4392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i="1" dirty="0">
                  <a:latin typeface="Cambria Math" panose="02040503050406030204" pitchFamily="18" charset="0"/>
                </a:endParaRPr>
              </a:p>
              <a:p>
                <a:r>
                  <a:rPr lang="en-US" altLang="zh-CN" sz="300" i="1" dirty="0">
                    <a:latin typeface="Cambria Math" panose="02040503050406030204" pitchFamily="18" charset="0"/>
                  </a:rPr>
                  <a:t> </a:t>
                </a:r>
                <a:endParaRPr lang="en-US" altLang="zh-CN" sz="3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̅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acc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200" b="0" dirty="0"/>
              </a:p>
            </p:txBody>
          </p:sp>
        </mc:Choice>
        <mc:Fallback>
          <p:sp>
            <p:nvSpPr>
              <p:cNvPr id="187" name="文本框 1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280" y="5652383"/>
                <a:ext cx="1605696" cy="439287"/>
              </a:xfrm>
              <a:prstGeom prst="rect">
                <a:avLst/>
              </a:prstGeom>
              <a:blipFill rotWithShape="1">
                <a:blip r:embed="rId24"/>
                <a:stretch>
                  <a:fillRect l="-7" t="-56" r="32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8" name="文本框 187"/>
              <p:cNvSpPr txBox="1"/>
              <p:nvPr/>
            </p:nvSpPr>
            <p:spPr>
              <a:xfrm>
                <a:off x="9651501" y="5390469"/>
                <a:ext cx="974626" cy="1883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p>
                      </m:sSup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88" name="文本框 1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501" y="5390469"/>
                <a:ext cx="974626" cy="188385"/>
              </a:xfrm>
              <a:prstGeom prst="rect">
                <a:avLst/>
              </a:prstGeom>
              <a:blipFill rotWithShape="1">
                <a:blip r:embed="rId25"/>
                <a:stretch>
                  <a:fillRect l="-14" t="-313" r="-15698" b="2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9" name="矩形 188"/>
          <p:cNvSpPr/>
          <p:nvPr/>
        </p:nvSpPr>
        <p:spPr>
          <a:xfrm>
            <a:off x="9549512" y="5302656"/>
            <a:ext cx="1327022" cy="846022"/>
          </a:xfrm>
          <a:prstGeom prst="rect">
            <a:avLst/>
          </a:prstGeom>
          <a:noFill/>
          <a:ln w="19050">
            <a:solidFill>
              <a:schemeClr val="accent2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0" name="直接箭头连接符 189"/>
          <p:cNvCxnSpPr>
            <a:stCxn id="181" idx="3"/>
            <a:endCxn id="186" idx="1"/>
          </p:cNvCxnSpPr>
          <p:nvPr/>
        </p:nvCxnSpPr>
        <p:spPr>
          <a:xfrm>
            <a:off x="7320759" y="5725667"/>
            <a:ext cx="222594" cy="0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箭头连接符 190"/>
          <p:cNvCxnSpPr>
            <a:stCxn id="186" idx="3"/>
            <a:endCxn id="189" idx="1"/>
          </p:cNvCxnSpPr>
          <p:nvPr/>
        </p:nvCxnSpPr>
        <p:spPr>
          <a:xfrm>
            <a:off x="9323493" y="5725667"/>
            <a:ext cx="226019" cy="0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2" name="文本框 191"/>
              <p:cNvSpPr txBox="1"/>
              <p:nvPr/>
            </p:nvSpPr>
            <p:spPr>
              <a:xfrm>
                <a:off x="9592823" y="5776999"/>
                <a:ext cx="1245547" cy="1851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92" name="文本框 1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823" y="5776999"/>
                <a:ext cx="1245547" cy="185179"/>
              </a:xfrm>
              <a:prstGeom prst="rect">
                <a:avLst/>
              </a:prstGeom>
              <a:blipFill rotWithShape="1">
                <a:blip r:embed="rId26"/>
                <a:stretch>
                  <a:fillRect l="-41" t="-218" r="15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矩形: 圆角 196"/>
          <p:cNvSpPr/>
          <p:nvPr/>
        </p:nvSpPr>
        <p:spPr>
          <a:xfrm>
            <a:off x="2111023" y="5438519"/>
            <a:ext cx="8849432" cy="304870"/>
          </a:xfrm>
          <a:prstGeom prst="roundRect">
            <a:avLst>
              <a:gd name="adj" fmla="val 27776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矩形: 圆角 195"/>
          <p:cNvSpPr/>
          <p:nvPr/>
        </p:nvSpPr>
        <p:spPr>
          <a:xfrm>
            <a:off x="2111023" y="3712347"/>
            <a:ext cx="8849432" cy="304870"/>
          </a:xfrm>
          <a:prstGeom prst="roundRect">
            <a:avLst>
              <a:gd name="adj" fmla="val 2777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矩形: 圆角 194"/>
          <p:cNvSpPr/>
          <p:nvPr/>
        </p:nvSpPr>
        <p:spPr>
          <a:xfrm>
            <a:off x="2111023" y="2000271"/>
            <a:ext cx="8849432" cy="304870"/>
          </a:xfrm>
          <a:prstGeom prst="roundRect">
            <a:avLst>
              <a:gd name="adj" fmla="val 2777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矩形: 圆角 192"/>
          <p:cNvSpPr/>
          <p:nvPr/>
        </p:nvSpPr>
        <p:spPr>
          <a:xfrm>
            <a:off x="2111023" y="299795"/>
            <a:ext cx="8849432" cy="304870"/>
          </a:xfrm>
          <a:prstGeom prst="roundRect">
            <a:avLst>
              <a:gd name="adj" fmla="val 27776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/>
          <p:cNvSpPr/>
          <p:nvPr/>
        </p:nvSpPr>
        <p:spPr>
          <a:xfrm>
            <a:off x="2111023" y="299795"/>
            <a:ext cx="8849432" cy="1339995"/>
          </a:xfrm>
          <a:prstGeom prst="roundRect">
            <a:avLst>
              <a:gd name="adj" fmla="val 6767"/>
            </a:avLst>
          </a:prstGeom>
          <a:noFill/>
          <a:ln w="28575"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2111023" y="273870"/>
            <a:ext cx="6722533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Obtain Pre-match Win Prediction</a:t>
            </a:r>
            <a:endParaRPr lang="zh-CN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2769137" y="780129"/>
                <a:ext cx="97142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9137" y="780129"/>
                <a:ext cx="971420" cy="184666"/>
              </a:xfrm>
              <a:prstGeom prst="rect">
                <a:avLst/>
              </a:prstGeom>
              <a:blipFill rotWithShape="1">
                <a:blip r:embed="rId1"/>
                <a:stretch>
                  <a:fillRect l="-55" t="-189" r="-4991" b="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矩形 27"/>
          <p:cNvSpPr/>
          <p:nvPr/>
        </p:nvSpPr>
        <p:spPr>
          <a:xfrm>
            <a:off x="2225041" y="691600"/>
            <a:ext cx="2117082" cy="846022"/>
          </a:xfrm>
          <a:prstGeom prst="rect">
            <a:avLst/>
          </a:pr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/>
              <p:cNvSpPr txBox="1"/>
              <p:nvPr/>
            </p:nvSpPr>
            <p:spPr>
              <a:xfrm>
                <a:off x="2595524" y="1034476"/>
                <a:ext cx="1315809" cy="3818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524" y="1034476"/>
                <a:ext cx="1315809" cy="381836"/>
              </a:xfrm>
              <a:prstGeom prst="rect">
                <a:avLst/>
              </a:prstGeom>
              <a:blipFill rotWithShape="1">
                <a:blip r:embed="rId2"/>
                <a:stretch>
                  <a:fillRect l="-21" t="-16" r="-2626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/>
              <p:cNvSpPr txBox="1"/>
              <p:nvPr/>
            </p:nvSpPr>
            <p:spPr>
              <a:xfrm>
                <a:off x="5839557" y="780129"/>
                <a:ext cx="114614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557" y="780129"/>
                <a:ext cx="1146148" cy="184666"/>
              </a:xfrm>
              <a:prstGeom prst="rect">
                <a:avLst/>
              </a:prstGeom>
              <a:blipFill rotWithShape="1">
                <a:blip r:embed="rId3"/>
                <a:stretch>
                  <a:fillRect l="-8" t="-189" r="-4205" b="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矩形 31"/>
          <p:cNvSpPr/>
          <p:nvPr/>
        </p:nvSpPr>
        <p:spPr>
          <a:xfrm>
            <a:off x="5054652" y="691600"/>
            <a:ext cx="2821419" cy="846022"/>
          </a:xfrm>
          <a:prstGeom prst="rect">
            <a:avLst/>
          </a:pr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5096942" y="1166200"/>
                <a:ext cx="2736838" cy="1995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×(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942" y="1166200"/>
                <a:ext cx="2736838" cy="199542"/>
              </a:xfrm>
              <a:prstGeom prst="rect">
                <a:avLst/>
              </a:prstGeom>
              <a:blipFill rotWithShape="1">
                <a:blip r:embed="rId4"/>
                <a:stretch>
                  <a:fillRect l="-16" t="-170" r="-1516" b="2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/>
              <p:cNvSpPr txBox="1"/>
              <p:nvPr/>
            </p:nvSpPr>
            <p:spPr>
              <a:xfrm>
                <a:off x="9158992" y="780129"/>
                <a:ext cx="1194238" cy="2021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34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8992" y="780129"/>
                <a:ext cx="1194238" cy="202171"/>
              </a:xfrm>
              <a:prstGeom prst="rect">
                <a:avLst/>
              </a:prstGeom>
              <a:blipFill rotWithShape="1">
                <a:blip r:embed="rId5"/>
                <a:stretch>
                  <a:fillRect l="-32" t="-173" r="-3972" b="2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矩形 36"/>
          <p:cNvSpPr/>
          <p:nvPr/>
        </p:nvSpPr>
        <p:spPr>
          <a:xfrm>
            <a:off x="8660976" y="691600"/>
            <a:ext cx="2170035" cy="846022"/>
          </a:xfrm>
          <a:prstGeom prst="rect">
            <a:avLst/>
          </a:pr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37"/>
              <p:cNvSpPr txBox="1"/>
              <p:nvPr/>
            </p:nvSpPr>
            <p:spPr>
              <a:xfrm>
                <a:off x="8758932" y="1074552"/>
                <a:ext cx="2036648" cy="360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400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932" y="1074552"/>
                <a:ext cx="2036648" cy="360868"/>
              </a:xfrm>
              <a:prstGeom prst="rect">
                <a:avLst/>
              </a:prstGeom>
              <a:blipFill rotWithShape="1">
                <a:blip r:embed="rId6"/>
                <a:stretch>
                  <a:fillRect l="-19" t="-37" r="-1187" b="-2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接箭头连接符 42"/>
          <p:cNvCxnSpPr>
            <a:stCxn id="28" idx="3"/>
            <a:endCxn id="32" idx="1"/>
          </p:cNvCxnSpPr>
          <p:nvPr/>
        </p:nvCxnSpPr>
        <p:spPr>
          <a:xfrm>
            <a:off x="4342123" y="1114611"/>
            <a:ext cx="712529" cy="0"/>
          </a:xfrm>
          <a:prstGeom prst="straightConnector1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>
            <a:stCxn id="32" idx="3"/>
            <a:endCxn id="37" idx="1"/>
          </p:cNvCxnSpPr>
          <p:nvPr/>
        </p:nvCxnSpPr>
        <p:spPr>
          <a:xfrm>
            <a:off x="7876071" y="1114611"/>
            <a:ext cx="784905" cy="0"/>
          </a:xfrm>
          <a:prstGeom prst="straightConnector1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: 圆角 50"/>
          <p:cNvSpPr/>
          <p:nvPr/>
        </p:nvSpPr>
        <p:spPr>
          <a:xfrm>
            <a:off x="2111023" y="1997700"/>
            <a:ext cx="8849432" cy="1356903"/>
          </a:xfrm>
          <a:prstGeom prst="roundRect">
            <a:avLst>
              <a:gd name="adj" fmla="val 6767"/>
            </a:avLst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2111023" y="1982666"/>
            <a:ext cx="6722533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Probability of Winning the First Point</a:t>
            </a:r>
            <a:endParaRPr lang="zh-CN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本框 52"/>
              <p:cNvSpPr txBox="1"/>
              <p:nvPr/>
            </p:nvSpPr>
            <p:spPr>
              <a:xfrm>
                <a:off x="2393722" y="2494943"/>
                <a:ext cx="94577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𝑨𝒔𝒔𝒖𝒎𝒑𝒕𝒊𝒐𝒏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53" name="文本框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3722" y="2494943"/>
                <a:ext cx="945772" cy="184666"/>
              </a:xfrm>
              <a:prstGeom prst="rect">
                <a:avLst/>
              </a:prstGeom>
              <a:blipFill rotWithShape="1">
                <a:blip r:embed="rId7"/>
                <a:stretch>
                  <a:fillRect l="-43" t="-15" r="-5301" b="2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矩形 53"/>
          <p:cNvSpPr/>
          <p:nvPr/>
        </p:nvSpPr>
        <p:spPr>
          <a:xfrm>
            <a:off x="2225041" y="2406414"/>
            <a:ext cx="1268752" cy="846022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本框 55"/>
              <p:cNvSpPr txBox="1"/>
              <p:nvPr/>
            </p:nvSpPr>
            <p:spPr>
              <a:xfrm>
                <a:off x="2341464" y="2870029"/>
                <a:ext cx="1050288" cy="1995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2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2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1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12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200" b="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56" name="文本框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464" y="2870029"/>
                <a:ext cx="1050288" cy="199542"/>
              </a:xfrm>
              <a:prstGeom prst="rect">
                <a:avLst/>
              </a:prstGeom>
              <a:blipFill rotWithShape="1">
                <a:blip r:embed="rId8"/>
                <a:stretch>
                  <a:fillRect l="-21" t="-233" r="-5118" b="3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本框 56"/>
              <p:cNvSpPr txBox="1"/>
              <p:nvPr/>
            </p:nvSpPr>
            <p:spPr>
              <a:xfrm>
                <a:off x="4013367" y="2494943"/>
                <a:ext cx="137217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𝑮𝑿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𝑮𝑿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57" name="文本框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367" y="2494943"/>
                <a:ext cx="1372171" cy="184666"/>
              </a:xfrm>
              <a:prstGeom prst="rect">
                <a:avLst/>
              </a:prstGeom>
              <a:blipFill rotWithShape="1">
                <a:blip r:embed="rId9"/>
                <a:stretch>
                  <a:fillRect l="-12" t="-15" r="-4296" b="2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矩形 57"/>
          <p:cNvSpPr/>
          <p:nvPr/>
        </p:nvSpPr>
        <p:spPr>
          <a:xfrm>
            <a:off x="3700066" y="2406414"/>
            <a:ext cx="1962097" cy="846022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本框 58"/>
              <p:cNvSpPr txBox="1"/>
              <p:nvPr/>
            </p:nvSpPr>
            <p:spPr>
              <a:xfrm>
                <a:off x="3767788" y="2881014"/>
                <a:ext cx="186333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𝐺𝑋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𝐺𝑋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𝐺𝑋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59" name="文本框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788" y="2881014"/>
                <a:ext cx="1863331" cy="184666"/>
              </a:xfrm>
              <a:prstGeom prst="rect">
                <a:avLst/>
              </a:prstGeom>
              <a:blipFill rotWithShape="1">
                <a:blip r:embed="rId10"/>
                <a:stretch>
                  <a:fillRect l="-18" t="-10" r="-2423" b="2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/>
              <p:cNvSpPr txBox="1"/>
              <p:nvPr/>
            </p:nvSpPr>
            <p:spPr>
              <a:xfrm>
                <a:off x="6044900" y="2494943"/>
                <a:ext cx="141705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𝑺𝑨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60" name="文本框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4900" y="2494943"/>
                <a:ext cx="1417055" cy="184666"/>
              </a:xfrm>
              <a:prstGeom prst="rect">
                <a:avLst/>
              </a:prstGeom>
              <a:blipFill rotWithShape="1">
                <a:blip r:embed="rId11"/>
                <a:stretch>
                  <a:fillRect l="-24" t="-15" r="-3177" b="2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矩形 60"/>
          <p:cNvSpPr/>
          <p:nvPr/>
        </p:nvSpPr>
        <p:spPr>
          <a:xfrm>
            <a:off x="5897199" y="2406414"/>
            <a:ext cx="1665852" cy="846022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/>
              <p:cNvSpPr txBox="1"/>
              <p:nvPr/>
            </p:nvSpPr>
            <p:spPr>
              <a:xfrm>
                <a:off x="5939487" y="2881014"/>
                <a:ext cx="159101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𝑆𝐴</m:t>
                          </m:r>
                        </m:sub>
                      </m:sSub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𝐺𝑋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𝐺𝑋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62" name="文本框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9487" y="2881014"/>
                <a:ext cx="1591013" cy="184666"/>
              </a:xfrm>
              <a:prstGeom prst="rect">
                <a:avLst/>
              </a:prstGeom>
              <a:blipFill rotWithShape="1">
                <a:blip r:embed="rId12"/>
                <a:stretch>
                  <a:fillRect l="-21" t="-10" r="-1874" b="2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直接箭头连接符 62"/>
          <p:cNvCxnSpPr>
            <a:stCxn id="54" idx="3"/>
            <a:endCxn id="58" idx="1"/>
          </p:cNvCxnSpPr>
          <p:nvPr/>
        </p:nvCxnSpPr>
        <p:spPr>
          <a:xfrm>
            <a:off x="3493793" y="2829425"/>
            <a:ext cx="206273" cy="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>
            <a:stCxn id="58" idx="3"/>
            <a:endCxn id="61" idx="1"/>
          </p:cNvCxnSpPr>
          <p:nvPr/>
        </p:nvCxnSpPr>
        <p:spPr>
          <a:xfrm>
            <a:off x="5662163" y="2829425"/>
            <a:ext cx="235036" cy="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本框 76"/>
              <p:cNvSpPr txBox="1"/>
              <p:nvPr/>
            </p:nvSpPr>
            <p:spPr>
              <a:xfrm>
                <a:off x="7981481" y="2494943"/>
                <a:ext cx="1001877" cy="2021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77" name="文本框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81" y="2494943"/>
                <a:ext cx="1001877" cy="202171"/>
              </a:xfrm>
              <a:prstGeom prst="rect">
                <a:avLst/>
              </a:prstGeom>
              <a:blipFill rotWithShape="1">
                <a:blip r:embed="rId13"/>
                <a:stretch>
                  <a:fillRect l="-17" t="-14" r="-4816" b="1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矩形 77"/>
          <p:cNvSpPr/>
          <p:nvPr/>
        </p:nvSpPr>
        <p:spPr>
          <a:xfrm>
            <a:off x="7833780" y="2406414"/>
            <a:ext cx="1342291" cy="846022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本框 78"/>
              <p:cNvSpPr txBox="1"/>
              <p:nvPr/>
            </p:nvSpPr>
            <p:spPr>
              <a:xfrm>
                <a:off x="7876068" y="2670710"/>
                <a:ext cx="1253869" cy="521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𝑆𝐴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79" name="文本框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6068" y="2670710"/>
                <a:ext cx="1253869" cy="521810"/>
              </a:xfrm>
              <a:prstGeom prst="rect">
                <a:avLst/>
              </a:prstGeom>
              <a:blipFill rotWithShape="1">
                <a:blip r:embed="rId14"/>
                <a:stretch>
                  <a:fillRect l="-13" t="-103" r="-2742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文本框 80"/>
              <p:cNvSpPr txBox="1"/>
              <p:nvPr/>
            </p:nvSpPr>
            <p:spPr>
              <a:xfrm>
                <a:off x="9638643" y="2494943"/>
                <a:ext cx="97462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81" name="文本框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8643" y="2494943"/>
                <a:ext cx="974626" cy="184666"/>
              </a:xfrm>
              <a:prstGeom prst="rect">
                <a:avLst/>
              </a:prstGeom>
              <a:blipFill rotWithShape="1">
                <a:blip r:embed="rId15"/>
                <a:stretch>
                  <a:fillRect l="-63" t="-15" r="-4899" b="2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矩形 81"/>
          <p:cNvSpPr/>
          <p:nvPr/>
        </p:nvSpPr>
        <p:spPr>
          <a:xfrm>
            <a:off x="9416049" y="2406414"/>
            <a:ext cx="1419815" cy="846022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文本框 82"/>
              <p:cNvSpPr txBox="1"/>
              <p:nvPr/>
            </p:nvSpPr>
            <p:spPr>
              <a:xfrm>
                <a:off x="9495976" y="2754002"/>
                <a:ext cx="125996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inverse solution</a:t>
                </a:r>
                <a:endPara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yields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3" name="文本框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5976" y="2754002"/>
                <a:ext cx="1259960" cy="369332"/>
              </a:xfrm>
              <a:prstGeom prst="rect">
                <a:avLst/>
              </a:prstGeom>
              <a:blipFill rotWithShape="1">
                <a:blip r:embed="rId16"/>
                <a:stretch>
                  <a:fillRect l="-15" t="-2" r="-2798" b="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直接箭头连接符 96"/>
          <p:cNvCxnSpPr>
            <a:stCxn id="61" idx="3"/>
            <a:endCxn id="78" idx="1"/>
          </p:cNvCxnSpPr>
          <p:nvPr/>
        </p:nvCxnSpPr>
        <p:spPr>
          <a:xfrm>
            <a:off x="7563051" y="2829425"/>
            <a:ext cx="270729" cy="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>
            <a:stCxn id="78" idx="3"/>
            <a:endCxn id="82" idx="1"/>
          </p:cNvCxnSpPr>
          <p:nvPr/>
        </p:nvCxnSpPr>
        <p:spPr>
          <a:xfrm>
            <a:off x="9176071" y="2829425"/>
            <a:ext cx="239978" cy="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: 圆角 103"/>
          <p:cNvSpPr/>
          <p:nvPr/>
        </p:nvSpPr>
        <p:spPr>
          <a:xfrm>
            <a:off x="2111023" y="3727244"/>
            <a:ext cx="8849432" cy="1356904"/>
          </a:xfrm>
          <a:prstGeom prst="roundRect">
            <a:avLst>
              <a:gd name="adj" fmla="val 6767"/>
            </a:avLst>
          </a:prstGeom>
          <a:noFill/>
          <a:ln w="28575">
            <a:solidFill>
              <a:schemeClr val="accent2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文本框 104"/>
          <p:cNvSpPr txBox="1"/>
          <p:nvPr/>
        </p:nvSpPr>
        <p:spPr>
          <a:xfrm>
            <a:off x="2111023" y="3693531"/>
            <a:ext cx="6722533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Real-Time Win Probability</a:t>
            </a:r>
            <a:endParaRPr lang="zh-CN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文本框 105"/>
              <p:cNvSpPr txBox="1"/>
              <p:nvPr/>
            </p:nvSpPr>
            <p:spPr>
              <a:xfrm>
                <a:off x="2314069" y="4227607"/>
                <a:ext cx="93936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06" name="文本框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069" y="4227607"/>
                <a:ext cx="939360" cy="184666"/>
              </a:xfrm>
              <a:prstGeom prst="rect">
                <a:avLst/>
              </a:prstGeom>
              <a:blipFill rotWithShape="1">
                <a:blip r:embed="rId17"/>
                <a:stretch>
                  <a:fillRect l="-14" t="-223" r="-5238" b="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矩形 106"/>
          <p:cNvSpPr/>
          <p:nvPr/>
        </p:nvSpPr>
        <p:spPr>
          <a:xfrm>
            <a:off x="2225042" y="4139078"/>
            <a:ext cx="1105056" cy="846022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文本框 107"/>
              <p:cNvSpPr txBox="1"/>
              <p:nvPr/>
            </p:nvSpPr>
            <p:spPr>
              <a:xfrm>
                <a:off x="2383432" y="4488934"/>
                <a:ext cx="752129" cy="387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08" name="文本框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432" y="4488934"/>
                <a:ext cx="752129" cy="387414"/>
              </a:xfrm>
              <a:prstGeom prst="rect">
                <a:avLst/>
              </a:prstGeom>
              <a:blipFill rotWithShape="1">
                <a:blip r:embed="rId18"/>
                <a:stretch>
                  <a:fillRect l="-37" t="-31" r="-3808" b="-22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文本框 108"/>
              <p:cNvSpPr txBox="1"/>
              <p:nvPr/>
            </p:nvSpPr>
            <p:spPr>
              <a:xfrm>
                <a:off x="4163302" y="4227607"/>
                <a:ext cx="87043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𝑶𝒑𝒕𝒊𝒎𝒊𝒛𝒆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09" name="文本框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302" y="4227607"/>
                <a:ext cx="870431" cy="184666"/>
              </a:xfrm>
              <a:prstGeom prst="rect">
                <a:avLst/>
              </a:prstGeom>
              <a:blipFill rotWithShape="1">
                <a:blip r:embed="rId19"/>
                <a:stretch>
                  <a:fillRect l="-28" t="-223" r="-5753" b="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矩形 109"/>
          <p:cNvSpPr/>
          <p:nvPr/>
        </p:nvSpPr>
        <p:spPr>
          <a:xfrm>
            <a:off x="3538032" y="4139078"/>
            <a:ext cx="2237092" cy="846022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文本框 110"/>
              <p:cNvSpPr txBox="1"/>
              <p:nvPr/>
            </p:nvSpPr>
            <p:spPr>
              <a:xfrm>
                <a:off x="3559258" y="4613678"/>
                <a:ext cx="219464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̅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11" name="文本框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258" y="4613678"/>
                <a:ext cx="2194640" cy="184666"/>
              </a:xfrm>
              <a:prstGeom prst="rect">
                <a:avLst/>
              </a:prstGeom>
              <a:blipFill rotWithShape="1">
                <a:blip r:embed="rId20"/>
                <a:stretch>
                  <a:fillRect l="-4" t="-218" r="-1497" b="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文本框 111"/>
              <p:cNvSpPr txBox="1"/>
              <p:nvPr/>
            </p:nvSpPr>
            <p:spPr>
              <a:xfrm>
                <a:off x="6069113" y="4227607"/>
                <a:ext cx="1223092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𝜼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12" name="文本框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113" y="4227607"/>
                <a:ext cx="1223092" cy="184666"/>
              </a:xfrm>
              <a:prstGeom prst="rect">
                <a:avLst/>
              </a:prstGeom>
              <a:blipFill rotWithShape="1">
                <a:blip r:embed="rId21"/>
                <a:stretch>
                  <a:fillRect l="-34" t="-223" r="41" b="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矩形 112"/>
          <p:cNvSpPr/>
          <p:nvPr/>
        </p:nvSpPr>
        <p:spPr>
          <a:xfrm>
            <a:off x="5997718" y="4139078"/>
            <a:ext cx="1323041" cy="846022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文本框 113"/>
              <p:cNvSpPr txBox="1"/>
              <p:nvPr/>
            </p:nvSpPr>
            <p:spPr>
              <a:xfrm>
                <a:off x="6145607" y="4523013"/>
                <a:ext cx="1016368" cy="3192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14" name="文本框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607" y="4523013"/>
                <a:ext cx="1016368" cy="319255"/>
              </a:xfrm>
              <a:prstGeom prst="rect">
                <a:avLst/>
              </a:prstGeom>
              <a:blipFill rotWithShape="1">
                <a:blip r:embed="rId22"/>
                <a:stretch>
                  <a:fillRect l="-8" t="-170" r="44" b="1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5" name="直接箭头连接符 114"/>
          <p:cNvCxnSpPr>
            <a:stCxn id="107" idx="3"/>
            <a:endCxn id="110" idx="1"/>
          </p:cNvCxnSpPr>
          <p:nvPr/>
        </p:nvCxnSpPr>
        <p:spPr>
          <a:xfrm>
            <a:off x="3330098" y="4562089"/>
            <a:ext cx="207934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>
            <a:stCxn id="110" idx="3"/>
            <a:endCxn id="113" idx="1"/>
          </p:cNvCxnSpPr>
          <p:nvPr/>
        </p:nvCxnSpPr>
        <p:spPr>
          <a:xfrm>
            <a:off x="5775124" y="4562089"/>
            <a:ext cx="222594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文本框 116"/>
              <p:cNvSpPr txBox="1"/>
              <p:nvPr/>
            </p:nvSpPr>
            <p:spPr>
              <a:xfrm>
                <a:off x="7788926" y="4226013"/>
                <a:ext cx="1314462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e>
                      </m:acc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17" name="文本框 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926" y="4226013"/>
                <a:ext cx="1314462" cy="184666"/>
              </a:xfrm>
              <a:prstGeom prst="rect">
                <a:avLst/>
              </a:prstGeom>
              <a:blipFill rotWithShape="1">
                <a:blip r:embed="rId23"/>
                <a:stretch>
                  <a:fillRect l="-1" t="-48" r="2" b="3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矩形 117"/>
          <p:cNvSpPr/>
          <p:nvPr/>
        </p:nvSpPr>
        <p:spPr>
          <a:xfrm>
            <a:off x="7543353" y="4139078"/>
            <a:ext cx="1780140" cy="846022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文本框 118"/>
              <p:cNvSpPr txBox="1"/>
              <p:nvPr/>
            </p:nvSpPr>
            <p:spPr>
              <a:xfrm>
                <a:off x="7623280" y="4488805"/>
                <a:ext cx="1605696" cy="4392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b="0" i="1" dirty="0">
                  <a:latin typeface="Cambria Math" panose="02040503050406030204" pitchFamily="18" charset="0"/>
                </a:endParaRPr>
              </a:p>
              <a:p>
                <a:r>
                  <a:rPr lang="en-US" altLang="zh-CN" sz="300" i="1" dirty="0">
                    <a:latin typeface="Cambria Math" panose="02040503050406030204" pitchFamily="18" charset="0"/>
                  </a:rPr>
                  <a:t> </a:t>
                </a:r>
                <a:endParaRPr lang="en-US" altLang="zh-CN" sz="3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̅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acc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200" b="0" dirty="0"/>
              </a:p>
            </p:txBody>
          </p:sp>
        </mc:Choice>
        <mc:Fallback>
          <p:sp>
            <p:nvSpPr>
              <p:cNvPr id="119" name="文本框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280" y="4488805"/>
                <a:ext cx="1605696" cy="439287"/>
              </a:xfrm>
              <a:prstGeom prst="rect">
                <a:avLst/>
              </a:prstGeom>
              <a:blipFill rotWithShape="1">
                <a:blip r:embed="rId24"/>
                <a:stretch>
                  <a:fillRect l="-7" t="-142" r="32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文本框 119"/>
              <p:cNvSpPr txBox="1"/>
              <p:nvPr/>
            </p:nvSpPr>
            <p:spPr>
              <a:xfrm>
                <a:off x="9651501" y="4226891"/>
                <a:ext cx="974626" cy="1883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𝑪𝒂𝒍𝒄𝒖𝒍𝒂𝒕𝒆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p>
                      </m:sSup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20" name="文本框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501" y="4226891"/>
                <a:ext cx="974626" cy="188385"/>
              </a:xfrm>
              <a:prstGeom prst="rect">
                <a:avLst/>
              </a:prstGeom>
              <a:blipFill rotWithShape="1">
                <a:blip r:embed="rId25"/>
                <a:stretch>
                  <a:fillRect l="-14" t="-176" r="-15698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矩形 120"/>
          <p:cNvSpPr/>
          <p:nvPr/>
        </p:nvSpPr>
        <p:spPr>
          <a:xfrm>
            <a:off x="9549512" y="4139078"/>
            <a:ext cx="1327022" cy="846022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5" name="直接箭头连接符 124"/>
          <p:cNvCxnSpPr>
            <a:stCxn id="113" idx="3"/>
            <a:endCxn id="118" idx="1"/>
          </p:cNvCxnSpPr>
          <p:nvPr/>
        </p:nvCxnSpPr>
        <p:spPr>
          <a:xfrm>
            <a:off x="7320759" y="4562089"/>
            <a:ext cx="222594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/>
          <p:cNvCxnSpPr>
            <a:stCxn id="118" idx="3"/>
            <a:endCxn id="121" idx="1"/>
          </p:cNvCxnSpPr>
          <p:nvPr/>
        </p:nvCxnSpPr>
        <p:spPr>
          <a:xfrm>
            <a:off x="9323493" y="4562089"/>
            <a:ext cx="226019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文本框 169"/>
              <p:cNvSpPr txBox="1"/>
              <p:nvPr/>
            </p:nvSpPr>
            <p:spPr>
              <a:xfrm>
                <a:off x="9592823" y="4613421"/>
                <a:ext cx="1245547" cy="1883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70" name="文本框 1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823" y="4613421"/>
                <a:ext cx="1245547" cy="188385"/>
              </a:xfrm>
              <a:prstGeom prst="rect">
                <a:avLst/>
              </a:prstGeom>
              <a:blipFill rotWithShape="1">
                <a:blip r:embed="rId26"/>
                <a:stretch>
                  <a:fillRect l="-41" t="-78" r="15" b="3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矩形: 圆角 171"/>
          <p:cNvSpPr/>
          <p:nvPr/>
        </p:nvSpPr>
        <p:spPr>
          <a:xfrm>
            <a:off x="2111023" y="5438519"/>
            <a:ext cx="8849432" cy="948722"/>
          </a:xfrm>
          <a:prstGeom prst="roundRect">
            <a:avLst>
              <a:gd name="adj" fmla="val 6767"/>
            </a:avLst>
          </a:prstGeom>
          <a:noFill/>
          <a:ln w="28575">
            <a:solidFill>
              <a:schemeClr val="accent2">
                <a:lumMod val="75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文本框 172"/>
          <p:cNvSpPr txBox="1"/>
          <p:nvPr/>
        </p:nvSpPr>
        <p:spPr>
          <a:xfrm>
            <a:off x="2111023" y="5417335"/>
            <a:ext cx="6722533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Quantification of Momentum (MMT)</a:t>
            </a:r>
            <a:endParaRPr lang="zh-CN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文本框 193"/>
              <p:cNvSpPr txBox="1"/>
              <p:nvPr/>
            </p:nvSpPr>
            <p:spPr>
              <a:xfrm>
                <a:off x="4807048" y="5817681"/>
                <a:ext cx="3435428" cy="479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𝑴𝑴𝑻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eqArr>
                            <m:eqArr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altLang="zh-CN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1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p>
                                  <m:r>
                                    <a:rPr lang="en-US" altLang="zh-CN" sz="12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b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,     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𝑖𝑠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𝑠𝑒𝑟𝑣𝑒𝑟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p>
                                  <m:r>
                                    <a:rPr lang="en-US" altLang="zh-CN" sz="12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b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𝑖𝑠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𝑟𝑒𝑐𝑒𝑖𝑣𝑒𝑟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94" name="文本框 1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48" y="5817681"/>
                <a:ext cx="3435428" cy="479683"/>
              </a:xfrm>
              <a:prstGeom prst="rect">
                <a:avLst/>
              </a:prstGeom>
              <a:blipFill rotWithShape="1">
                <a:blip r:embed="rId27"/>
                <a:stretch>
                  <a:fillRect l="-3" t="-93" r="5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8" name="箭头: 下 207"/>
          <p:cNvSpPr/>
          <p:nvPr/>
        </p:nvSpPr>
        <p:spPr>
          <a:xfrm>
            <a:off x="6423202" y="1639790"/>
            <a:ext cx="225074" cy="341307"/>
          </a:xfrm>
          <a:prstGeom prst="downArrow">
            <a:avLst>
              <a:gd name="adj1" fmla="val 51961"/>
              <a:gd name="adj2" fmla="val 75556"/>
            </a:avLst>
          </a:pr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9" name="箭头: 下 208"/>
          <p:cNvSpPr/>
          <p:nvPr/>
        </p:nvSpPr>
        <p:spPr>
          <a:xfrm>
            <a:off x="6423202" y="3369626"/>
            <a:ext cx="225074" cy="341307"/>
          </a:xfrm>
          <a:prstGeom prst="downArrow">
            <a:avLst>
              <a:gd name="adj1" fmla="val 51961"/>
              <a:gd name="adj2" fmla="val 75556"/>
            </a:avLst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0" name="箭头: 下 209"/>
          <p:cNvSpPr/>
          <p:nvPr/>
        </p:nvSpPr>
        <p:spPr>
          <a:xfrm>
            <a:off x="6423202" y="5090680"/>
            <a:ext cx="225074" cy="341307"/>
          </a:xfrm>
          <a:prstGeom prst="downArrow">
            <a:avLst>
              <a:gd name="adj1" fmla="val 51961"/>
              <a:gd name="adj2" fmla="val 75556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矩形: 圆角 50"/>
          <p:cNvSpPr/>
          <p:nvPr/>
        </p:nvSpPr>
        <p:spPr>
          <a:xfrm>
            <a:off x="1121693" y="780405"/>
            <a:ext cx="8849432" cy="1356903"/>
          </a:xfrm>
          <a:prstGeom prst="roundRect">
            <a:avLst>
              <a:gd name="adj" fmla="val 6767"/>
            </a:avLst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820545" y="1191260"/>
            <a:ext cx="295910" cy="5158105"/>
          </a:xfrm>
          <a:prstGeom prst="rect">
            <a:avLst/>
          </a:prstGeom>
          <a:noFill/>
          <a:ln w="19050">
            <a:solidFill>
              <a:srgbClr val="9F605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8D6C67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Part I</a:t>
            </a:r>
            <a:endParaRPr lang="en-US" altLang="zh-CN" sz="1600" b="1" dirty="0">
              <a:solidFill>
                <a:srgbClr val="8D6C67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ctr"/>
            <a:r>
              <a:rPr lang="en-US" altLang="zh-CN" sz="1600" b="1" dirty="0">
                <a:solidFill>
                  <a:srgbClr val="8D6C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zh-CN" altLang="en-US" sz="1600" b="1" dirty="0">
                <a:solidFill>
                  <a:srgbClr val="8D6C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超参数算法</a:t>
            </a:r>
            <a:r>
              <a:rPr lang="zh-CN" altLang="en-US" sz="1600" b="1" dirty="0">
                <a:solidFill>
                  <a:srgbClr val="8D6C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调参</a:t>
            </a:r>
            <a:endParaRPr lang="zh-CN" altLang="en-US" sz="1600" b="1" dirty="0">
              <a:solidFill>
                <a:srgbClr val="8D6C6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236220" y="1191260"/>
            <a:ext cx="1414780" cy="975360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235585" y="2399030"/>
            <a:ext cx="1416050" cy="3949700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b="1" i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360680" y="2739390"/>
            <a:ext cx="1099185" cy="3280410"/>
            <a:chOff x="718" y="5416"/>
            <a:chExt cx="1731" cy="5166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1"/>
            <a:srcRect b="12333"/>
            <a:stretch>
              <a:fillRect/>
            </a:stretch>
          </p:blipFill>
          <p:spPr>
            <a:xfrm>
              <a:off x="723" y="9430"/>
              <a:ext cx="1726" cy="1153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" y="8055"/>
              <a:ext cx="1726" cy="1173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8" y="5416"/>
              <a:ext cx="1730" cy="1154"/>
            </a:xfrm>
            <a:prstGeom prst="rect">
              <a:avLst/>
            </a:prstGeom>
          </p:spPr>
        </p:pic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8" y="6680"/>
              <a:ext cx="1731" cy="1173"/>
            </a:xfrm>
            <a:prstGeom prst="rect">
              <a:avLst/>
            </a:prstGeom>
          </p:spPr>
        </p:pic>
      </p:grpSp>
      <p:pic>
        <p:nvPicPr>
          <p:cNvPr id="44" name="图片 6" descr="点击查看图片来源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8570" y="3790315"/>
            <a:ext cx="3776980" cy="22536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" name="矩形 46"/>
          <p:cNvSpPr/>
          <p:nvPr/>
        </p:nvSpPr>
        <p:spPr>
          <a:xfrm>
            <a:off x="2346325" y="1191895"/>
            <a:ext cx="4139565" cy="2033905"/>
          </a:xfrm>
          <a:prstGeom prst="rect">
            <a:avLst/>
          </a:prstGeom>
          <a:noFill/>
          <a:ln w="19050">
            <a:solidFill>
              <a:srgbClr val="E98D0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2346325" y="3430270"/>
            <a:ext cx="4154170" cy="2918460"/>
          </a:xfrm>
          <a:prstGeom prst="rect">
            <a:avLst/>
          </a:prstGeom>
          <a:noFill/>
          <a:ln w="19050">
            <a:solidFill>
              <a:srgbClr val="E98D0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 altLang="zh-CN" sz="1600" dirty="0">
              <a:ln>
                <a:solidFill>
                  <a:srgbClr val="E98D05"/>
                </a:solidFill>
              </a:ln>
              <a:solidFill>
                <a:srgbClr val="E98D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460625" y="3542665"/>
            <a:ext cx="106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RF</a:t>
            </a:r>
            <a:endParaRPr lang="en-US" altLang="zh-CN" b="1"/>
          </a:p>
        </p:txBody>
      </p:sp>
      <p:sp>
        <p:nvSpPr>
          <p:cNvPr id="52" name="矩形: 圆角 9"/>
          <p:cNvSpPr/>
          <p:nvPr/>
        </p:nvSpPr>
        <p:spPr>
          <a:xfrm>
            <a:off x="6631940" y="1192530"/>
            <a:ext cx="403225" cy="5156835"/>
          </a:xfrm>
          <a:prstGeom prst="roundRect">
            <a:avLst>
              <a:gd name="adj" fmla="val 9035"/>
            </a:avLst>
          </a:prstGeom>
          <a:noFill/>
          <a:ln w="19050">
            <a:solidFill>
              <a:srgbClr val="001BA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数据集划分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9" name="图片 58" descr="d1037fb241d0894f5c7088c414b9687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505" y="1553845"/>
            <a:ext cx="1097915" cy="686435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1850" y="1191260"/>
            <a:ext cx="2771775" cy="5157470"/>
          </a:xfrm>
          <a:prstGeom prst="rect">
            <a:avLst/>
          </a:prstGeom>
        </p:spPr>
      </p:pic>
      <p:sp>
        <p:nvSpPr>
          <p:cNvPr id="61" name="矩形 60"/>
          <p:cNvSpPr/>
          <p:nvPr/>
        </p:nvSpPr>
        <p:spPr>
          <a:xfrm>
            <a:off x="7181850" y="1192530"/>
            <a:ext cx="2842260" cy="5156200"/>
          </a:xfrm>
          <a:prstGeom prst="rect">
            <a:avLst/>
          </a:prstGeom>
          <a:noFill/>
          <a:ln w="19050">
            <a:solidFill>
              <a:srgbClr val="426E9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 altLang="zh-CN" sz="1400" b="1" dirty="0">
              <a:solidFill>
                <a:srgbClr val="426E9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矩形: 圆角 50"/>
          <p:cNvSpPr/>
          <p:nvPr/>
        </p:nvSpPr>
        <p:spPr>
          <a:xfrm>
            <a:off x="10240010" y="1190625"/>
            <a:ext cx="1780540" cy="5158105"/>
          </a:xfrm>
          <a:prstGeom prst="roundRect">
            <a:avLst>
              <a:gd name="adj" fmla="val 6767"/>
            </a:avLst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箭头: 下 46"/>
          <p:cNvSpPr/>
          <p:nvPr/>
        </p:nvSpPr>
        <p:spPr>
          <a:xfrm rot="16200000">
            <a:off x="10072907" y="1955627"/>
            <a:ext cx="323851" cy="562342"/>
          </a:xfrm>
          <a:prstGeom prst="downArrow">
            <a:avLst>
              <a:gd name="adj1" fmla="val 51961"/>
              <a:gd name="adj2" fmla="val 86758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63" name="箭头: 下 46"/>
          <p:cNvSpPr/>
          <p:nvPr/>
        </p:nvSpPr>
        <p:spPr>
          <a:xfrm rot="16200000">
            <a:off x="10072907" y="5246832"/>
            <a:ext cx="323851" cy="562342"/>
          </a:xfrm>
          <a:prstGeom prst="downArrow">
            <a:avLst>
              <a:gd name="adj1" fmla="val 51961"/>
              <a:gd name="adj2" fmla="val 86758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65" name="椭圆 64"/>
          <p:cNvSpPr/>
          <p:nvPr/>
        </p:nvSpPr>
        <p:spPr>
          <a:xfrm>
            <a:off x="10331450" y="2600960"/>
            <a:ext cx="457200" cy="424815"/>
          </a:xfrm>
          <a:prstGeom prst="ellipse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椭圆 65"/>
          <p:cNvSpPr/>
          <p:nvPr/>
        </p:nvSpPr>
        <p:spPr>
          <a:xfrm>
            <a:off x="10331450" y="4286885"/>
            <a:ext cx="457200" cy="424815"/>
          </a:xfrm>
          <a:prstGeom prst="ellipse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0350500" y="1513840"/>
            <a:ext cx="438150" cy="35941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10350500" y="5690235"/>
            <a:ext cx="438150" cy="35941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圆角矩形 71"/>
          <p:cNvSpPr/>
          <p:nvPr/>
        </p:nvSpPr>
        <p:spPr>
          <a:xfrm>
            <a:off x="10962640" y="1934845"/>
            <a:ext cx="297815" cy="666115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圆角矩形 72"/>
          <p:cNvSpPr/>
          <p:nvPr/>
        </p:nvSpPr>
        <p:spPr>
          <a:xfrm>
            <a:off x="10962640" y="4844415"/>
            <a:ext cx="297815" cy="666115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4" name="曲线连接符 73"/>
          <p:cNvCxnSpPr>
            <a:stCxn id="67" idx="3"/>
            <a:endCxn id="72" idx="0"/>
          </p:cNvCxnSpPr>
          <p:nvPr/>
        </p:nvCxnSpPr>
        <p:spPr>
          <a:xfrm>
            <a:off x="10788650" y="1693545"/>
            <a:ext cx="323215" cy="241300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曲线连接符 74"/>
          <p:cNvCxnSpPr>
            <a:stCxn id="65" idx="6"/>
            <a:endCxn id="72" idx="2"/>
          </p:cNvCxnSpPr>
          <p:nvPr/>
        </p:nvCxnSpPr>
        <p:spPr>
          <a:xfrm flipV="1">
            <a:off x="10788650" y="2600960"/>
            <a:ext cx="323215" cy="21272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曲线连接符 75"/>
          <p:cNvCxnSpPr>
            <a:stCxn id="66" idx="6"/>
            <a:endCxn id="73" idx="0"/>
          </p:cNvCxnSpPr>
          <p:nvPr/>
        </p:nvCxnSpPr>
        <p:spPr>
          <a:xfrm>
            <a:off x="10788650" y="4499610"/>
            <a:ext cx="323215" cy="34480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曲线连接符 76"/>
          <p:cNvCxnSpPr>
            <a:stCxn id="68" idx="3"/>
            <a:endCxn id="73" idx="2"/>
          </p:cNvCxnSpPr>
          <p:nvPr/>
        </p:nvCxnSpPr>
        <p:spPr>
          <a:xfrm flipV="1">
            <a:off x="10788650" y="5510530"/>
            <a:ext cx="323215" cy="359410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8" name="矩形 77"/>
          <p:cNvSpPr/>
          <p:nvPr/>
        </p:nvSpPr>
        <p:spPr>
          <a:xfrm>
            <a:off x="11208385" y="3402965"/>
            <a:ext cx="725805" cy="3873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9" name="曲线连接符 78"/>
          <p:cNvCxnSpPr>
            <a:stCxn id="73" idx="3"/>
            <a:endCxn id="78" idx="2"/>
          </p:cNvCxnSpPr>
          <p:nvPr/>
        </p:nvCxnSpPr>
        <p:spPr>
          <a:xfrm flipV="1">
            <a:off x="11260455" y="3790315"/>
            <a:ext cx="311150" cy="138747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" name="曲线连接符 79"/>
          <p:cNvCxnSpPr>
            <a:stCxn id="72" idx="3"/>
            <a:endCxn id="78" idx="0"/>
          </p:cNvCxnSpPr>
          <p:nvPr/>
        </p:nvCxnSpPr>
        <p:spPr>
          <a:xfrm>
            <a:off x="11260455" y="2268220"/>
            <a:ext cx="311150" cy="113474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 descr="5556964027282843c787699fa7699f2c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3005" y="1378585"/>
            <a:ext cx="3851275" cy="1788160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2460625" y="1192530"/>
            <a:ext cx="106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BiLSTM</a:t>
            </a:r>
            <a:endParaRPr lang="en-US" altLang="zh-CN" b="1"/>
          </a:p>
        </p:txBody>
      </p:sp>
      <p:sp>
        <p:nvSpPr>
          <p:cNvPr id="209" name="箭头: 下 208"/>
          <p:cNvSpPr/>
          <p:nvPr/>
        </p:nvSpPr>
        <p:spPr>
          <a:xfrm rot="16200000">
            <a:off x="2116632" y="2166936"/>
            <a:ext cx="225074" cy="341307"/>
          </a:xfrm>
          <a:prstGeom prst="downArrow">
            <a:avLst>
              <a:gd name="adj1" fmla="val 51961"/>
              <a:gd name="adj2" fmla="val 75556"/>
            </a:avLst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/>
          <p:cNvSpPr/>
          <p:nvPr/>
        </p:nvSpPr>
        <p:spPr>
          <a:xfrm>
            <a:off x="969741" y="5708457"/>
            <a:ext cx="7677894" cy="528104"/>
          </a:xfrm>
          <a:prstGeom prst="roundRect">
            <a:avLst>
              <a:gd name="adj" fmla="val 9035"/>
            </a:avLst>
          </a:prstGeom>
          <a:noFill/>
          <a:ln w="19050">
            <a:solidFill>
              <a:srgbClr val="001BA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519412" y="5784520"/>
            <a:ext cx="2576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 Analysis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969743" y="3460117"/>
            <a:ext cx="2305582" cy="690509"/>
          </a:xfrm>
          <a:prstGeom prst="roundRect">
            <a:avLst>
              <a:gd name="adj" fmla="val 10201"/>
            </a:avLst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69744" y="3511278"/>
            <a:ext cx="230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Share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969744" y="3811669"/>
                <a:ext cx="2305581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744" y="3811669"/>
                <a:ext cx="2305581" cy="246221"/>
              </a:xfrm>
              <a:prstGeom prst="rect">
                <a:avLst/>
              </a:prstGeom>
              <a:blipFill rotWithShape="1">
                <a:blip r:embed="rId1"/>
                <a:stretch>
                  <a:fillRect l="-4" t="-162" r="27" b="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/>
          <p:cNvSpPr txBox="1"/>
          <p:nvPr/>
        </p:nvSpPr>
        <p:spPr>
          <a:xfrm>
            <a:off x="3655897" y="3511278"/>
            <a:ext cx="230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Consumer Feedback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3655897" y="3452497"/>
            <a:ext cx="2305582" cy="690510"/>
          </a:xfrm>
          <a:prstGeom prst="roundRect">
            <a:avLst>
              <a:gd name="adj" fmla="val 10201"/>
            </a:avLst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3655898" y="3811669"/>
                <a:ext cx="2305581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898" y="3811669"/>
                <a:ext cx="2305581" cy="246221"/>
              </a:xfrm>
              <a:prstGeom prst="rect">
                <a:avLst/>
              </a:prstGeom>
              <a:blipFill rotWithShape="1">
                <a:blip r:embed="rId1"/>
                <a:stretch>
                  <a:fillRect l="-9" t="-162" r="4" b="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/>
          <p:cNvSpPr txBox="1"/>
          <p:nvPr/>
        </p:nvSpPr>
        <p:spPr>
          <a:xfrm>
            <a:off x="6342054" y="3511278"/>
            <a:ext cx="230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Repurchase Rate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6342054" y="3452497"/>
            <a:ext cx="2305582" cy="690510"/>
          </a:xfrm>
          <a:prstGeom prst="roundRect">
            <a:avLst>
              <a:gd name="adj" fmla="val 10201"/>
            </a:avLst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6342055" y="3811669"/>
                <a:ext cx="2305581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2055" y="3811669"/>
                <a:ext cx="2305581" cy="246221"/>
              </a:xfrm>
              <a:prstGeom prst="rect">
                <a:avLst/>
              </a:prstGeom>
              <a:blipFill rotWithShape="1">
                <a:blip r:embed="rId1"/>
                <a:stretch>
                  <a:fillRect l="-13" t="-162" r="9" b="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矩形: 圆角 27"/>
          <p:cNvSpPr/>
          <p:nvPr/>
        </p:nvSpPr>
        <p:spPr>
          <a:xfrm>
            <a:off x="969743" y="1355149"/>
            <a:ext cx="2208321" cy="868956"/>
          </a:xfrm>
          <a:prstGeom prst="roundRect">
            <a:avLst>
              <a:gd name="adj" fmla="val 10201"/>
            </a:avLst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6058" y="1413929"/>
            <a:ext cx="230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Values: Step 1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541514" y="1413929"/>
            <a:ext cx="230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Values: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 1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3541514" y="1355148"/>
            <a:ext cx="2305582" cy="868955"/>
          </a:xfrm>
          <a:prstGeom prst="roundRect">
            <a:avLst>
              <a:gd name="adj" fmla="val 10201"/>
            </a:avLst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147327" y="1413930"/>
            <a:ext cx="230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Values: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 2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6258495" y="1355148"/>
            <a:ext cx="2106377" cy="868955"/>
          </a:xfrm>
          <a:prstGeom prst="roundRect">
            <a:avLst>
              <a:gd name="adj" fmla="val 10201"/>
            </a:avLst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146962" y="1688776"/>
            <a:ext cx="2305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the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matches where </a:t>
            </a:r>
            <a:r>
              <a:rPr lang="en-US" altLang="zh-C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speed_mph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totally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abscent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49002" y="5385851"/>
            <a:ext cx="230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001BA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MODEL SETUP</a:t>
            </a:r>
            <a:endParaRPr lang="zh-CN" altLang="en-US" sz="1400" b="1" dirty="0">
              <a:solidFill>
                <a:srgbClr val="001BA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箭头: 下 43"/>
          <p:cNvSpPr/>
          <p:nvPr/>
        </p:nvSpPr>
        <p:spPr>
          <a:xfrm>
            <a:off x="5906670" y="5104680"/>
            <a:ext cx="323851" cy="562342"/>
          </a:xfrm>
          <a:prstGeom prst="downArrow">
            <a:avLst>
              <a:gd name="adj1" fmla="val 51961"/>
              <a:gd name="adj2" fmla="val 86758"/>
            </a:avLst>
          </a:prstGeom>
          <a:gradFill flip="none" rotWithShape="1">
            <a:gsLst>
              <a:gs pos="0">
                <a:schemeClr val="accent5"/>
              </a:gs>
              <a:gs pos="100000">
                <a:srgbClr val="001BA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5" name="文本框 44"/>
          <p:cNvSpPr txBox="1"/>
          <p:nvPr/>
        </p:nvSpPr>
        <p:spPr>
          <a:xfrm>
            <a:off x="804604" y="1047371"/>
            <a:ext cx="230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zh-CN" altLang="en-US" sz="1400" b="1" dirty="0"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2943987" y="2904415"/>
            <a:ext cx="2704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INDICATORS CALCULATION</a:t>
            </a:r>
            <a:endParaRPr lang="zh-CN" altLang="en-US" sz="14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箭头: 下 46"/>
          <p:cNvSpPr/>
          <p:nvPr/>
        </p:nvSpPr>
        <p:spPr>
          <a:xfrm>
            <a:off x="5906672" y="3099262"/>
            <a:ext cx="323851" cy="562342"/>
          </a:xfrm>
          <a:prstGeom prst="downArrow">
            <a:avLst>
              <a:gd name="adj1" fmla="val 51961"/>
              <a:gd name="adj2" fmla="val 86758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文本框 49"/>
          <p:cNvSpPr txBox="1"/>
          <p:nvPr/>
        </p:nvSpPr>
        <p:spPr>
          <a:xfrm>
            <a:off x="936057" y="1691021"/>
            <a:ext cx="2305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= ‘F’ </a:t>
            </a:r>
            <a:r>
              <a:rPr lang="en-US" altLang="zh-CN" sz="1200" dirty="0">
                <a:solidFill>
                  <a:srgbClr val="D778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column </a:t>
            </a:r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AR, AS, AT </a:t>
            </a:r>
            <a:endParaRPr lang="en-US" altLang="zh-C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dirty="0">
                <a:solidFill>
                  <a:srgbClr val="D778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AB || AC = 1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箭头: 下 4"/>
          <p:cNvSpPr/>
          <p:nvPr/>
        </p:nvSpPr>
        <p:spPr>
          <a:xfrm rot="16200000">
            <a:off x="10993769" y="523350"/>
            <a:ext cx="93687" cy="562342"/>
          </a:xfrm>
          <a:prstGeom prst="downArrow">
            <a:avLst>
              <a:gd name="adj1" fmla="val 49999"/>
              <a:gd name="adj2" fmla="val 280769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996839" y="1413930"/>
            <a:ext cx="230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Values: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 2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8752410" y="1355148"/>
            <a:ext cx="2794441" cy="868955"/>
          </a:xfrm>
          <a:prstGeom prst="roundRect">
            <a:avLst>
              <a:gd name="adj" fmla="val 10201"/>
            </a:avLst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541510" y="1691021"/>
            <a:ext cx="2305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= ‘UN’ </a:t>
            </a:r>
            <a:r>
              <a:rPr lang="en-US" altLang="zh-CN" sz="1200" dirty="0">
                <a:solidFill>
                  <a:srgbClr val="D778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column </a:t>
            </a:r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AR, AS, AT </a:t>
            </a:r>
            <a:endParaRPr lang="en-US" altLang="zh-C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dirty="0">
                <a:solidFill>
                  <a:srgbClr val="D778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 || V || W || X = 1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725089" y="1691022"/>
            <a:ext cx="2851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= </a:t>
            </a:r>
            <a:r>
              <a:rPr lang="en-US" altLang="zh-CN" sz="1200" dirty="0">
                <a:solidFill>
                  <a:srgbClr val="7E6B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(speed) </a:t>
            </a:r>
            <a:r>
              <a:rPr lang="en-US" altLang="zh-CN" sz="1200" dirty="0">
                <a:solidFill>
                  <a:srgbClr val="D778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column </a:t>
            </a:r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AQ </a:t>
            </a:r>
            <a:endParaRPr lang="en-US" altLang="zh-C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dirty="0">
                <a:solidFill>
                  <a:srgbClr val="D778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|| V || W || X || AB || AC || AD || AE = 1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5"/>
            <a:ext cx="1112527" cy="510855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969741" y="2515979"/>
            <a:ext cx="10577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Values: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 1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969741" y="2457198"/>
            <a:ext cx="10577110" cy="447113"/>
          </a:xfrm>
          <a:prstGeom prst="roundRect">
            <a:avLst>
              <a:gd name="adj" fmla="val 10201"/>
            </a:avLst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6994"/>
            <a:ext cx="12192000" cy="6479922"/>
          </a:xfrm>
          <a:prstGeom prst="rect">
            <a:avLst/>
          </a:prstGeom>
        </p:spPr>
      </p:pic>
      <p:sp>
        <p:nvSpPr>
          <p:cNvPr id="52" name="矩形 51"/>
          <p:cNvSpPr/>
          <p:nvPr/>
        </p:nvSpPr>
        <p:spPr>
          <a:xfrm>
            <a:off x="0" y="2562895"/>
            <a:ext cx="283335" cy="1584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 rot="10800000">
            <a:off x="-89166" y="489396"/>
            <a:ext cx="461665" cy="506554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Momentum Trend Value (MMTTV)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250719" y="2620851"/>
            <a:ext cx="304627" cy="14037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 rot="10800000">
            <a:off x="6159321" y="489396"/>
            <a:ext cx="461665" cy="506554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Momentum Trend Value (MMTTV)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片 5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586" y="969259"/>
            <a:ext cx="9512827" cy="4919482"/>
          </a:xfrm>
          <a:prstGeom prst="rect">
            <a:avLst/>
          </a:prstGeom>
        </p:spPr>
      </p:pic>
      <p:sp>
        <p:nvSpPr>
          <p:cNvPr id="58" name="矩形 57"/>
          <p:cNvSpPr/>
          <p:nvPr/>
        </p:nvSpPr>
        <p:spPr>
          <a:xfrm>
            <a:off x="1390918" y="2485623"/>
            <a:ext cx="270457" cy="1332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 rot="10800000">
            <a:off x="2127979" y="1067146"/>
            <a:ext cx="461665" cy="506554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Momentum Trend Value (MMTTV)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图片 5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17" y="690796"/>
            <a:ext cx="4761714" cy="2912810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928" y="3672255"/>
            <a:ext cx="4800503" cy="2912810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982" y="690795"/>
            <a:ext cx="5579091" cy="2838388"/>
          </a:xfrm>
          <a:prstGeom prst="rect">
            <a:avLst/>
          </a:prstGeom>
        </p:spPr>
      </p:pic>
      <p:pic>
        <p:nvPicPr>
          <p:cNvPr id="66" name="图片 6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685" y="3672255"/>
            <a:ext cx="5540387" cy="2838388"/>
          </a:xfrm>
          <a:prstGeom prst="rect">
            <a:avLst/>
          </a:prstGeom>
        </p:spPr>
      </p:pic>
      <p:sp>
        <p:nvSpPr>
          <p:cNvPr id="67" name="矩形 66"/>
          <p:cNvSpPr/>
          <p:nvPr/>
        </p:nvSpPr>
        <p:spPr>
          <a:xfrm>
            <a:off x="742154" y="1331129"/>
            <a:ext cx="270457" cy="1332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742154" y="4125413"/>
            <a:ext cx="270457" cy="1332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5727456" y="4125413"/>
            <a:ext cx="270457" cy="1332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5688753" y="1374696"/>
            <a:ext cx="270457" cy="1332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 rot="10800000">
            <a:off x="697805" y="4611769"/>
            <a:ext cx="369332" cy="74845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MMTTV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 rot="10800000">
            <a:off x="697805" y="1550039"/>
            <a:ext cx="369332" cy="74845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MMTTV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 rot="10800000">
            <a:off x="5639316" y="1550039"/>
            <a:ext cx="369332" cy="74845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MMTTV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 rot="10800000">
            <a:off x="5639316" y="4606384"/>
            <a:ext cx="369332" cy="74845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MMTTV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矩形 76"/>
          <p:cNvSpPr/>
          <p:nvPr/>
        </p:nvSpPr>
        <p:spPr>
          <a:xfrm rot="5400000">
            <a:off x="8657732" y="5844161"/>
            <a:ext cx="270457" cy="1332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/>
        </p:nvSpPr>
        <p:spPr>
          <a:xfrm rot="16200000">
            <a:off x="8608294" y="6086977"/>
            <a:ext cx="369332" cy="74845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No. of Set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矩形 84"/>
          <p:cNvSpPr/>
          <p:nvPr/>
        </p:nvSpPr>
        <p:spPr>
          <a:xfrm rot="5400000">
            <a:off x="8657732" y="2862701"/>
            <a:ext cx="270457" cy="1332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文本框 83"/>
          <p:cNvSpPr txBox="1"/>
          <p:nvPr/>
        </p:nvSpPr>
        <p:spPr>
          <a:xfrm rot="16200000">
            <a:off x="8608295" y="3109439"/>
            <a:ext cx="369332" cy="74845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No. of Set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rcRect l="15583" t="19287" r="18766"/>
          <a:stretch>
            <a:fillRect/>
          </a:stretch>
        </p:blipFill>
        <p:spPr>
          <a:xfrm>
            <a:off x="1162685" y="511810"/>
            <a:ext cx="8968740" cy="57988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01" name="图片 100"/>
          <p:cNvPicPr/>
          <p:nvPr/>
        </p:nvPicPr>
        <p:blipFill>
          <a:blip r:embed="rId1"/>
          <a:srcRect l="16807" t="16370" r="15604" b="11694"/>
          <a:stretch>
            <a:fillRect/>
          </a:stretch>
        </p:blipFill>
        <p:spPr>
          <a:xfrm>
            <a:off x="705485" y="375920"/>
            <a:ext cx="10780395" cy="61080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02" name="图片 101"/>
          <p:cNvPicPr/>
          <p:nvPr/>
        </p:nvPicPr>
        <p:blipFill>
          <a:blip r:embed="rId1"/>
          <a:srcRect l="13442" t="15298" r="14178" b="2583"/>
          <a:stretch>
            <a:fillRect/>
          </a:stretch>
        </p:blipFill>
        <p:spPr>
          <a:xfrm>
            <a:off x="900430" y="255270"/>
            <a:ext cx="10821035" cy="63792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3.25,&quot;left&quot;:831.625,&quot;top&quot;:54.3,&quot;width&quot;:97.325}"/>
</p:tagLst>
</file>

<file path=ppt/tags/tag2.xml><?xml version="1.0" encoding="utf-8"?>
<p:tagLst xmlns:p="http://schemas.openxmlformats.org/presentationml/2006/main">
  <p:tag name="KSO_WM_DIAGRAM_VIRTUALLY_FRAME" val="{&quot;height&quot;:373.25,&quot;left&quot;:831.625,&quot;top&quot;:54.3,&quot;width&quot;:97.325}"/>
</p:tagLst>
</file>

<file path=ppt/tags/tag3.xml><?xml version="1.0" encoding="utf-8"?>
<p:tagLst xmlns:p="http://schemas.openxmlformats.org/presentationml/2006/main">
  <p:tag name="KSO_WM_DIAGRAM_VIRTUALLY_FRAME" val="{&quot;height&quot;:373.25,&quot;left&quot;:831.625,&quot;top&quot;:54.3,&quot;width&quot;:97.325}"/>
</p:tagLst>
</file>

<file path=ppt/tags/tag4.xml><?xml version="1.0" encoding="utf-8"?>
<p:tagLst xmlns:p="http://schemas.openxmlformats.org/presentationml/2006/main">
  <p:tag name="KSO_WM_DIAGRAM_VIRTUALLY_FRAME" val="{&quot;height&quot;:373.25,&quot;left&quot;:831.625,&quot;top&quot;:54.3,&quot;width&quot;:97.325}"/>
</p:tagLst>
</file>

<file path=ppt/tags/tag5.xml><?xml version="1.0" encoding="utf-8"?>
<p:tagLst xmlns:p="http://schemas.openxmlformats.org/presentationml/2006/main">
  <p:tag name="KSO_WM_DIAGRAM_VIRTUALLY_FRAME" val="{&quot;height&quot;:373.25,&quot;left&quot;:831.625,&quot;top&quot;:54.3,&quot;width&quot;:97.325}"/>
</p:tagLst>
</file>

<file path=ppt/tags/tag6.xml><?xml version="1.0" encoding="utf-8"?>
<p:tagLst xmlns:p="http://schemas.openxmlformats.org/presentationml/2006/main">
  <p:tag name="KSO_WM_DIAGRAM_VIRTUALLY_FRAME" val="{&quot;height&quot;:373.25,&quot;left&quot;:831.625,&quot;top&quot;:54.3,&quot;width&quot;:97.325}"/>
</p:tagLst>
</file>

<file path=ppt/tags/tag7.xml><?xml version="1.0" encoding="utf-8"?>
<p:tagLst xmlns:p="http://schemas.openxmlformats.org/presentationml/2006/main">
  <p:tag name="KSO_WM_DIAGRAM_VIRTUALLY_FRAME" val="{&quot;height&quot;:373.25,&quot;left&quot;:831.625,&quot;top&quot;:54.3,&quot;width&quot;:97.325}"/>
</p:tagLst>
</file>

<file path=ppt/tags/tag8.xml><?xml version="1.0" encoding="utf-8"?>
<p:tagLst xmlns:p="http://schemas.openxmlformats.org/presentationml/2006/main">
  <p:tag name="KSO_WM_DIAGRAM_VIRTUALLY_FRAME" val="{&quot;height&quot;:373.25,&quot;left&quot;:831.625,&quot;top&quot;:54.3,&quot;width&quot;:97.325}"/>
</p:tagLst>
</file>

<file path=ppt/tags/tag9.xml><?xml version="1.0" encoding="utf-8"?>
<p:tagLst xmlns:p="http://schemas.openxmlformats.org/presentationml/2006/main">
  <p:tag name="KSO_WM_DIAGRAM_VIRTUALLY_FRAME" val="{&quot;height&quot;:373.25,&quot;left&quot;:831.625,&quot;top&quot;:54.3,&quot;width&quot;:97.325}"/>
</p:tagLst>
</file>

<file path=ppt/tags/tag10.xml><?xml version="1.0" encoding="utf-8"?>
<p:tagLst xmlns:p="http://schemas.openxmlformats.org/presentationml/2006/main">
  <p:tag name="KSO_WM_DIAGRAM_VIRTUALLY_FRAME" val="{&quot;height&quot;:373.25,&quot;left&quot;:831.625,&quot;top&quot;:54.3,&quot;width&quot;:97.325}"/>
</p:tagLst>
</file>

<file path=ppt/tags/tag11.xml><?xml version="1.0" encoding="utf-8"?>
<p:tagLst xmlns:p="http://schemas.openxmlformats.org/presentationml/2006/main">
  <p:tag name="KSO_WM_DIAGRAM_VIRTUALLY_FRAME" val="{&quot;height&quot;:373.25,&quot;left&quot;:831.625,&quot;top&quot;:54.3,&quot;width&quot;:97.325}"/>
</p:tagLst>
</file>

<file path=ppt/tags/tag12.xml><?xml version="1.0" encoding="utf-8"?>
<p:tagLst xmlns:p="http://schemas.openxmlformats.org/presentationml/2006/main">
  <p:tag name="KSO_WM_DIAGRAM_VIRTUALLY_FRAME" val="{&quot;height&quot;:373.25,&quot;left&quot;:831.625,&quot;top&quot;:54.3,&quot;width&quot;:97.325}"/>
</p:tagLst>
</file>

<file path=ppt/tags/tag13.xml><?xml version="1.0" encoding="utf-8"?>
<p:tagLst xmlns:p="http://schemas.openxmlformats.org/presentationml/2006/main">
  <p:tag name="KSO_WM_DIAGRAM_VIRTUALLY_FRAME" val="{&quot;height&quot;:373.25,&quot;left&quot;:831.625,&quot;top&quot;:54.3,&quot;width&quot;:97.325}"/>
</p:tagLst>
</file>

<file path=ppt/tags/tag14.xml><?xml version="1.0" encoding="utf-8"?>
<p:tagLst xmlns:p="http://schemas.openxmlformats.org/presentationml/2006/main">
  <p:tag name="KSO_WM_DIAGRAM_VIRTUALLY_FRAME" val="{&quot;height&quot;:373.25,&quot;left&quot;:831.625,&quot;top&quot;:54.3,&quot;width&quot;:97.325}"/>
</p:tagLst>
</file>

<file path=ppt/tags/tag15.xml><?xml version="1.0" encoding="utf-8"?>
<p:tagLst xmlns:p="http://schemas.openxmlformats.org/presentationml/2006/main">
  <p:tag name="KSO_WM_DIAGRAM_VIRTUALLY_FRAME" val="{&quot;height&quot;:373.25,&quot;left&quot;:831.625,&quot;top&quot;:54.3,&quot;width&quot;:97.325}"/>
</p:tagLst>
</file>

<file path=ppt/tags/tag16.xml><?xml version="1.0" encoding="utf-8"?>
<p:tagLst xmlns:p="http://schemas.openxmlformats.org/presentationml/2006/main">
  <p:tag name="KSO_WM_DIAGRAM_VIRTUALLY_FRAME" val="{&quot;height&quot;:373.25,&quot;left&quot;:831.625,&quot;top&quot;:54.3,&quot;width&quot;:97.325}"/>
</p:tagLst>
</file>

<file path=ppt/tags/tag17.xml><?xml version="1.0" encoding="utf-8"?>
<p:tagLst xmlns:p="http://schemas.openxmlformats.org/presentationml/2006/main">
  <p:tag name="KSO_WM_DIAGRAM_VIRTUALLY_FRAME" val="{&quot;height&quot;:373.25,&quot;left&quot;:831.625,&quot;top&quot;:54.3,&quot;width&quot;:97.325}"/>
</p:tagLst>
</file>

<file path=ppt/tags/tag18.xml><?xml version="1.0" encoding="utf-8"?>
<p:tagLst xmlns:p="http://schemas.openxmlformats.org/presentationml/2006/main">
  <p:tag name="KSO_WM_DIAGRAM_VIRTUALLY_FRAME" val="{&quot;height&quot;:373.25,&quot;left&quot;:831.625,&quot;top&quot;:54.3,&quot;width&quot;:97.325}"/>
</p:tagLst>
</file>

<file path=ppt/tags/tag19.xml><?xml version="1.0" encoding="utf-8"?>
<p:tagLst xmlns:p="http://schemas.openxmlformats.org/presentationml/2006/main">
  <p:tag name="KSO_WPP_MARK_KEY" val="08e3b516-4630-46e5-8f6d-423d173b68cc"/>
  <p:tag name="COMMONDATA" val="eyJoZGlkIjoiZDBmMTQ3M2QzNGQxOGE1NzcxYTg0MTExMmUwMGIyYT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6706</Words>
  <Application>WPS 演示</Application>
  <PresentationFormat>宽屏</PresentationFormat>
  <Paragraphs>707</Paragraphs>
  <Slides>24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8" baseType="lpstr">
      <vt:lpstr>Arial</vt:lpstr>
      <vt:lpstr>宋体</vt:lpstr>
      <vt:lpstr>Wingdings</vt:lpstr>
      <vt:lpstr>Times New Roman</vt:lpstr>
      <vt:lpstr>Cambria Math</vt:lpstr>
      <vt:lpstr>微软雅黑</vt:lpstr>
      <vt:lpstr>Arial Unicode MS</vt:lpstr>
      <vt:lpstr>等线 Light</vt:lpstr>
      <vt:lpstr>等线</vt:lpstr>
      <vt:lpstr>MS Mincho</vt:lpstr>
      <vt:lpstr>Segoe Print</vt:lpstr>
      <vt:lpstr>Calibri</vt:lpstr>
      <vt:lpstr>Ms.Luce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林 楷钧</dc:creator>
  <cp:lastModifiedBy>罗伊淇</cp:lastModifiedBy>
  <cp:revision>67</cp:revision>
  <dcterms:created xsi:type="dcterms:W3CDTF">2023-01-19T10:33:00Z</dcterms:created>
  <dcterms:modified xsi:type="dcterms:W3CDTF">2026-01-29T03:11:22Z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5F041B35C6404BA68DD362D3A61CDD81_13</vt:lpwstr>
  </property>
  <property fmtid="{D5CDD505-2E9C-101B-9397-08002B2CF9AE}" pid="3" name="KSOProductBuildVer">
    <vt:lpwstr>2052-12.1.0.23542</vt:lpwstr>
  </property>
</Properties>
</file>