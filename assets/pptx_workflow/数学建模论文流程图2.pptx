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3"/>
    <p:sldId id="263" r:id="rId4"/>
    <p:sldId id="264" r:id="rId5"/>
    <p:sldId id="265" r:id="rId6"/>
    <p:sldId id="266" r:id="rId7"/>
    <p:sldId id="260" r:id="rId8"/>
    <p:sldId id="256" r:id="rId9"/>
    <p:sldId id="257" r:id="rId10"/>
    <p:sldId id="259" r:id="rId11"/>
    <p:sldId id="261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  <a:srgbClr val="FFF4E3"/>
    <a:srgbClr val="FEF5FF"/>
    <a:srgbClr val="F5FFF6"/>
    <a:srgbClr val="B2EBF2"/>
    <a:srgbClr val="FFFFFF"/>
    <a:srgbClr val="FBF4FC"/>
    <a:srgbClr val="99E6F0"/>
    <a:srgbClr val="FCE5E8"/>
    <a:srgbClr val="FCF1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336" y="2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/>
          <p:cNvSpPr/>
          <p:nvPr/>
        </p:nvSpPr>
        <p:spPr>
          <a:xfrm>
            <a:off x="2866597" y="522225"/>
            <a:ext cx="8590073" cy="2824480"/>
          </a:xfrm>
          <a:prstGeom prst="roundRect">
            <a:avLst>
              <a:gd name="adj" fmla="val 8753"/>
            </a:avLst>
          </a:prstGeom>
          <a:noFill/>
          <a:ln w="19050">
            <a:solidFill>
              <a:srgbClr val="B6B3B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8031480" y="4454400"/>
            <a:ext cx="3299063" cy="195255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32B25C">
                  <a:alpha val="31000"/>
                </a:srgbClr>
              </a:gs>
            </a:gsLst>
            <a:lin ang="16200000" scaled="1"/>
            <a:tileRect/>
          </a:gra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9255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2330760,23</a:t>
            </a:r>
            <a:r>
              <a:rPr lang="zh-CN" altLang="en-US" dirty="0"/>
              <a:t>年</a:t>
            </a:r>
            <a:r>
              <a:rPr lang="en-US" altLang="zh-CN" dirty="0"/>
              <a:t>Z</a:t>
            </a:r>
            <a:r>
              <a:rPr lang="zh-CN" altLang="en-US" dirty="0"/>
              <a:t>题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480043" y="234387"/>
            <a:ext cx="9175509" cy="6389225"/>
          </a:xfrm>
          <a:prstGeom prst="rect">
            <a:avLst/>
          </a:prstGeom>
          <a:noFill/>
          <a:ln w="38100">
            <a:solidFill>
              <a:srgbClr val="7E7979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3379473" y="371857"/>
            <a:ext cx="3749040" cy="50596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2000">
                <a:srgbClr val="32B25C"/>
              </a:gs>
            </a:gsLst>
            <a:lin ang="5400000" scaled="1"/>
          </a:gra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model of the impact of hosting the Olympic Games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8031480" y="522225"/>
            <a:ext cx="0" cy="2749804"/>
          </a:xfrm>
          <a:prstGeom prst="line">
            <a:avLst/>
          </a:prstGeom>
          <a:ln w="19050">
            <a:solidFill>
              <a:srgbClr val="B6B3B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/>
          <p:cNvSpPr/>
          <p:nvPr/>
        </p:nvSpPr>
        <p:spPr>
          <a:xfrm>
            <a:off x="3196604" y="1081025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Economy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3196604" y="1493521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Society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3196603" y="1906017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3196602" y="2318513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Politics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3196602" y="2731009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OFI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右大括号 16"/>
          <p:cNvSpPr/>
          <p:nvPr/>
        </p:nvSpPr>
        <p:spPr>
          <a:xfrm>
            <a:off x="4606291" y="1008889"/>
            <a:ext cx="333202" cy="2194560"/>
          </a:xfrm>
          <a:prstGeom prst="rightBrace">
            <a:avLst/>
          </a:prstGeom>
          <a:ln w="28575">
            <a:solidFill>
              <a:srgbClr val="2DBD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/>
          <p:cNvSpPr/>
          <p:nvPr/>
        </p:nvSpPr>
        <p:spPr>
          <a:xfrm>
            <a:off x="5096400" y="1529144"/>
            <a:ext cx="1853178" cy="105460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53C7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Combined</a:t>
            </a:r>
            <a:endParaRPr lang="en-US" altLang="zh-CN" b="1" dirty="0">
              <a:solidFill>
                <a:srgbClr val="53C7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dirty="0">
                <a:solidFill>
                  <a:srgbClr val="53C7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</a:t>
            </a:r>
            <a:endParaRPr lang="zh-CN" altLang="en-US" b="1" dirty="0">
              <a:solidFill>
                <a:srgbClr val="53C7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326047" y="1137300"/>
            <a:ext cx="15771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AHP-CRITIC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279650" y="2904729"/>
            <a:ext cx="1623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Generalizability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/>
          <p:cNvCxnSpPr>
            <a:stCxn id="18" idx="2"/>
          </p:cNvCxnSpPr>
          <p:nvPr/>
        </p:nvCxnSpPr>
        <p:spPr>
          <a:xfrm>
            <a:off x="6022989" y="2583752"/>
            <a:ext cx="0" cy="320977"/>
          </a:xfrm>
          <a:prstGeom prst="straightConnector1">
            <a:avLst/>
          </a:prstGeom>
          <a:ln w="28575">
            <a:solidFill>
              <a:srgbClr val="7389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/>
          <p:cNvSpPr/>
          <p:nvPr/>
        </p:nvSpPr>
        <p:spPr>
          <a:xfrm>
            <a:off x="8468862" y="624841"/>
            <a:ext cx="266305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Distinguishability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9119613" y="1137300"/>
            <a:ext cx="1361554" cy="56246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53C7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endParaRPr lang="zh-CN" altLang="en-US" b="1" dirty="0">
              <a:solidFill>
                <a:srgbClr val="53C7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8914073" y="2204310"/>
            <a:ext cx="1837612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types of areas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9800390" y="1699769"/>
            <a:ext cx="0" cy="504541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9800390" y="2616806"/>
            <a:ext cx="0" cy="388523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9203767" y="1790256"/>
            <a:ext cx="744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Elbow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786153" y="1800479"/>
            <a:ext cx="744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253095" y="2861175"/>
            <a:ext cx="13911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map</a:t>
            </a:r>
            <a:endParaRPr lang="zh-CN" altLang="en-US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2608141" y="3437889"/>
            <a:ext cx="4737540" cy="3084070"/>
          </a:xfrm>
          <a:prstGeom prst="roundRect">
            <a:avLst>
              <a:gd name="adj" fmla="val 8753"/>
            </a:avLst>
          </a:prstGeom>
          <a:noFill/>
          <a:ln w="19050">
            <a:solidFill>
              <a:srgbClr val="B6B3B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/>
          <p:cNvSpPr/>
          <p:nvPr/>
        </p:nvSpPr>
        <p:spPr>
          <a:xfrm>
            <a:off x="2694568" y="3572643"/>
            <a:ext cx="2887336" cy="39280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Timeline for the next 50 years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700664" y="3986785"/>
            <a:ext cx="4427849" cy="242016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32B25C">
                  <a:alpha val="54000"/>
                </a:srgbClr>
              </a:gs>
            </a:gsLst>
            <a:lin ang="5400000" scaled="1"/>
          </a:gra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2694568" y="3986785"/>
            <a:ext cx="442784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1 :</a:t>
            </a:r>
            <a:endParaRPr lang="en-US" altLang="zh-CN" sz="15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permanent venues for highly environmentally demanding competitions</a:t>
            </a:r>
            <a:endParaRPr lang="en-US" altLang="zh-CN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2 :</a:t>
            </a:r>
            <a:endParaRPr lang="en-US" altLang="zh-CN" sz="15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Decentralization of the host region</a:t>
            </a:r>
            <a:endParaRPr lang="en-US" altLang="zh-CN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3 :</a:t>
            </a:r>
            <a:endParaRPr lang="en-US" altLang="zh-CN" sz="15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permanent location for the Summer and one for the Winter Olympic</a:t>
            </a:r>
            <a:endParaRPr lang="en-US" altLang="zh-CN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4 :</a:t>
            </a:r>
            <a:endParaRPr lang="en-US" altLang="zh-CN" sz="15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Holding four small-scale Olympics</a:t>
            </a:r>
            <a:endParaRPr lang="zh-CN" alt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箭头: 右 39"/>
          <p:cNvSpPr/>
          <p:nvPr/>
        </p:nvSpPr>
        <p:spPr>
          <a:xfrm>
            <a:off x="6465894" y="4798493"/>
            <a:ext cx="1485900" cy="388620"/>
          </a:xfrm>
          <a:prstGeom prst="rightArrow">
            <a:avLst/>
          </a:prstGeom>
          <a:solidFill>
            <a:schemeClr val="bg1"/>
          </a:solidFill>
          <a:ln w="19050">
            <a:solidFill>
              <a:srgbClr val="32B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箭头: 右 40"/>
          <p:cNvSpPr/>
          <p:nvPr/>
        </p:nvSpPr>
        <p:spPr>
          <a:xfrm>
            <a:off x="7106485" y="1863846"/>
            <a:ext cx="1485900" cy="340464"/>
          </a:xfrm>
          <a:prstGeom prst="rightArrow">
            <a:avLst/>
          </a:prstGeom>
          <a:solidFill>
            <a:srgbClr val="32B25C"/>
          </a:solidFill>
          <a:ln w="19050">
            <a:solidFill>
              <a:srgbClr val="32B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: 圆角 42"/>
          <p:cNvSpPr/>
          <p:nvPr/>
        </p:nvSpPr>
        <p:spPr>
          <a:xfrm>
            <a:off x="7922089" y="3437192"/>
            <a:ext cx="3534581" cy="3084070"/>
          </a:xfrm>
          <a:prstGeom prst="roundRect">
            <a:avLst>
              <a:gd name="adj" fmla="val 8753"/>
            </a:avLst>
          </a:prstGeom>
          <a:noFill/>
          <a:ln w="19050">
            <a:solidFill>
              <a:srgbClr val="B6B3B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: 圆角 44"/>
          <p:cNvSpPr/>
          <p:nvPr/>
        </p:nvSpPr>
        <p:spPr>
          <a:xfrm>
            <a:off x="8335212" y="3552953"/>
            <a:ext cx="2995334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Sore analysis of the strategies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694192" y="4093875"/>
            <a:ext cx="23098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Gray Prediction Model</a:t>
            </a:r>
            <a:endParaRPr lang="zh-CN" altLang="en-US" sz="16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直接箭头连接符 47"/>
          <p:cNvCxnSpPr/>
          <p:nvPr/>
        </p:nvCxnSpPr>
        <p:spPr>
          <a:xfrm>
            <a:off x="11117749" y="3971545"/>
            <a:ext cx="0" cy="388523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: 圆角 48"/>
          <p:cNvSpPr/>
          <p:nvPr/>
        </p:nvSpPr>
        <p:spPr>
          <a:xfrm>
            <a:off x="8125015" y="4554599"/>
            <a:ext cx="2773597" cy="446941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1:Social,OFI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: 圆角 49"/>
          <p:cNvSpPr/>
          <p:nvPr/>
        </p:nvSpPr>
        <p:spPr>
          <a:xfrm>
            <a:off x="8112253" y="5001781"/>
            <a:ext cx="2773597" cy="42820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2:All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: 圆角 50"/>
          <p:cNvSpPr/>
          <p:nvPr/>
        </p:nvSpPr>
        <p:spPr>
          <a:xfrm>
            <a:off x="8108684" y="5430229"/>
            <a:ext cx="2773597" cy="42820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3:Economy,</a:t>
            </a:r>
            <a:endParaRPr lang="en-US" altLang="zh-CN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Environment, OFI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矩形: 圆角 51"/>
          <p:cNvSpPr/>
          <p:nvPr/>
        </p:nvSpPr>
        <p:spPr>
          <a:xfrm>
            <a:off x="8108684" y="5858677"/>
            <a:ext cx="2773597" cy="42820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4:Society, Politics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箭头: 右 52"/>
          <p:cNvSpPr/>
          <p:nvPr/>
        </p:nvSpPr>
        <p:spPr>
          <a:xfrm rot="16200000">
            <a:off x="10306386" y="5365962"/>
            <a:ext cx="1699648" cy="76921"/>
          </a:xfrm>
          <a:prstGeom prst="rightArrow">
            <a:avLst/>
          </a:prstGeom>
          <a:solidFill>
            <a:srgbClr val="32B25C"/>
          </a:solidFill>
          <a:ln w="19050">
            <a:solidFill>
              <a:srgbClr val="32B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对话气泡: 椭圆形 41"/>
          <p:cNvSpPr/>
          <p:nvPr/>
        </p:nvSpPr>
        <p:spPr>
          <a:xfrm>
            <a:off x="6236365" y="3281799"/>
            <a:ext cx="1662864" cy="812076"/>
          </a:xfrm>
          <a:prstGeom prst="wedgeEllipseCallout">
            <a:avLst>
              <a:gd name="adj1" fmla="val -57940"/>
              <a:gd name="adj2" fmla="val 50909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32B25C"/>
              </a:gs>
            </a:gsLst>
            <a:lin ang="16200000" scaled="1"/>
            <a:tileRect/>
          </a:gra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Strategies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8109585" y="3939429"/>
            <a:ext cx="4044200" cy="2440215"/>
          </a:xfrm>
          <a:prstGeom prst="rect">
            <a:avLst/>
          </a:prstGeom>
          <a:solidFill>
            <a:srgbClr val="F0F8ED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9" name="矩形 108"/>
          <p:cNvSpPr/>
          <p:nvPr/>
        </p:nvSpPr>
        <p:spPr>
          <a:xfrm>
            <a:off x="8110854" y="942716"/>
            <a:ext cx="4051325" cy="2113734"/>
          </a:xfrm>
          <a:prstGeom prst="rect">
            <a:avLst/>
          </a:prstGeom>
          <a:solidFill>
            <a:srgbClr val="F4EEFA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3310773" y="3930224"/>
            <a:ext cx="4556744" cy="2421247"/>
          </a:xfrm>
          <a:prstGeom prst="rect">
            <a:avLst/>
          </a:prstGeom>
          <a:solidFill>
            <a:srgbClr val="EEF5FB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3310757" y="949500"/>
            <a:ext cx="4556760" cy="2106950"/>
          </a:xfrm>
          <a:prstGeom prst="rect">
            <a:avLst/>
          </a:prstGeom>
          <a:solidFill>
            <a:srgbClr val="FDEDED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67862" y="926897"/>
            <a:ext cx="2720385" cy="5431862"/>
          </a:xfrm>
          <a:prstGeom prst="rect">
            <a:avLst/>
          </a:prstGeom>
          <a:solidFill>
            <a:srgbClr val="FFFAE7"/>
          </a:solidFill>
          <a:ln w="28575">
            <a:solidFill>
              <a:srgbClr val="0066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81985" y="588343"/>
            <a:ext cx="2806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Prediction Model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24880" y="648513"/>
            <a:ext cx="5819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of Word Attributes and Scores from Percentage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31628" y="676916"/>
            <a:ext cx="2298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Interesting Features of  Data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88876" y="1202295"/>
            <a:ext cx="792480" cy="390144"/>
          </a:xfrm>
          <a:prstGeom prst="rect">
            <a:avLst/>
          </a:prstGeom>
          <a:solidFill>
            <a:srgbClr val="CFB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1685116" y="1592439"/>
            <a:ext cx="0" cy="4446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935573" y="2037080"/>
            <a:ext cx="1477401" cy="102616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model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箭头: 左弧形 12"/>
          <p:cNvSpPr/>
          <p:nvPr/>
        </p:nvSpPr>
        <p:spPr>
          <a:xfrm>
            <a:off x="772160" y="2306320"/>
            <a:ext cx="163413" cy="609600"/>
          </a:xfrm>
          <a:prstGeom prst="curv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箭头: 左弧形 13"/>
          <p:cNvSpPr/>
          <p:nvPr/>
        </p:nvSpPr>
        <p:spPr>
          <a:xfrm flipH="1">
            <a:off x="2412974" y="2306320"/>
            <a:ext cx="163413" cy="609600"/>
          </a:xfrm>
          <a:prstGeom prst="curv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14448" y="2150050"/>
            <a:ext cx="614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20156" y="2159000"/>
            <a:ext cx="614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gate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1685116" y="3063240"/>
            <a:ext cx="0" cy="4446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1278033" y="3528387"/>
            <a:ext cx="792480" cy="390144"/>
          </a:xfrm>
          <a:prstGeom prst="rect">
            <a:avLst/>
          </a:prstGeom>
          <a:solidFill>
            <a:srgbClr val="CFB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1670797" y="3918531"/>
            <a:ext cx="0" cy="7631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075376" y="4681728"/>
            <a:ext cx="1190841" cy="390144"/>
          </a:xfrm>
          <a:prstGeom prst="rect">
            <a:avLst/>
          </a:prstGeom>
          <a:solidFill>
            <a:srgbClr val="CFB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1670796" y="5071872"/>
            <a:ext cx="0" cy="749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843881" y="5793166"/>
            <a:ext cx="1676263" cy="418658"/>
          </a:xfrm>
          <a:prstGeom prst="rect">
            <a:avLst/>
          </a:prstGeom>
          <a:solidFill>
            <a:srgbClr val="E18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March 1,2023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4831284" y="956290"/>
          <a:ext cx="1457307" cy="375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AxMath" r:id="rId1" imgW="1143000" imgH="1143000" progId="Equation.AxMath">
                  <p:embed/>
                </p:oleObj>
              </mc:Choice>
              <mc:Fallback>
                <p:oleObj name="AxMath" r:id="rId1" imgW="1143000" imgH="1143000" progId="Equation.AxMath">
                  <p:embed/>
                  <p:pic>
                    <p:nvPicPr>
                      <p:cNvPr id="0" name="图片 1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31284" y="956290"/>
                        <a:ext cx="1457307" cy="3757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直接连接符 27"/>
          <p:cNvCxnSpPr/>
          <p:nvPr/>
        </p:nvCxnSpPr>
        <p:spPr>
          <a:xfrm>
            <a:off x="3310757" y="1332012"/>
            <a:ext cx="4556760" cy="0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5589137" y="1332012"/>
            <a:ext cx="0" cy="1724438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3723784" y="1311560"/>
            <a:ext cx="14523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398610" y="1509889"/>
            <a:ext cx="10501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Frequency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389909" y="1509889"/>
            <a:ext cx="1111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 Frequency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687467" y="1772864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3687467" y="1782903"/>
          <a:ext cx="476071" cy="32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AxMath" r:id="rId3" imgW="1143000" imgH="1143000" progId="Equation.AxMath">
                  <p:embed/>
                </p:oleObj>
              </mc:Choice>
              <mc:Fallback>
                <p:oleObj name="AxMath" r:id="rId3" imgW="1143000" imgH="1143000" progId="Equation.AxMath">
                  <p:embed/>
                  <p:pic>
                    <p:nvPicPr>
                      <p:cNvPr id="0" name="图片 1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87467" y="1782903"/>
                        <a:ext cx="476071" cy="3218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矩形 36"/>
          <p:cNvSpPr/>
          <p:nvPr/>
        </p:nvSpPr>
        <p:spPr>
          <a:xfrm>
            <a:off x="4700039" y="1764159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4675188" y="1774825"/>
          <a:ext cx="52705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AxMath" r:id="rId5" imgW="1143000" imgH="1143000" progId="Equation.AxMath">
                  <p:embed/>
                </p:oleObj>
              </mc:Choice>
              <mc:Fallback>
                <p:oleObj name="AxMath" r:id="rId5" imgW="1143000" imgH="1143000" progId="Equation.AxMath">
                  <p:embed/>
                  <p:pic>
                    <p:nvPicPr>
                      <p:cNvPr id="0" name="对象 3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75188" y="1774825"/>
                        <a:ext cx="527050" cy="320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直接箭头连接符 38"/>
          <p:cNvCxnSpPr/>
          <p:nvPr/>
        </p:nvCxnSpPr>
        <p:spPr>
          <a:xfrm>
            <a:off x="3930804" y="2119570"/>
            <a:ext cx="0" cy="3112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6341427" y="2104754"/>
            <a:ext cx="0" cy="118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3694600" y="2424304"/>
            <a:ext cx="1477864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3816490" y="2488009"/>
            <a:ext cx="12198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 flipH="1">
            <a:off x="3923679" y="2771314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flipH="1">
            <a:off x="4929126" y="2774706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6158226" y="1312759"/>
            <a:ext cx="14523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 Analysis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718343" y="1517938"/>
            <a:ext cx="121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Repetition of Letter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884389" y="1517938"/>
            <a:ext cx="1111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of Speech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105215" y="1753570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</a:t>
            </a:r>
            <a:endParaRPr lang="zh-CN" alt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7098409" y="1762824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endParaRPr lang="zh-CN" alt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直接箭头连接符 52"/>
          <p:cNvCxnSpPr/>
          <p:nvPr/>
        </p:nvCxnSpPr>
        <p:spPr>
          <a:xfrm>
            <a:off x="7334621" y="2108564"/>
            <a:ext cx="0" cy="118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5701798" y="2424304"/>
            <a:ext cx="689258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</a:t>
            </a:r>
            <a:r>
              <a:rPr lang="zh-CN" altLang="en-US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zh-CN" altLang="en-US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</a:t>
            </a:r>
            <a:endParaRPr lang="zh-CN" altLang="en-US" sz="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453230" y="2424304"/>
            <a:ext cx="689258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difference of outlines</a:t>
            </a:r>
            <a:endParaRPr lang="zh-CN" altLang="en-US" sz="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171643" y="2424304"/>
            <a:ext cx="621777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Median difference</a:t>
            </a:r>
            <a:endParaRPr lang="zh-CN" altLang="en-US" sz="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直接连接符 57"/>
          <p:cNvCxnSpPr/>
          <p:nvPr/>
        </p:nvCxnSpPr>
        <p:spPr>
          <a:xfrm flipH="1">
            <a:off x="6209306" y="2159000"/>
            <a:ext cx="92915" cy="265304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endCxn id="55" idx="0"/>
          </p:cNvCxnSpPr>
          <p:nvPr/>
        </p:nvCxnSpPr>
        <p:spPr>
          <a:xfrm>
            <a:off x="6377026" y="2111982"/>
            <a:ext cx="420833" cy="312322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6384011" y="2117650"/>
            <a:ext cx="937162" cy="288091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3750594" y="3242718"/>
            <a:ext cx="1050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5F8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zh-CN" altLang="en-US" sz="2000" b="1" dirty="0">
              <a:solidFill>
                <a:srgbClr val="5F8D5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4746207" y="3242718"/>
            <a:ext cx="1050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5F8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zh-CN" altLang="en-US" sz="2000" b="1" dirty="0">
              <a:solidFill>
                <a:srgbClr val="5F8D5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6166375" y="3244692"/>
            <a:ext cx="1050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5F8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zh-CN" altLang="en-US" sz="2000" b="1" dirty="0">
              <a:solidFill>
                <a:srgbClr val="5F8D5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7156389" y="3226324"/>
            <a:ext cx="269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直接箭头连接符 70"/>
          <p:cNvCxnSpPr/>
          <p:nvPr/>
        </p:nvCxnSpPr>
        <p:spPr>
          <a:xfrm flipV="1">
            <a:off x="7522536" y="3066198"/>
            <a:ext cx="0" cy="3970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522536" y="3450393"/>
            <a:ext cx="42893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7933690" y="1475740"/>
            <a:ext cx="0" cy="19875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7920355" y="1481117"/>
            <a:ext cx="1892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7497600" y="3159116"/>
            <a:ext cx="5015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</a:t>
            </a:r>
            <a:endParaRPr lang="zh-CN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3216473" y="3616885"/>
            <a:ext cx="761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3902580" y="3623275"/>
            <a:ext cx="137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Pridiction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4928658" y="3623275"/>
            <a:ext cx="137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6" name="直接箭头连接符 85"/>
          <p:cNvCxnSpPr/>
          <p:nvPr/>
        </p:nvCxnSpPr>
        <p:spPr>
          <a:xfrm flipH="1">
            <a:off x="3916554" y="3562483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/>
          <p:nvPr/>
        </p:nvCxnSpPr>
        <p:spPr>
          <a:xfrm flipH="1">
            <a:off x="4929126" y="3562483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/>
          <p:nvPr/>
        </p:nvCxnSpPr>
        <p:spPr>
          <a:xfrm flipH="1">
            <a:off x="6338386" y="3556714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3453010" y="4046670"/>
            <a:ext cx="4157542" cy="368804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2" name="直接箭头连接符 91"/>
          <p:cNvCxnSpPr/>
          <p:nvPr/>
        </p:nvCxnSpPr>
        <p:spPr>
          <a:xfrm flipH="1">
            <a:off x="4664283" y="4417517"/>
            <a:ext cx="1" cy="11289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任意多边形: 形状 94"/>
          <p:cNvSpPr/>
          <p:nvPr/>
        </p:nvSpPr>
        <p:spPr>
          <a:xfrm>
            <a:off x="4541520" y="5000625"/>
            <a:ext cx="121920" cy="89535"/>
          </a:xfrm>
          <a:custGeom>
            <a:avLst/>
            <a:gdLst>
              <a:gd name="connsiteX0" fmla="*/ 0 w 121920"/>
              <a:gd name="connsiteY0" fmla="*/ 0 h 89535"/>
              <a:gd name="connsiteX1" fmla="*/ 121920 w 121920"/>
              <a:gd name="connsiteY1" fmla="*/ 89535 h 89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20" h="89535">
                <a:moveTo>
                  <a:pt x="0" y="0"/>
                </a:moveTo>
                <a:cubicBezTo>
                  <a:pt x="51117" y="27464"/>
                  <a:pt x="102235" y="54928"/>
                  <a:pt x="121920" y="89535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3453010" y="4548271"/>
            <a:ext cx="1088510" cy="872104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 Search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</a:t>
            </a:r>
            <a:r>
              <a:rPr lang="en-US" altLang="zh-CN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gparams</a:t>
            </a:r>
            <a:endParaRPr lang="zh-CN" alt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4944751" y="4624456"/>
            <a:ext cx="1676263" cy="418658"/>
          </a:xfrm>
          <a:prstGeom prst="rect">
            <a:avLst/>
          </a:prstGeom>
          <a:solidFill>
            <a:srgbClr val="E18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March 1,2023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4943907" y="5042767"/>
            <a:ext cx="1676263" cy="418658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EERIE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6691445" y="4833785"/>
            <a:ext cx="1016047" cy="368801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6749974" y="5650778"/>
            <a:ext cx="874171" cy="455369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3447078" y="5626095"/>
            <a:ext cx="1583296" cy="540665"/>
          </a:xfrm>
          <a:prstGeom prst="rect">
            <a:avLst/>
          </a:prstGeom>
          <a:solidFill>
            <a:srgbClr val="2B76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zh-CN" alt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1" name="直接箭头连接符 100"/>
          <p:cNvCxnSpPr>
            <a:endCxn id="99" idx="1"/>
          </p:cNvCxnSpPr>
          <p:nvPr/>
        </p:nvCxnSpPr>
        <p:spPr>
          <a:xfrm flipV="1">
            <a:off x="5025883" y="5878463"/>
            <a:ext cx="1724091" cy="80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>
            <a:stCxn id="99" idx="0"/>
          </p:cNvCxnSpPr>
          <p:nvPr/>
        </p:nvCxnSpPr>
        <p:spPr>
          <a:xfrm flipV="1">
            <a:off x="7187060" y="5227269"/>
            <a:ext cx="12408" cy="4235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>
            <a:stCxn id="98" idx="3"/>
          </p:cNvCxnSpPr>
          <p:nvPr/>
        </p:nvCxnSpPr>
        <p:spPr>
          <a:xfrm flipV="1">
            <a:off x="7707492" y="5018185"/>
            <a:ext cx="382551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矩形 109"/>
          <p:cNvSpPr/>
          <p:nvPr/>
        </p:nvSpPr>
        <p:spPr>
          <a:xfrm>
            <a:off x="8367533" y="1353368"/>
            <a:ext cx="897668" cy="470382"/>
          </a:xfrm>
          <a:prstGeom prst="rect">
            <a:avLst/>
          </a:prstGeom>
          <a:solidFill>
            <a:srgbClr val="DFC9EF"/>
          </a:solidFill>
          <a:ln>
            <a:solidFill>
              <a:srgbClr val="DFC9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Attributes</a:t>
            </a:r>
            <a:endParaRPr lang="zh-CN" altLang="en-US" sz="11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1" name="直接箭头连接符 110"/>
          <p:cNvCxnSpPr/>
          <p:nvPr/>
        </p:nvCxnSpPr>
        <p:spPr>
          <a:xfrm>
            <a:off x="9279819" y="1586015"/>
            <a:ext cx="29344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矩形 112"/>
          <p:cNvSpPr/>
          <p:nvPr/>
        </p:nvSpPr>
        <p:spPr>
          <a:xfrm>
            <a:off x="9527731" y="1222733"/>
            <a:ext cx="1236332" cy="279032"/>
          </a:xfrm>
          <a:prstGeom prst="rect">
            <a:avLst/>
          </a:prstGeom>
          <a:solidFill>
            <a:srgbClr val="712CA1"/>
          </a:solidFill>
          <a:ln>
            <a:solidFill>
              <a:srgbClr val="712C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linearly related</a:t>
            </a:r>
            <a:endParaRPr lang="zh-CN" altLang="en-US" sz="10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9548088" y="1684234"/>
            <a:ext cx="1236332" cy="279032"/>
          </a:xfrm>
          <a:prstGeom prst="rect">
            <a:avLst/>
          </a:prstGeom>
          <a:solidFill>
            <a:srgbClr val="712CA1"/>
          </a:solidFill>
          <a:ln>
            <a:solidFill>
              <a:srgbClr val="712C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obvious diff</a:t>
            </a:r>
            <a:endParaRPr lang="zh-CN" altLang="en-US" sz="10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5" name="直接箭头连接符 114"/>
          <p:cNvCxnSpPr/>
          <p:nvPr/>
        </p:nvCxnSpPr>
        <p:spPr>
          <a:xfrm flipH="1">
            <a:off x="10689519" y="1592439"/>
            <a:ext cx="29344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矩形 115"/>
          <p:cNvSpPr/>
          <p:nvPr/>
        </p:nvSpPr>
        <p:spPr>
          <a:xfrm>
            <a:off x="10982960" y="1312520"/>
            <a:ext cx="897668" cy="511219"/>
          </a:xfrm>
          <a:prstGeom prst="rect">
            <a:avLst/>
          </a:prstGeom>
          <a:solidFill>
            <a:srgbClr val="DFC9EF"/>
          </a:solidFill>
          <a:ln>
            <a:solidFill>
              <a:srgbClr val="DFC9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 Mode </a:t>
            </a:r>
            <a:r>
              <a:rPr lang="en-US" altLang="zh-CN" sz="11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Pecentage</a:t>
            </a:r>
            <a:endParaRPr lang="zh-CN" altLang="en-US" sz="11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8375025" y="2285268"/>
            <a:ext cx="1962393" cy="368494"/>
          </a:xfrm>
          <a:prstGeom prst="rect">
            <a:avLst/>
          </a:prstGeom>
          <a:solidFill>
            <a:srgbClr val="DFC9EF"/>
          </a:solidFill>
          <a:ln>
            <a:solidFill>
              <a:srgbClr val="DFC9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“</a:t>
            </a:r>
            <a:r>
              <a:rPr lang="en-US" altLang="zh-CN" sz="1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hellsh</a:t>
            </a:r>
            <a:r>
              <a:rPr lang="en-US" altLang="zh-CN" sz="1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altLang="zh-CN" sz="1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level:PAPER</a:t>
            </a:r>
            <a:endParaRPr lang="zh-CN" altLang="en-US" sz="1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8" name="直接箭头连接符 117"/>
          <p:cNvCxnSpPr/>
          <p:nvPr/>
        </p:nvCxnSpPr>
        <p:spPr>
          <a:xfrm>
            <a:off x="10337418" y="2488009"/>
            <a:ext cx="44700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 119"/>
          <p:cNvSpPr/>
          <p:nvPr/>
        </p:nvSpPr>
        <p:spPr>
          <a:xfrm>
            <a:off x="10796318" y="2249013"/>
            <a:ext cx="1084310" cy="430688"/>
          </a:xfrm>
          <a:prstGeom prst="rect">
            <a:avLst/>
          </a:prstGeom>
          <a:solidFill>
            <a:srgbClr val="712CA1"/>
          </a:solidFill>
          <a:ln>
            <a:solidFill>
              <a:srgbClr val="712C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 to guess</a:t>
            </a:r>
            <a:endParaRPr lang="zh-CN" altLang="en-US" sz="10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8006765" y="3601813"/>
            <a:ext cx="40164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Pate Classification Model by K-Means++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3" name="对象 122"/>
          <p:cNvGraphicFramePr>
            <a:graphicFrameLocks noChangeAspect="1"/>
          </p:cNvGraphicFramePr>
          <p:nvPr/>
        </p:nvGraphicFramePr>
        <p:xfrm>
          <a:off x="8331061" y="4018647"/>
          <a:ext cx="1335579" cy="368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" name="AxMath" r:id="rId7" imgW="1143000" imgH="1143000" progId="Equation.AxMath">
                  <p:embed/>
                </p:oleObj>
              </mc:Choice>
              <mc:Fallback>
                <p:oleObj name="AxMath" r:id="rId7" imgW="1143000" imgH="1143000" progId="Equation.AxMath">
                  <p:embed/>
                  <p:pic>
                    <p:nvPicPr>
                      <p:cNvPr id="0" name="图片 108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331061" y="4018647"/>
                        <a:ext cx="1335579" cy="3689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" name="矩形 125"/>
          <p:cNvSpPr/>
          <p:nvPr/>
        </p:nvSpPr>
        <p:spPr>
          <a:xfrm>
            <a:off x="8484870" y="4395856"/>
            <a:ext cx="871284" cy="45720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Difficulty Rate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8478740" y="5648947"/>
            <a:ext cx="871284" cy="45720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K-Means++</a:t>
            </a:r>
            <a:endParaRPr lang="en-US" altLang="zh-CN" sz="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 Analysis</a:t>
            </a:r>
            <a:endParaRPr lang="zh-CN" altLang="en-US" sz="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8" name="直接箭头连接符 127"/>
          <p:cNvCxnSpPr/>
          <p:nvPr/>
        </p:nvCxnSpPr>
        <p:spPr>
          <a:xfrm>
            <a:off x="8914382" y="4853056"/>
            <a:ext cx="0" cy="7921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/>
          <p:nvPr/>
        </p:nvCxnSpPr>
        <p:spPr>
          <a:xfrm>
            <a:off x="9350024" y="5859780"/>
            <a:ext cx="66495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矩形 134"/>
          <p:cNvSpPr/>
          <p:nvPr/>
        </p:nvSpPr>
        <p:spPr>
          <a:xfrm>
            <a:off x="10050146" y="5645251"/>
            <a:ext cx="871284" cy="45720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Difficulty</a:t>
            </a:r>
            <a:endParaRPr lang="en-US" altLang="zh-CN" sz="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zh-CN" altLang="en-US" sz="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6" name="直接箭头连接符 135"/>
          <p:cNvCxnSpPr/>
          <p:nvPr/>
        </p:nvCxnSpPr>
        <p:spPr>
          <a:xfrm flipV="1">
            <a:off x="10433382" y="5140847"/>
            <a:ext cx="0" cy="4852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平行四边形 138"/>
          <p:cNvSpPr/>
          <p:nvPr/>
        </p:nvSpPr>
        <p:spPr>
          <a:xfrm>
            <a:off x="10085562" y="4921411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0" name="平行四边形 139"/>
          <p:cNvSpPr/>
          <p:nvPr/>
        </p:nvSpPr>
        <p:spPr>
          <a:xfrm>
            <a:off x="10085562" y="4809718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1" name="平行四边形 140"/>
          <p:cNvSpPr/>
          <p:nvPr/>
        </p:nvSpPr>
        <p:spPr>
          <a:xfrm>
            <a:off x="10085562" y="4712944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BDC37A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2" name="平行四边形 141"/>
          <p:cNvSpPr/>
          <p:nvPr/>
        </p:nvSpPr>
        <p:spPr>
          <a:xfrm>
            <a:off x="10105104" y="4594966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8" name="平行四边形 137"/>
          <p:cNvSpPr/>
          <p:nvPr/>
        </p:nvSpPr>
        <p:spPr>
          <a:xfrm>
            <a:off x="10111676" y="4483612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3" name="文本框 142"/>
          <p:cNvSpPr txBox="1"/>
          <p:nvPr/>
        </p:nvSpPr>
        <p:spPr>
          <a:xfrm>
            <a:off x="9940523" y="5028477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1</a:t>
            </a:r>
            <a:endParaRPr lang="zh-CN" altLang="en-US" sz="800" dirty="0"/>
          </a:p>
        </p:txBody>
      </p:sp>
      <p:sp>
        <p:nvSpPr>
          <p:cNvPr id="144" name="文本框 143"/>
          <p:cNvSpPr txBox="1"/>
          <p:nvPr/>
        </p:nvSpPr>
        <p:spPr>
          <a:xfrm>
            <a:off x="9940523" y="4876800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2</a:t>
            </a:r>
            <a:endParaRPr lang="zh-CN" altLang="en-US" sz="800" dirty="0"/>
          </a:p>
        </p:txBody>
      </p:sp>
      <p:sp>
        <p:nvSpPr>
          <p:cNvPr id="145" name="文本框 144"/>
          <p:cNvSpPr txBox="1"/>
          <p:nvPr/>
        </p:nvSpPr>
        <p:spPr>
          <a:xfrm>
            <a:off x="9940523" y="4774457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3</a:t>
            </a:r>
            <a:endParaRPr lang="zh-CN" altLang="en-US" sz="800" dirty="0"/>
          </a:p>
        </p:txBody>
      </p:sp>
      <p:sp>
        <p:nvSpPr>
          <p:cNvPr id="146" name="文本框 145"/>
          <p:cNvSpPr txBox="1"/>
          <p:nvPr/>
        </p:nvSpPr>
        <p:spPr>
          <a:xfrm>
            <a:off x="9940523" y="4661356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4</a:t>
            </a:r>
            <a:endParaRPr lang="zh-CN" altLang="en-US" sz="800" dirty="0"/>
          </a:p>
        </p:txBody>
      </p:sp>
      <p:sp>
        <p:nvSpPr>
          <p:cNvPr id="147" name="文本框 146"/>
          <p:cNvSpPr txBox="1"/>
          <p:nvPr/>
        </p:nvSpPr>
        <p:spPr>
          <a:xfrm>
            <a:off x="9940523" y="4557502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5</a:t>
            </a:r>
            <a:endParaRPr lang="zh-CN" altLang="en-US" sz="800" dirty="0"/>
          </a:p>
        </p:txBody>
      </p:sp>
      <p:cxnSp>
        <p:nvCxnSpPr>
          <p:cNvPr id="148" name="直接箭头连接符 147"/>
          <p:cNvCxnSpPr/>
          <p:nvPr/>
        </p:nvCxnSpPr>
        <p:spPr>
          <a:xfrm>
            <a:off x="10976388" y="4809718"/>
            <a:ext cx="1402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矩形 151"/>
          <p:cNvSpPr/>
          <p:nvPr/>
        </p:nvSpPr>
        <p:spPr>
          <a:xfrm>
            <a:off x="11107556" y="4693679"/>
            <a:ext cx="915637" cy="251834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EERIE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40727" y="49734"/>
            <a:ext cx="21162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23年</a:t>
            </a:r>
            <a:r>
              <a:rPr lang="en-US" altLang="zh-CN" dirty="0"/>
              <a:t>C</a:t>
            </a:r>
            <a:r>
              <a:rPr lang="zh-CN" altLang="en-US" dirty="0"/>
              <a:t>题，</a:t>
            </a:r>
            <a:r>
              <a:rPr lang="en-US" altLang="zh-CN" dirty="0"/>
              <a:t>23</a:t>
            </a:r>
            <a:r>
              <a:rPr lang="zh-CN" altLang="en-US" dirty="0"/>
              <a:t>00348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333297" y="420414"/>
            <a:ext cx="5402317" cy="3111062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2456688" y="774192"/>
            <a:ext cx="2048256" cy="2596896"/>
          </a:xfrm>
          <a:prstGeom prst="roundRect">
            <a:avLst/>
          </a:prstGeom>
          <a:noFill/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788920" y="693052"/>
            <a:ext cx="1383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Superior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Indicators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51201" y="1420523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Society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751201" y="1897221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Ecology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751201" y="2373919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Traffic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751201" y="2850618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4542663" y="885075"/>
            <a:ext cx="1291209" cy="237513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Indicatores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6358130" y="885075"/>
            <a:ext cx="1291209" cy="237513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Multilayer factor metric of light pollution risk level 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5724500" y="1529080"/>
            <a:ext cx="742999" cy="411127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EWM</a:t>
            </a:r>
            <a:endParaRPr lang="zh-CN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箭头: 右 15"/>
          <p:cNvSpPr/>
          <p:nvPr/>
        </p:nvSpPr>
        <p:spPr>
          <a:xfrm>
            <a:off x="5871160" y="1989748"/>
            <a:ext cx="480570" cy="2960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矩形: 圆角 16"/>
          <p:cNvSpPr/>
          <p:nvPr/>
        </p:nvSpPr>
        <p:spPr>
          <a:xfrm>
            <a:off x="2618740" y="265480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990155" y="408986"/>
            <a:ext cx="3592245" cy="3111062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矩形: 圆角 18"/>
          <p:cNvSpPr/>
          <p:nvPr/>
        </p:nvSpPr>
        <p:spPr>
          <a:xfrm>
            <a:off x="8255172" y="234867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8030127" y="1584459"/>
            <a:ext cx="990625" cy="411127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endParaRPr lang="zh-CN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连接符 21"/>
          <p:cNvCxnSpPr>
            <a:stCxn id="14" idx="3"/>
          </p:cNvCxnSpPr>
          <p:nvPr/>
        </p:nvCxnSpPr>
        <p:spPr>
          <a:xfrm>
            <a:off x="7649339" y="2072640"/>
            <a:ext cx="148450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9133840" y="911860"/>
            <a:ext cx="0" cy="21490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9133840" y="91186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9133840" y="168148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9133840" y="225806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9130030" y="305712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9648192" y="551075"/>
            <a:ext cx="1755133" cy="749299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in a protected land location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9648191" y="1392064"/>
            <a:ext cx="1755133" cy="580214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in a rural community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9648190" y="2027738"/>
            <a:ext cx="1755133" cy="580214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in a urban community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648189" y="2678042"/>
            <a:ext cx="1755133" cy="732799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in a suburban </a:t>
            </a:r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dommunity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882084" y="3996136"/>
            <a:ext cx="4742986" cy="2557549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矩形: 圆角 36"/>
          <p:cNvSpPr/>
          <p:nvPr/>
        </p:nvSpPr>
        <p:spPr>
          <a:xfrm>
            <a:off x="7136259" y="3867609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箭头: 右 37"/>
          <p:cNvSpPr/>
          <p:nvPr/>
        </p:nvSpPr>
        <p:spPr>
          <a:xfrm rot="5400000">
            <a:off x="10406004" y="3580384"/>
            <a:ext cx="456769" cy="374739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9" name="矩形: 圆角 38"/>
          <p:cNvSpPr/>
          <p:nvPr/>
        </p:nvSpPr>
        <p:spPr>
          <a:xfrm>
            <a:off x="6999889" y="4559802"/>
            <a:ext cx="1140917" cy="1533283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Impacts level prediction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8450293" y="4546096"/>
            <a:ext cx="1140917" cy="1533283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strategies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箭头: 右 40"/>
          <p:cNvSpPr/>
          <p:nvPr/>
        </p:nvSpPr>
        <p:spPr>
          <a:xfrm rot="10800000">
            <a:off x="8044869" y="5164734"/>
            <a:ext cx="480570" cy="2960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箭头: 右 41"/>
          <p:cNvSpPr/>
          <p:nvPr/>
        </p:nvSpPr>
        <p:spPr>
          <a:xfrm rot="10800000">
            <a:off x="6443979" y="5326442"/>
            <a:ext cx="359039" cy="2960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9670276" y="4208176"/>
            <a:ext cx="1755133" cy="843418"/>
          </a:xfrm>
          <a:prstGeom prst="rect">
            <a:avLst/>
          </a:prstGeom>
          <a:solidFill>
            <a:srgbClr val="A3BA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situations in four locations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9670276" y="5603964"/>
            <a:ext cx="1755133" cy="843418"/>
          </a:xfrm>
          <a:prstGeom prst="rect">
            <a:avLst/>
          </a:prstGeom>
          <a:solidFill>
            <a:srgbClr val="A3BA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 visions in four location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10595610" y="5078730"/>
            <a:ext cx="0" cy="4838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H="1">
            <a:off x="9591211" y="5312737"/>
            <a:ext cx="10043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2333297" y="4427572"/>
            <a:ext cx="4083136" cy="2126113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矩形: 圆角 51"/>
          <p:cNvSpPr/>
          <p:nvPr/>
        </p:nvSpPr>
        <p:spPr>
          <a:xfrm>
            <a:off x="2511078" y="4242025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2561361" y="4807556"/>
            <a:ext cx="1140917" cy="1533283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: 剪去顶角 53"/>
          <p:cNvSpPr/>
          <p:nvPr/>
        </p:nvSpPr>
        <p:spPr>
          <a:xfrm>
            <a:off x="4955765" y="4740380"/>
            <a:ext cx="1318739" cy="676700"/>
          </a:xfrm>
          <a:prstGeom prst="snip2SameRect">
            <a:avLst/>
          </a:prstGeom>
          <a:solidFill>
            <a:srgbClr val="CEE1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suburban Community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: 剪去顶角 54"/>
          <p:cNvSpPr/>
          <p:nvPr/>
        </p:nvSpPr>
        <p:spPr>
          <a:xfrm>
            <a:off x="4955765" y="5663669"/>
            <a:ext cx="1318739" cy="676700"/>
          </a:xfrm>
          <a:prstGeom prst="snip2SameRect">
            <a:avLst/>
          </a:prstGeom>
          <a:solidFill>
            <a:srgbClr val="CEE1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urban Community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781344" y="4851072"/>
            <a:ext cx="1141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strayegy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841376" y="5663669"/>
            <a:ext cx="959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planning strategy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直接连接符 57"/>
          <p:cNvCxnSpPr>
            <a:stCxn id="56" idx="3"/>
          </p:cNvCxnSpPr>
          <p:nvPr/>
        </p:nvCxnSpPr>
        <p:spPr>
          <a:xfrm flipH="1">
            <a:off x="4615180" y="5081905"/>
            <a:ext cx="30748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>
            <a:off x="4650740" y="5986834"/>
            <a:ext cx="271928" cy="151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>
            <a:off x="3750945" y="5094249"/>
            <a:ext cx="3070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 flipH="1">
            <a:off x="3735624" y="5986834"/>
            <a:ext cx="3070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/>
          <p:cNvSpPr/>
          <p:nvPr/>
        </p:nvSpPr>
        <p:spPr>
          <a:xfrm>
            <a:off x="-34970" y="1117707"/>
            <a:ext cx="19207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 </a:t>
            </a:r>
            <a:r>
              <a:rPr lang="en-US" altLang="zh-CN" dirty="0"/>
              <a:t>23</a:t>
            </a:r>
            <a:r>
              <a:rPr lang="zh-CN" altLang="en-US" dirty="0"/>
              <a:t>年</a:t>
            </a:r>
            <a:r>
              <a:rPr lang="en-US" altLang="zh-CN" dirty="0"/>
              <a:t>E</a:t>
            </a:r>
            <a:r>
              <a:rPr lang="zh-CN" altLang="en-US" dirty="0"/>
              <a:t>，</a:t>
            </a:r>
            <a:r>
              <a:rPr lang="en-US" altLang="zh-CN" dirty="0"/>
              <a:t>2314354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/>
          <p:cNvSpPr/>
          <p:nvPr/>
        </p:nvSpPr>
        <p:spPr>
          <a:xfrm>
            <a:off x="1944413" y="601717"/>
            <a:ext cx="9122979" cy="5654566"/>
          </a:xfrm>
          <a:prstGeom prst="roundRect">
            <a:avLst/>
          </a:prstGeom>
          <a:solidFill>
            <a:srgbClr val="FEF6F0"/>
          </a:solidFill>
          <a:ln w="19050">
            <a:solidFill>
              <a:srgbClr val="75767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5" name="矩形: 圆角 54"/>
          <p:cNvSpPr/>
          <p:nvPr/>
        </p:nvSpPr>
        <p:spPr>
          <a:xfrm>
            <a:off x="2493276" y="3548085"/>
            <a:ext cx="8149140" cy="2058358"/>
          </a:xfrm>
          <a:prstGeom prst="roundRect">
            <a:avLst/>
          </a:prstGeom>
          <a:solidFill>
            <a:srgbClr val="FFFEF3"/>
          </a:solidFill>
          <a:ln w="19050">
            <a:solidFill>
              <a:srgbClr val="3E79D8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矩形: 圆角 29"/>
          <p:cNvSpPr/>
          <p:nvPr/>
        </p:nvSpPr>
        <p:spPr>
          <a:xfrm>
            <a:off x="6369890" y="1354340"/>
            <a:ext cx="4272526" cy="2058358"/>
          </a:xfrm>
          <a:prstGeom prst="roundRect">
            <a:avLst/>
          </a:prstGeom>
          <a:solidFill>
            <a:srgbClr val="FFF9FE"/>
          </a:solidFill>
          <a:ln w="19050">
            <a:solidFill>
              <a:srgbClr val="3E79D8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2535883" y="1354340"/>
            <a:ext cx="3642360" cy="2058358"/>
          </a:xfrm>
          <a:prstGeom prst="roundRect">
            <a:avLst/>
          </a:prstGeom>
          <a:solidFill>
            <a:srgbClr val="F9F9F9"/>
          </a:solidFill>
          <a:ln w="19050">
            <a:solidFill>
              <a:srgbClr val="3E79D8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319983" y="1014704"/>
            <a:ext cx="8514080" cy="4846320"/>
          </a:xfrm>
          <a:prstGeom prst="rect">
            <a:avLst/>
          </a:prstGeom>
          <a:noFill/>
          <a:ln w="19050">
            <a:solidFill>
              <a:srgbClr val="75767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794703" y="808965"/>
            <a:ext cx="1697990" cy="469899"/>
          </a:xfrm>
          <a:prstGeom prst="rect">
            <a:avLst/>
          </a:prstGeom>
          <a:solidFill>
            <a:srgbClr val="FE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903923" y="808965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SustainaDility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16141" y="5647099"/>
            <a:ext cx="2322322" cy="469899"/>
          </a:xfrm>
          <a:prstGeom prst="rect">
            <a:avLst/>
          </a:prstGeom>
          <a:solidFill>
            <a:srgbClr val="FE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705422" y="5689321"/>
            <a:ext cx="214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Climate mitigation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37229" y="1403131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60892" y="1408536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4</a:t>
            </a:r>
            <a:endParaRPr lang="en-US" altLang="zh-CN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577031" y="3618437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044893" y="3632077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2618179" y="2289990"/>
            <a:ext cx="778002" cy="369332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GGDP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3519842" y="4068235"/>
            <a:ext cx="637614" cy="1173029"/>
            <a:chOff x="3213989" y="1644854"/>
            <a:chExt cx="637614" cy="1326946"/>
          </a:xfrm>
        </p:grpSpPr>
        <p:cxnSp>
          <p:nvCxnSpPr>
            <p:cNvPr id="20" name="直接箭头连接符 19"/>
            <p:cNvCxnSpPr>
              <a:stCxn id="16" idx="3"/>
            </p:cNvCxnSpPr>
            <p:nvPr/>
          </p:nvCxnSpPr>
          <p:spPr>
            <a:xfrm>
              <a:off x="3396181" y="2493150"/>
              <a:ext cx="45542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>
              <a:off x="3213989" y="1644854"/>
              <a:ext cx="25552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 flipV="1">
              <a:off x="3213989" y="2970734"/>
              <a:ext cx="227711" cy="10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3213989" y="1644854"/>
              <a:ext cx="0" cy="13269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矩形: 圆角 26"/>
          <p:cNvSpPr/>
          <p:nvPr/>
        </p:nvSpPr>
        <p:spPr>
          <a:xfrm>
            <a:off x="3893131" y="1463891"/>
            <a:ext cx="1545963" cy="641528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Carbon dioxide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emmissions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3842195" y="2227172"/>
            <a:ext cx="2157729" cy="548129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Consumption of              natural resource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3876317" y="2922572"/>
            <a:ext cx="2123608" cy="377933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utilization cost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6653889" y="1839316"/>
            <a:ext cx="1111854" cy="519330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 structure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9557919" y="3006266"/>
            <a:ext cx="869743" cy="344081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555304" y="2636934"/>
            <a:ext cx="1045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5</a:t>
            </a:r>
            <a:endParaRPr lang="en-US" altLang="zh-CN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9555304" y="1599988"/>
            <a:ext cx="795212" cy="411665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6577912" y="2685502"/>
            <a:ext cx="1187831" cy="615003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treatment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8107503" y="2246504"/>
            <a:ext cx="1045080" cy="548129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Australia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7948623" y="2085752"/>
            <a:ext cx="0" cy="9205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7948623" y="2528188"/>
            <a:ext cx="1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9152583" y="2528188"/>
            <a:ext cx="2012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9358958" y="1805820"/>
            <a:ext cx="0" cy="13724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H="1">
            <a:off x="7782253" y="2085752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H="1">
            <a:off x="7785428" y="2994836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>
            <a:off x="9353878" y="3178306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9351338" y="1805820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: 圆角 55"/>
          <p:cNvSpPr/>
          <p:nvPr/>
        </p:nvSpPr>
        <p:spPr>
          <a:xfrm>
            <a:off x="2618179" y="4427774"/>
            <a:ext cx="905764" cy="369332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: 圆角 57"/>
          <p:cNvSpPr/>
          <p:nvPr/>
        </p:nvSpPr>
        <p:spPr>
          <a:xfrm>
            <a:off x="3997997" y="3850384"/>
            <a:ext cx="1707420" cy="415474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 temperature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3985789" y="4329435"/>
            <a:ext cx="1734242" cy="612107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pollution degree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4030204" y="5016267"/>
            <a:ext cx="1689827" cy="525204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stability of ecosystems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6178243" y="4373803"/>
            <a:ext cx="1196340" cy="606773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 prediction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圆角 61"/>
          <p:cNvSpPr/>
          <p:nvPr/>
        </p:nvSpPr>
        <p:spPr>
          <a:xfrm>
            <a:off x="7786062" y="4271092"/>
            <a:ext cx="1366521" cy="812193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and weaknesses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矩形: 圆角 63"/>
          <p:cNvSpPr/>
          <p:nvPr/>
        </p:nvSpPr>
        <p:spPr>
          <a:xfrm>
            <a:off x="9701564" y="4365573"/>
            <a:ext cx="898819" cy="615003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thory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9074542" y="4122346"/>
            <a:ext cx="822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Space</a:t>
            </a:r>
            <a:endParaRPr lang="zh-CN" altLang="en-US" sz="1600" b="1" dirty="0"/>
          </a:p>
        </p:txBody>
      </p:sp>
      <p:sp>
        <p:nvSpPr>
          <p:cNvPr id="66" name="文本框 65"/>
          <p:cNvSpPr txBox="1"/>
          <p:nvPr/>
        </p:nvSpPr>
        <p:spPr>
          <a:xfrm>
            <a:off x="7228440" y="4091038"/>
            <a:ext cx="731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Time</a:t>
            </a:r>
            <a:endParaRPr lang="zh-CN" altLang="en-US" sz="1600" b="1" dirty="0"/>
          </a:p>
        </p:txBody>
      </p:sp>
      <p:cxnSp>
        <p:nvCxnSpPr>
          <p:cNvPr id="67" name="直接箭头连接符 66"/>
          <p:cNvCxnSpPr/>
          <p:nvPr/>
        </p:nvCxnSpPr>
        <p:spPr>
          <a:xfrm flipH="1">
            <a:off x="7387918" y="4667494"/>
            <a:ext cx="40207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 flipV="1">
            <a:off x="9157919" y="4667494"/>
            <a:ext cx="543645" cy="96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250755" y="551793"/>
            <a:ext cx="10374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23,F</a:t>
            </a:r>
            <a:endParaRPr lang="en-US" altLang="zh-CN" dirty="0"/>
          </a:p>
          <a:p>
            <a:r>
              <a:rPr lang="zh-CN" altLang="en-US" dirty="0"/>
              <a:t>2311258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62560" y="1198880"/>
            <a:ext cx="7874000" cy="2438400"/>
          </a:xfrm>
          <a:prstGeom prst="rect">
            <a:avLst/>
          </a:prstGeom>
          <a:solidFill>
            <a:srgbClr val="F5FFF5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62560" y="3968762"/>
            <a:ext cx="2479040" cy="2564118"/>
          </a:xfrm>
          <a:prstGeom prst="rect">
            <a:avLst/>
          </a:prstGeom>
          <a:solidFill>
            <a:srgbClr val="E5FC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860040" y="3968762"/>
            <a:ext cx="2479040" cy="2564118"/>
          </a:xfrm>
          <a:prstGeom prst="rect">
            <a:avLst/>
          </a:prstGeom>
          <a:solidFill>
            <a:srgbClr val="EDF7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5557520" y="3968762"/>
            <a:ext cx="2479040" cy="2564118"/>
          </a:xfrm>
          <a:prstGeom prst="rect">
            <a:avLst/>
          </a:prstGeom>
          <a:solidFill>
            <a:srgbClr val="FCF1E0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8275320" y="1196980"/>
            <a:ext cx="3662680" cy="5335899"/>
          </a:xfrm>
          <a:prstGeom prst="rect">
            <a:avLst/>
          </a:prstGeom>
          <a:solidFill>
            <a:srgbClr val="EDF7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43840" y="1196980"/>
            <a:ext cx="184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Step1:Assessment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43840" y="1449117"/>
            <a:ext cx="3947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(DAS Maturity Assessment Model)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366760" y="1207140"/>
            <a:ext cx="184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Step2:Optimiza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366760" y="1459277"/>
            <a:ext cx="3947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(VOM Model)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577840" y="4009402"/>
            <a:ext cx="184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Step3:Protocols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14320" y="4019828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Step4:Model Extension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03200" y="4019828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Step5:One-page Letter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18210" y="1877824"/>
            <a:ext cx="1219200" cy="499110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IR,WE,WQ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18210" y="2462920"/>
            <a:ext cx="1219200" cy="499110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SA,CA,Rob,DPC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18210" y="3043957"/>
            <a:ext cx="1219200" cy="499110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MC,DS,DQ,DPE,DACSR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接箭头连接符 20"/>
          <p:cNvCxnSpPr>
            <a:stCxn id="17" idx="3"/>
          </p:cNvCxnSpPr>
          <p:nvPr/>
        </p:nvCxnSpPr>
        <p:spPr>
          <a:xfrm>
            <a:off x="2137410" y="2127379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2141220" y="2721494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2137410" y="3293512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/>
          <p:cNvSpPr/>
          <p:nvPr/>
        </p:nvSpPr>
        <p:spPr>
          <a:xfrm>
            <a:off x="2518410" y="1877828"/>
            <a:ext cx="975360" cy="499106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2526030" y="2471941"/>
            <a:ext cx="975360" cy="499106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2526030" y="3038000"/>
            <a:ext cx="975360" cy="499106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接箭头连接符 27"/>
          <p:cNvCxnSpPr>
            <a:stCxn id="24" idx="3"/>
          </p:cNvCxnSpPr>
          <p:nvPr/>
        </p:nvCxnSpPr>
        <p:spPr>
          <a:xfrm>
            <a:off x="3493770" y="2127381"/>
            <a:ext cx="381000" cy="5791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7" idx="3"/>
          </p:cNvCxnSpPr>
          <p:nvPr/>
        </p:nvCxnSpPr>
        <p:spPr>
          <a:xfrm flipV="1">
            <a:off x="3501390" y="2706518"/>
            <a:ext cx="373380" cy="5810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25" idx="3"/>
          </p:cNvCxnSpPr>
          <p:nvPr/>
        </p:nvCxnSpPr>
        <p:spPr>
          <a:xfrm flipV="1">
            <a:off x="3501390" y="2706518"/>
            <a:ext cx="2056130" cy="149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997325" y="2161199"/>
            <a:ext cx="1186815" cy="499106"/>
          </a:xfrm>
          <a:prstGeom prst="rect">
            <a:avLst/>
          </a:prstGeom>
          <a:solidFill>
            <a:srgbClr val="FBF4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FESM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997325" y="2767707"/>
            <a:ext cx="1186815" cy="499106"/>
          </a:xfrm>
          <a:prstGeom prst="rect">
            <a:avLst/>
          </a:prstGeom>
          <a:solidFill>
            <a:srgbClr val="FBF4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EWM-AHP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565140" y="2514046"/>
            <a:ext cx="1715008" cy="41489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of Maturity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8693762" y="1876671"/>
            <a:ext cx="2771797" cy="366914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x:The Performance of People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8693762" y="2345125"/>
            <a:ext cx="2771797" cy="366914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y:The Performance of Tech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8693762" y="2813578"/>
            <a:ext cx="2771797" cy="366914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z:The Performance of Process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>
            <a:off x="7985760" y="2573785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8641080" y="3287553"/>
            <a:ext cx="2824479" cy="1897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45" name="直接箭头连接符 44"/>
          <p:cNvCxnSpPr/>
          <p:nvPr/>
        </p:nvCxnSpPr>
        <p:spPr>
          <a:xfrm>
            <a:off x="9834880" y="4292095"/>
            <a:ext cx="124079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10921365" y="3918953"/>
            <a:ext cx="295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y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cxnSp>
        <p:nvCxnSpPr>
          <p:cNvPr id="48" name="直接箭头连接符 47"/>
          <p:cNvCxnSpPr/>
          <p:nvPr/>
        </p:nvCxnSpPr>
        <p:spPr>
          <a:xfrm flipV="1">
            <a:off x="9834880" y="3429000"/>
            <a:ext cx="0" cy="859285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9518015" y="3352440"/>
            <a:ext cx="295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</a:rPr>
              <a:t>z</a:t>
            </a:r>
            <a:endParaRPr lang="zh-CN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 flipH="1">
            <a:off x="9396095" y="4288285"/>
            <a:ext cx="438785" cy="716531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9038336" y="4748424"/>
            <a:ext cx="295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x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56" name="箭头: 下 55"/>
          <p:cNvSpPr/>
          <p:nvPr/>
        </p:nvSpPr>
        <p:spPr>
          <a:xfrm>
            <a:off x="9924891" y="5163299"/>
            <a:ext cx="363538" cy="262411"/>
          </a:xfrm>
          <a:prstGeom prst="downArrow">
            <a:avLst/>
          </a:prstGeom>
          <a:solidFill>
            <a:srgbClr val="B2EBF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9038336" y="5477393"/>
            <a:ext cx="2037334" cy="7087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Optimizing Proposal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5880608" y="4503872"/>
            <a:ext cx="1715008" cy="746949"/>
          </a:xfrm>
          <a:prstGeom prst="rect">
            <a:avLst/>
          </a:prstGeom>
          <a:solidFill>
            <a:srgbClr val="F5FFF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</a:t>
            </a:r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Insteuctions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model using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5880608" y="5477393"/>
            <a:ext cx="1715008" cy="746949"/>
          </a:xfrm>
          <a:prstGeom prst="rect">
            <a:avLst/>
          </a:prstGeom>
          <a:solidFill>
            <a:srgbClr val="F5FFF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by Flowcharts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箭头: 下 59"/>
          <p:cNvSpPr/>
          <p:nvPr/>
        </p:nvSpPr>
        <p:spPr>
          <a:xfrm>
            <a:off x="6556343" y="5247910"/>
            <a:ext cx="363538" cy="229483"/>
          </a:xfrm>
          <a:prstGeom prst="down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61" name="直接箭头连接符 60"/>
          <p:cNvCxnSpPr/>
          <p:nvPr/>
        </p:nvCxnSpPr>
        <p:spPr>
          <a:xfrm flipH="1">
            <a:off x="7948318" y="5247910"/>
            <a:ext cx="41844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>
            <a:off x="5225438" y="5247910"/>
            <a:ext cx="41844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3032124" y="4511891"/>
            <a:ext cx="2134871" cy="7469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Scale-Demand Method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3044364" y="5477393"/>
            <a:ext cx="1019398" cy="7469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Different Scales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4160265" y="5473822"/>
            <a:ext cx="1019398" cy="7469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Different Industries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直接箭头连接符 66"/>
          <p:cNvCxnSpPr/>
          <p:nvPr/>
        </p:nvCxnSpPr>
        <p:spPr>
          <a:xfrm flipH="1">
            <a:off x="3586134" y="5258840"/>
            <a:ext cx="513426" cy="2149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endCxn id="66" idx="0"/>
          </p:cNvCxnSpPr>
          <p:nvPr/>
        </p:nvCxnSpPr>
        <p:spPr>
          <a:xfrm>
            <a:off x="4124468" y="5262411"/>
            <a:ext cx="545496" cy="2114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 flipH="1">
            <a:off x="2560320" y="5233083"/>
            <a:ext cx="36700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232079" y="4933090"/>
            <a:ext cx="1074391" cy="746949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Letter to Post Users 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1421736" y="4611004"/>
            <a:ext cx="1074391" cy="746949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 model instruction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1431119" y="5527845"/>
            <a:ext cx="1074391" cy="746949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Instilling confidence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直接箭头连接符 77"/>
          <p:cNvCxnSpPr/>
          <p:nvPr/>
        </p:nvCxnSpPr>
        <p:spPr>
          <a:xfrm flipH="1">
            <a:off x="1323045" y="4808542"/>
            <a:ext cx="77428" cy="4859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>
            <a:endCxn id="75" idx="3"/>
          </p:cNvCxnSpPr>
          <p:nvPr/>
        </p:nvCxnSpPr>
        <p:spPr>
          <a:xfrm flipH="1" flipV="1">
            <a:off x="1306470" y="5306565"/>
            <a:ext cx="113018" cy="6903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 82"/>
          <p:cNvSpPr/>
          <p:nvPr/>
        </p:nvSpPr>
        <p:spPr>
          <a:xfrm>
            <a:off x="147005" y="160938"/>
            <a:ext cx="15424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22D,2208928.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直接箭头连接符 46"/>
          <p:cNvCxnSpPr/>
          <p:nvPr/>
        </p:nvCxnSpPr>
        <p:spPr>
          <a:xfrm>
            <a:off x="5442444" y="563376"/>
            <a:ext cx="40524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>
            <a:off x="6389234" y="535628"/>
            <a:ext cx="405245" cy="0"/>
          </a:xfrm>
          <a:prstGeom prst="straightConnector1">
            <a:avLst/>
          </a:prstGeom>
          <a:ln w="28575">
            <a:solidFill>
              <a:srgbClr val="8497B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矩形: 圆角 59"/>
          <p:cNvSpPr/>
          <p:nvPr/>
        </p:nvSpPr>
        <p:spPr>
          <a:xfrm>
            <a:off x="2538763" y="336937"/>
            <a:ext cx="1039092" cy="561109"/>
          </a:xfrm>
          <a:prstGeom prst="roundRect">
            <a:avLst/>
          </a:prstGeom>
          <a:solidFill>
            <a:srgbClr val="9DC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5447"/>
              </a:solidFill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6968075" y="204546"/>
            <a:ext cx="1368410" cy="738665"/>
            <a:chOff x="7061639" y="290406"/>
            <a:chExt cx="1368410" cy="738665"/>
          </a:xfrm>
        </p:grpSpPr>
        <p:sp>
          <p:nvSpPr>
            <p:cNvPr id="75" name="矩形: 圆角 74"/>
            <p:cNvSpPr/>
            <p:nvPr/>
          </p:nvSpPr>
          <p:spPr>
            <a:xfrm>
              <a:off x="7251402" y="336937"/>
              <a:ext cx="1021742" cy="692134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7061639" y="290406"/>
              <a:ext cx="136841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888484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Grey Correlation</a:t>
              </a:r>
              <a:endParaRPr lang="en-US" altLang="zh-CN" sz="1400" b="1" dirty="0">
                <a:solidFill>
                  <a:srgbClr val="888484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400" b="1" dirty="0">
                  <a:solidFill>
                    <a:srgbClr val="888484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Analysis</a:t>
              </a:r>
              <a:endParaRPr lang="zh-CN" altLang="en-US" sz="1400" b="1" dirty="0">
                <a:solidFill>
                  <a:srgbClr val="888484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97" name="直接箭头连接符 96"/>
          <p:cNvCxnSpPr/>
          <p:nvPr/>
        </p:nvCxnSpPr>
        <p:spPr>
          <a:xfrm flipV="1">
            <a:off x="8810877" y="471592"/>
            <a:ext cx="0" cy="19458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9" name="组合 108"/>
          <p:cNvGrpSpPr/>
          <p:nvPr/>
        </p:nvGrpSpPr>
        <p:grpSpPr>
          <a:xfrm>
            <a:off x="496094" y="436836"/>
            <a:ext cx="1735123" cy="369332"/>
            <a:chOff x="4757529" y="2793917"/>
            <a:chExt cx="1735123" cy="369332"/>
          </a:xfrm>
        </p:grpSpPr>
        <p:sp>
          <p:nvSpPr>
            <p:cNvPr id="110" name="矩形 109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1" name="文本框 110"/>
            <p:cNvSpPr txBox="1"/>
            <p:nvPr/>
          </p:nvSpPr>
          <p:spPr>
            <a:xfrm>
              <a:off x="4757529" y="2811662"/>
              <a:ext cx="17303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Indicator selection</a:t>
              </a:r>
              <a:endParaRPr lang="zh-CN" altLang="en-US" sz="14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3" name="加号 112"/>
          <p:cNvSpPr/>
          <p:nvPr/>
        </p:nvSpPr>
        <p:spPr>
          <a:xfrm>
            <a:off x="9425081" y="505033"/>
            <a:ext cx="197529" cy="215348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201481" y="1836906"/>
            <a:ext cx="1039092" cy="56110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01481" y="3427401"/>
            <a:ext cx="1039092" cy="56110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54843" y="3386141"/>
            <a:ext cx="934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Huskie team</a:t>
            </a:r>
            <a:endParaRPr lang="zh-CN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41963" y="1794294"/>
            <a:ext cx="758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Given</a:t>
            </a:r>
            <a:endParaRPr lang="en-US" altLang="zh-CN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lang="zh-CN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438409" y="1888861"/>
            <a:ext cx="9645703" cy="3794776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/>
        </p:nvSpPr>
        <p:spPr>
          <a:xfrm>
            <a:off x="11300199" y="1857079"/>
            <a:ext cx="739992" cy="165042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1182995" y="2129654"/>
            <a:ext cx="97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Target</a:t>
            </a:r>
            <a:endParaRPr lang="en-US" altLang="zh-CN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endParaRPr lang="en-US" altLang="zh-CN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Action</a:t>
            </a:r>
            <a:endParaRPr lang="zh-CN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721027" y="2440625"/>
            <a:ext cx="0" cy="9867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1645817" y="2096676"/>
            <a:ext cx="2401665" cy="2971518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529445" y="2096676"/>
            <a:ext cx="3167949" cy="3488994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175925" y="2096676"/>
            <a:ext cx="2751521" cy="1866210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1240573" y="3737758"/>
            <a:ext cx="40524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10927446" y="2591319"/>
            <a:ext cx="40524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4124200" y="2374260"/>
            <a:ext cx="405245" cy="0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7746488" y="2374260"/>
            <a:ext cx="405245" cy="0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1587238" y="2148703"/>
            <a:ext cx="253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TASK 1 </a:t>
            </a:r>
            <a:r>
              <a:rPr lang="en-US" altLang="zh-CN" b="1" i="1" dirty="0">
                <a:latin typeface="Calibri" panose="020F0502020204030204" pitchFamily="34" charset="0"/>
                <a:cs typeface="Calibri" panose="020F0502020204030204" pitchFamily="34" charset="0"/>
              </a:rPr>
              <a:t>Network analysis</a:t>
            </a:r>
            <a:endParaRPr lang="zh-CN" altLang="en-US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529445" y="2096023"/>
            <a:ext cx="3440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TASK 2 </a:t>
            </a:r>
            <a:r>
              <a:rPr lang="en-US" altLang="zh-CN" b="1" i="1" dirty="0">
                <a:latin typeface="Calibri" panose="020F0502020204030204" pitchFamily="34" charset="0"/>
                <a:cs typeface="Calibri" panose="020F0502020204030204" pitchFamily="34" charset="0"/>
              </a:rPr>
              <a:t>Determine performance cooperation indicators</a:t>
            </a:r>
            <a:endParaRPr lang="zh-CN" altLang="en-US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149711" y="2148703"/>
            <a:ext cx="2873762" cy="640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TASK 3 </a:t>
            </a:r>
            <a:r>
              <a:rPr lang="en-US" altLang="zh-CN" b="1" i="1" dirty="0">
                <a:latin typeface="Calibri" panose="020F0502020204030204" pitchFamily="34" charset="0"/>
                <a:cs typeface="Calibri" panose="020F0502020204030204" pitchFamily="34" charset="0"/>
              </a:rPr>
              <a:t>Team formation &amp; Training methods</a:t>
            </a:r>
            <a:endParaRPr lang="zh-CN" altLang="en-US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768963" y="2515500"/>
            <a:ext cx="218314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1951844" y="2543281"/>
            <a:ext cx="26707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b="1" dirty="0">
                <a:latin typeface="Calibri" panose="020F0502020204030204" pitchFamily="34" charset="0"/>
                <a:cs typeface="Calibri" panose="020F0502020204030204" pitchFamily="34" charset="0"/>
              </a:rPr>
              <a:t>Pass quality network</a:t>
            </a:r>
            <a:endParaRPr lang="zh-CN" altLang="en-US" sz="15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>
            <a:off x="2409981" y="2896473"/>
            <a:ext cx="0" cy="213764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1796613" y="3216466"/>
            <a:ext cx="1144125" cy="4042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1783386" y="3157782"/>
            <a:ext cx="118613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00" b="1" dirty="0">
                <a:latin typeface="Calibri" panose="020F0502020204030204" pitchFamily="34" charset="0"/>
                <a:cs typeface="Calibri" panose="020F0502020204030204" pitchFamily="34" charset="0"/>
              </a:rPr>
              <a:t>Dyadic Configurations</a:t>
            </a:r>
            <a:endParaRPr lang="zh-CN" altLang="en-US" sz="13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376738" y="5210228"/>
            <a:ext cx="1363142" cy="338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Calibri" panose="020F0502020204030204" pitchFamily="34" charset="0"/>
                <a:cs typeface="Calibri" panose="020F0502020204030204" pitchFamily="34" charset="0"/>
              </a:rPr>
              <a:t>fullevents.csv</a:t>
            </a:r>
            <a:endParaRPr lang="zh-CN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3" name="直接箭头连接符 62"/>
          <p:cNvCxnSpPr/>
          <p:nvPr/>
        </p:nvCxnSpPr>
        <p:spPr>
          <a:xfrm>
            <a:off x="3729689" y="5374223"/>
            <a:ext cx="81381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7" name="组合 66"/>
          <p:cNvGrpSpPr/>
          <p:nvPr/>
        </p:nvGrpSpPr>
        <p:grpSpPr>
          <a:xfrm>
            <a:off x="4941448" y="2740637"/>
            <a:ext cx="2995211" cy="369332"/>
            <a:chOff x="4823449" y="2793917"/>
            <a:chExt cx="2109204" cy="369332"/>
          </a:xfrm>
        </p:grpSpPr>
        <p:sp>
          <p:nvSpPr>
            <p:cNvPr id="44" name="矩形 43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4959316" y="2799587"/>
              <a:ext cx="19733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Indicators determine</a:t>
              </a:r>
              <a:endParaRPr lang="zh-CN" altLang="en-US" sz="1400" b="1" dirty="0"/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4825814" y="3326397"/>
            <a:ext cx="2581647" cy="535897"/>
            <a:chOff x="4675181" y="2793917"/>
            <a:chExt cx="2056430" cy="369332"/>
          </a:xfrm>
        </p:grpSpPr>
        <p:sp>
          <p:nvSpPr>
            <p:cNvPr id="72" name="矩形 71"/>
            <p:cNvSpPr/>
            <p:nvPr/>
          </p:nvSpPr>
          <p:spPr>
            <a:xfrm>
              <a:off x="4823449" y="2793917"/>
              <a:ext cx="1803634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4675181" y="2799176"/>
              <a:ext cx="2056430" cy="3605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/>
                <a:t>Quantification of performance indicators</a:t>
              </a:r>
              <a:endParaRPr lang="zh-CN" altLang="en-US" sz="1400" b="1" dirty="0"/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4981538" y="4189947"/>
            <a:ext cx="1301015" cy="392160"/>
            <a:chOff x="7064372" y="336937"/>
            <a:chExt cx="1368410" cy="702504"/>
          </a:xfrm>
        </p:grpSpPr>
        <p:sp>
          <p:nvSpPr>
            <p:cNvPr id="80" name="矩形: 圆角 79"/>
            <p:cNvSpPr/>
            <p:nvPr/>
          </p:nvSpPr>
          <p:spPr>
            <a:xfrm>
              <a:off x="7251402" y="336937"/>
              <a:ext cx="1021742" cy="69213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7064372" y="377830"/>
              <a:ext cx="1368410" cy="6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Topsis</a:t>
              </a:r>
              <a:endParaRPr lang="zh-CN" altLang="en-US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6288832" y="4189947"/>
            <a:ext cx="894530" cy="409031"/>
            <a:chOff x="7150717" y="323715"/>
            <a:chExt cx="1368410" cy="752561"/>
          </a:xfrm>
        </p:grpSpPr>
        <p:sp>
          <p:nvSpPr>
            <p:cNvPr id="83" name="矩形: 圆角 82"/>
            <p:cNvSpPr/>
            <p:nvPr/>
          </p:nvSpPr>
          <p:spPr>
            <a:xfrm>
              <a:off x="7299745" y="323715"/>
              <a:ext cx="1021742" cy="69213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7150717" y="396756"/>
              <a:ext cx="1368410" cy="679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AHP</a:t>
              </a:r>
              <a:endParaRPr lang="en-US" altLang="zh-CN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6" name="加号 85"/>
          <p:cNvSpPr/>
          <p:nvPr/>
        </p:nvSpPr>
        <p:spPr>
          <a:xfrm>
            <a:off x="6133400" y="4239856"/>
            <a:ext cx="197529" cy="215348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9" name="直接箭头连接符 88"/>
          <p:cNvCxnSpPr/>
          <p:nvPr/>
        </p:nvCxnSpPr>
        <p:spPr>
          <a:xfrm flipV="1">
            <a:off x="5634204" y="3882510"/>
            <a:ext cx="0" cy="19458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/>
        </p:nvCxnSpPr>
        <p:spPr>
          <a:xfrm flipV="1">
            <a:off x="6685602" y="3882509"/>
            <a:ext cx="0" cy="19458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5" name="组合 114"/>
          <p:cNvGrpSpPr/>
          <p:nvPr/>
        </p:nvGrpSpPr>
        <p:grpSpPr>
          <a:xfrm>
            <a:off x="8236753" y="2763118"/>
            <a:ext cx="1040825" cy="476786"/>
            <a:chOff x="4786831" y="2759490"/>
            <a:chExt cx="1730381" cy="403759"/>
          </a:xfrm>
        </p:grpSpPr>
        <p:sp>
          <p:nvSpPr>
            <p:cNvPr id="116" name="矩形 115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4786831" y="2759490"/>
              <a:ext cx="1730381" cy="2606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Formation utilization</a:t>
              </a:r>
              <a:endParaRPr lang="zh-CN" altLang="en-US" sz="14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20" name="矩形 119"/>
          <p:cNvSpPr/>
          <p:nvPr/>
        </p:nvSpPr>
        <p:spPr>
          <a:xfrm>
            <a:off x="8179356" y="4229646"/>
            <a:ext cx="2748089" cy="1356024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文本框 122"/>
          <p:cNvSpPr txBox="1"/>
          <p:nvPr/>
        </p:nvSpPr>
        <p:spPr>
          <a:xfrm>
            <a:off x="8293319" y="4242497"/>
            <a:ext cx="2956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i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TASK 4 </a:t>
            </a:r>
            <a:r>
              <a:rPr lang="en-US" altLang="zh-CN" sz="1600" b="1" i="1" dirty="0">
                <a:latin typeface="Calibri" panose="020F0502020204030204" pitchFamily="34" charset="0"/>
                <a:cs typeface="Calibri" panose="020F0502020204030204" pitchFamily="34" charset="0"/>
              </a:rPr>
              <a:t>Indicators of a good social team</a:t>
            </a:r>
            <a:endParaRPr lang="zh-CN" altLang="en-US" sz="16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24" name="组合 123"/>
          <p:cNvGrpSpPr/>
          <p:nvPr/>
        </p:nvGrpSpPr>
        <p:grpSpPr>
          <a:xfrm>
            <a:off x="8336485" y="4813426"/>
            <a:ext cx="1112198" cy="817775"/>
            <a:chOff x="4823449" y="2793917"/>
            <a:chExt cx="1669203" cy="533548"/>
          </a:xfrm>
        </p:grpSpPr>
        <p:sp>
          <p:nvSpPr>
            <p:cNvPr id="125" name="矩形 124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6" name="文本框 125"/>
            <p:cNvSpPr txBox="1"/>
            <p:nvPr/>
          </p:nvSpPr>
          <p:spPr>
            <a:xfrm>
              <a:off x="4888925" y="2824694"/>
              <a:ext cx="1568116" cy="50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Obtained indicators</a:t>
              </a:r>
              <a:endParaRPr lang="zh-CN" altLang="en-US" sz="14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28" name="组合 127"/>
          <p:cNvGrpSpPr/>
          <p:nvPr/>
        </p:nvGrpSpPr>
        <p:grpSpPr>
          <a:xfrm>
            <a:off x="9655445" y="4808221"/>
            <a:ext cx="1272000" cy="561512"/>
            <a:chOff x="4823449" y="2793917"/>
            <a:chExt cx="1743160" cy="369332"/>
          </a:xfrm>
        </p:grpSpPr>
        <p:sp>
          <p:nvSpPr>
            <p:cNvPr id="129" name="矩形 128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0" name="文本框 129"/>
            <p:cNvSpPr txBox="1"/>
            <p:nvPr/>
          </p:nvSpPr>
          <p:spPr>
            <a:xfrm>
              <a:off x="4836228" y="2816342"/>
              <a:ext cx="1730381" cy="344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Additional indicators</a:t>
              </a:r>
              <a:endParaRPr lang="zh-CN" altLang="en-US" sz="14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131" name="直接箭头连接符 130"/>
          <p:cNvCxnSpPr/>
          <p:nvPr/>
        </p:nvCxnSpPr>
        <p:spPr>
          <a:xfrm>
            <a:off x="9456723" y="5026828"/>
            <a:ext cx="209614" cy="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直接箭头连接符 134"/>
          <p:cNvCxnSpPr/>
          <p:nvPr/>
        </p:nvCxnSpPr>
        <p:spPr>
          <a:xfrm flipH="1">
            <a:off x="9456723" y="5200862"/>
            <a:ext cx="193533" cy="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直接箭头连接符 136"/>
          <p:cNvCxnSpPr/>
          <p:nvPr/>
        </p:nvCxnSpPr>
        <p:spPr>
          <a:xfrm>
            <a:off x="9589801" y="3956431"/>
            <a:ext cx="0" cy="259842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矩形 126"/>
          <p:cNvSpPr/>
          <p:nvPr/>
        </p:nvSpPr>
        <p:spPr>
          <a:xfrm>
            <a:off x="1795445" y="3838254"/>
            <a:ext cx="1145294" cy="4042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文本框 131"/>
          <p:cNvSpPr txBox="1"/>
          <p:nvPr/>
        </p:nvSpPr>
        <p:spPr>
          <a:xfrm>
            <a:off x="1782216" y="3779570"/>
            <a:ext cx="118613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00" b="1" dirty="0">
                <a:latin typeface="Calibri" panose="020F0502020204030204" pitchFamily="34" charset="0"/>
                <a:cs typeface="Calibri" panose="020F0502020204030204" pitchFamily="34" charset="0"/>
              </a:rPr>
              <a:t>Triadic Configurations</a:t>
            </a:r>
            <a:endParaRPr lang="zh-CN" altLang="en-US" sz="13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3080544" y="3729753"/>
            <a:ext cx="868842" cy="4042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文本框 137"/>
          <p:cNvSpPr txBox="1"/>
          <p:nvPr/>
        </p:nvSpPr>
        <p:spPr>
          <a:xfrm>
            <a:off x="3084650" y="3689964"/>
            <a:ext cx="8780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00" b="1" dirty="0">
                <a:latin typeface="Calibri" panose="020F0502020204030204" pitchFamily="34" charset="0"/>
                <a:cs typeface="Calibri" panose="020F0502020204030204" pitchFamily="34" charset="0"/>
              </a:rPr>
              <a:t>Team formation</a:t>
            </a:r>
            <a:endParaRPr lang="zh-CN" altLang="en-US" sz="13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9" name="直接箭头连接符 138"/>
          <p:cNvCxnSpPr/>
          <p:nvPr/>
        </p:nvCxnSpPr>
        <p:spPr>
          <a:xfrm>
            <a:off x="3511427" y="2889496"/>
            <a:ext cx="0" cy="830888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矩形 139"/>
          <p:cNvSpPr/>
          <p:nvPr/>
        </p:nvSpPr>
        <p:spPr>
          <a:xfrm>
            <a:off x="1746017" y="3131367"/>
            <a:ext cx="1244759" cy="1201673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加号 140"/>
          <p:cNvSpPr/>
          <p:nvPr/>
        </p:nvSpPr>
        <p:spPr>
          <a:xfrm>
            <a:off x="2291062" y="3632161"/>
            <a:ext cx="197529" cy="215348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2" name="组合 141"/>
          <p:cNvGrpSpPr/>
          <p:nvPr/>
        </p:nvGrpSpPr>
        <p:grpSpPr>
          <a:xfrm>
            <a:off x="1994611" y="4641543"/>
            <a:ext cx="1797314" cy="369332"/>
            <a:chOff x="4823449" y="2793917"/>
            <a:chExt cx="1742238" cy="369332"/>
          </a:xfrm>
        </p:grpSpPr>
        <p:sp>
          <p:nvSpPr>
            <p:cNvPr id="143" name="矩形 142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4" name="文本框 143"/>
            <p:cNvSpPr txBox="1"/>
            <p:nvPr/>
          </p:nvSpPr>
          <p:spPr>
            <a:xfrm>
              <a:off x="4835306" y="2811306"/>
              <a:ext cx="17303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Time and Space</a:t>
              </a:r>
              <a:endParaRPr lang="zh-CN" altLang="en-US" sz="14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146" name="直接箭头连接符 145"/>
          <p:cNvCxnSpPr/>
          <p:nvPr/>
        </p:nvCxnSpPr>
        <p:spPr>
          <a:xfrm>
            <a:off x="2418684" y="4319728"/>
            <a:ext cx="0" cy="320511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直接箭头连接符 146"/>
          <p:cNvCxnSpPr/>
          <p:nvPr/>
        </p:nvCxnSpPr>
        <p:spPr>
          <a:xfrm>
            <a:off x="3523673" y="4133996"/>
            <a:ext cx="0" cy="506243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直接箭头连接符 147"/>
          <p:cNvCxnSpPr/>
          <p:nvPr/>
        </p:nvCxnSpPr>
        <p:spPr>
          <a:xfrm>
            <a:off x="6116637" y="3110658"/>
            <a:ext cx="0" cy="213764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9" name="组合 148"/>
          <p:cNvGrpSpPr/>
          <p:nvPr/>
        </p:nvGrpSpPr>
        <p:grpSpPr>
          <a:xfrm>
            <a:off x="4716946" y="4865788"/>
            <a:ext cx="2888149" cy="820859"/>
            <a:chOff x="4806381" y="2793917"/>
            <a:chExt cx="1730381" cy="535243"/>
          </a:xfrm>
        </p:grpSpPr>
        <p:sp>
          <p:nvSpPr>
            <p:cNvPr id="150" name="矩形 149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1" name="文本框 150"/>
            <p:cNvSpPr txBox="1"/>
            <p:nvPr/>
          </p:nvSpPr>
          <p:spPr>
            <a:xfrm>
              <a:off x="4806381" y="2805940"/>
              <a:ext cx="17303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Three dimensional dynamic model of team cooperation</a:t>
              </a:r>
              <a:endParaRPr lang="zh-CN" altLang="en-US" sz="14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152" name="直接箭头连接符 151"/>
          <p:cNvCxnSpPr/>
          <p:nvPr/>
        </p:nvCxnSpPr>
        <p:spPr>
          <a:xfrm>
            <a:off x="6185692" y="4640239"/>
            <a:ext cx="0" cy="225549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3" name="矩形 152"/>
          <p:cNvSpPr/>
          <p:nvPr/>
        </p:nvSpPr>
        <p:spPr>
          <a:xfrm>
            <a:off x="5004803" y="4086352"/>
            <a:ext cx="2271433" cy="55087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4" name="组合 153"/>
          <p:cNvGrpSpPr/>
          <p:nvPr/>
        </p:nvGrpSpPr>
        <p:grpSpPr>
          <a:xfrm>
            <a:off x="9367123" y="2763122"/>
            <a:ext cx="1560323" cy="738664"/>
            <a:chOff x="4786831" y="2759491"/>
            <a:chExt cx="1730381" cy="625526"/>
          </a:xfrm>
        </p:grpSpPr>
        <p:sp>
          <p:nvSpPr>
            <p:cNvPr id="155" name="矩形 154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6" name="文本框 155"/>
            <p:cNvSpPr txBox="1"/>
            <p:nvPr/>
          </p:nvSpPr>
          <p:spPr>
            <a:xfrm>
              <a:off x="4786831" y="2759491"/>
              <a:ext cx="1730381" cy="6255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Look for effective formations</a:t>
              </a:r>
              <a:endParaRPr lang="zh-CN" altLang="en-US" sz="14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160" name="直接箭头连接符 159"/>
          <p:cNvCxnSpPr/>
          <p:nvPr/>
        </p:nvCxnSpPr>
        <p:spPr>
          <a:xfrm>
            <a:off x="9250442" y="3045285"/>
            <a:ext cx="169328" cy="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1" name="组合 160"/>
          <p:cNvGrpSpPr/>
          <p:nvPr/>
        </p:nvGrpSpPr>
        <p:grpSpPr>
          <a:xfrm>
            <a:off x="8216083" y="3520207"/>
            <a:ext cx="2711363" cy="369332"/>
            <a:chOff x="4774022" y="2793917"/>
            <a:chExt cx="1730381" cy="369332"/>
          </a:xfrm>
        </p:grpSpPr>
        <p:sp>
          <p:nvSpPr>
            <p:cNvPr id="162" name="矩形 161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3" name="文本框 162"/>
            <p:cNvSpPr txBox="1"/>
            <p:nvPr/>
          </p:nvSpPr>
          <p:spPr>
            <a:xfrm>
              <a:off x="4774022" y="2802086"/>
              <a:ext cx="17303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Five success measures</a:t>
              </a:r>
              <a:endParaRPr lang="zh-CN" alt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164" name="直接箭头连接符 163"/>
          <p:cNvCxnSpPr/>
          <p:nvPr/>
        </p:nvCxnSpPr>
        <p:spPr>
          <a:xfrm>
            <a:off x="8802801" y="3239904"/>
            <a:ext cx="0" cy="28847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直接箭头连接符 164"/>
          <p:cNvCxnSpPr/>
          <p:nvPr/>
        </p:nvCxnSpPr>
        <p:spPr>
          <a:xfrm>
            <a:off x="10210466" y="3231735"/>
            <a:ext cx="0" cy="28847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矩形: 圆角 97"/>
          <p:cNvSpPr/>
          <p:nvPr/>
        </p:nvSpPr>
        <p:spPr>
          <a:xfrm>
            <a:off x="4053341" y="336937"/>
            <a:ext cx="1039092" cy="561109"/>
          </a:xfrm>
          <a:prstGeom prst="roundRect">
            <a:avLst/>
          </a:prstGeom>
          <a:solidFill>
            <a:srgbClr val="9DC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E4706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709" y="195122"/>
            <a:ext cx="1984750" cy="104285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101991" y="926609"/>
            <a:ext cx="2144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of Light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Pollution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头: 下 5"/>
          <p:cNvSpPr/>
          <p:nvPr/>
        </p:nvSpPr>
        <p:spPr>
          <a:xfrm>
            <a:off x="7056120" y="1631643"/>
            <a:ext cx="341376" cy="597408"/>
          </a:xfrm>
          <a:prstGeom prst="downArrow">
            <a:avLst/>
          </a:prstGeom>
          <a:solidFill>
            <a:srgbClr val="94C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6393180" y="2347926"/>
            <a:ext cx="1760220" cy="731520"/>
          </a:xfrm>
          <a:prstGeom prst="roundRect">
            <a:avLst/>
          </a:prstGeom>
          <a:solidFill>
            <a:srgbClr val="83C4E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Determination of the Data Space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6134100" y="3370728"/>
            <a:ext cx="954405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2-D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7322820" y="3370728"/>
            <a:ext cx="954405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3-D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6134100" y="4363493"/>
            <a:ext cx="954405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226808" y="4363493"/>
            <a:ext cx="1131570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5947410" y="5466383"/>
            <a:ext cx="1279398" cy="731520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Device Performance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7322820" y="5594200"/>
            <a:ext cx="1325118" cy="475885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812536" y="3259275"/>
            <a:ext cx="2926080" cy="3096768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860296" y="3252872"/>
            <a:ext cx="3706876" cy="3096768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/>
        </p:nvSpPr>
        <p:spPr>
          <a:xfrm>
            <a:off x="2833624" y="2347926"/>
            <a:ext cx="1760220" cy="731520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Composition of Light Pollution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2233553" y="3355488"/>
            <a:ext cx="986536" cy="569606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Day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2042741" y="4377953"/>
            <a:ext cx="1392425" cy="607978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is Complete and Accurate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3951292" y="3343922"/>
            <a:ext cx="1058288" cy="607978"/>
          </a:xfrm>
          <a:prstGeom prst="roundRect">
            <a:avLst/>
          </a:prstGeom>
          <a:solidFill>
            <a:srgbClr val="A8DED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Night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3504318" y="4363493"/>
            <a:ext cx="1952236" cy="607978"/>
          </a:xfrm>
          <a:prstGeom prst="roundRect">
            <a:avLst/>
          </a:prstGeom>
          <a:solidFill>
            <a:srgbClr val="A8DED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Fully Exploit the Artificial Light Influence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1898465" y="5393584"/>
            <a:ext cx="1656711" cy="877115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 to</a:t>
            </a:r>
            <a:endParaRPr lang="en-US" altLang="zh-CN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Eliminate the Influence of Natural Light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3679259" y="5383064"/>
            <a:ext cx="1656711" cy="877115"/>
          </a:xfrm>
          <a:prstGeom prst="roundRect">
            <a:avLst/>
          </a:prstGeom>
          <a:solidFill>
            <a:srgbClr val="A8DED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Daytime Artificial Light Data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917967" y="3252872"/>
            <a:ext cx="2824453" cy="3096768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>
            <a:off x="9366263" y="2347926"/>
            <a:ext cx="1927860" cy="731520"/>
          </a:xfrm>
          <a:prstGeom prst="roundRect">
            <a:avLst/>
          </a:prstGeom>
          <a:solidFill>
            <a:srgbClr val="BFB8DA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Way Light Pollution Affects Biological Populations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9060180" y="3343922"/>
            <a:ext cx="1187704" cy="581172"/>
          </a:xfrm>
          <a:prstGeom prst="roundRect">
            <a:avLst/>
          </a:prstGeom>
          <a:solidFill>
            <a:srgbClr val="BBBBE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Microcosmic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10440316" y="3343922"/>
            <a:ext cx="1187704" cy="581172"/>
          </a:xfrm>
          <a:prstGeom prst="roundRect">
            <a:avLst/>
          </a:prstGeom>
          <a:solidFill>
            <a:srgbClr val="CAC4E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Macroscopic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9188457" y="4377953"/>
            <a:ext cx="931151" cy="539906"/>
          </a:xfrm>
          <a:prstGeom prst="roundRect">
            <a:avLst/>
          </a:prstGeom>
          <a:solidFill>
            <a:srgbClr val="BBBBE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10413997" y="4377953"/>
            <a:ext cx="1240342" cy="539906"/>
          </a:xfrm>
          <a:prstGeom prst="roundRect">
            <a:avLst/>
          </a:prstGeom>
          <a:solidFill>
            <a:srgbClr val="CAC4E0"/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Concise and Universal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9102808" y="5551668"/>
            <a:ext cx="1102449" cy="539906"/>
          </a:xfrm>
          <a:prstGeom prst="roundRect">
            <a:avLst/>
          </a:prstGeom>
          <a:solidFill>
            <a:srgbClr val="BBBBE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and Complex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10555108" y="5594200"/>
            <a:ext cx="958120" cy="448740"/>
          </a:xfrm>
          <a:prstGeom prst="roundRect">
            <a:avLst/>
          </a:prstGeom>
          <a:solidFill>
            <a:srgbClr val="CAC4E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Rough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任意多边形: 形状 37"/>
          <p:cNvSpPr/>
          <p:nvPr/>
        </p:nvSpPr>
        <p:spPr>
          <a:xfrm rot="5460000">
            <a:off x="6480144" y="3917546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B2D7EA"/>
          </a:solidFill>
          <a:ln>
            <a:solidFill>
              <a:srgbClr val="B2D7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任意多边形: 形状 38"/>
          <p:cNvSpPr/>
          <p:nvPr/>
        </p:nvSpPr>
        <p:spPr>
          <a:xfrm rot="5460000">
            <a:off x="7671086" y="3929800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B2D7EA"/>
          </a:solidFill>
          <a:ln>
            <a:solidFill>
              <a:srgbClr val="B2D7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任意多边形: 形状 39"/>
          <p:cNvSpPr/>
          <p:nvPr/>
        </p:nvSpPr>
        <p:spPr>
          <a:xfrm rot="5460000">
            <a:off x="4353315" y="3899698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D2E1DB"/>
          </a:solidFill>
          <a:ln>
            <a:solidFill>
              <a:srgbClr val="D2E1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: 形状 40"/>
          <p:cNvSpPr/>
          <p:nvPr/>
        </p:nvSpPr>
        <p:spPr>
          <a:xfrm rot="5460000">
            <a:off x="2595662" y="3899699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D2E1DB"/>
          </a:solidFill>
          <a:ln>
            <a:solidFill>
              <a:srgbClr val="D2E1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: 形状 41"/>
          <p:cNvSpPr/>
          <p:nvPr/>
        </p:nvSpPr>
        <p:spPr>
          <a:xfrm rot="5460000">
            <a:off x="9522874" y="3931293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CAC4E0"/>
          </a:solidFill>
          <a:ln>
            <a:solidFill>
              <a:srgbClr val="CAC4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: 形状 42"/>
          <p:cNvSpPr/>
          <p:nvPr/>
        </p:nvSpPr>
        <p:spPr>
          <a:xfrm rot="5460000">
            <a:off x="10903010" y="3929397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CAC4E0"/>
          </a:solidFill>
          <a:ln>
            <a:solidFill>
              <a:srgbClr val="CAC4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箭头: 下 43"/>
          <p:cNvSpPr/>
          <p:nvPr/>
        </p:nvSpPr>
        <p:spPr>
          <a:xfrm rot="3917286">
            <a:off x="4492347" y="846067"/>
            <a:ext cx="309711" cy="1721046"/>
          </a:xfrm>
          <a:prstGeom prst="downArrow">
            <a:avLst/>
          </a:prstGeom>
          <a:solidFill>
            <a:srgbClr val="B3CFC4"/>
          </a:solidFill>
          <a:ln>
            <a:solidFill>
              <a:srgbClr val="B3CF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下 45"/>
          <p:cNvSpPr/>
          <p:nvPr/>
        </p:nvSpPr>
        <p:spPr>
          <a:xfrm rot="17682714" flipH="1">
            <a:off x="9392922" y="765139"/>
            <a:ext cx="309711" cy="1721046"/>
          </a:xfrm>
          <a:prstGeom prst="downArrow">
            <a:avLst/>
          </a:prstGeom>
          <a:solidFill>
            <a:srgbClr val="A5A5E1"/>
          </a:solidFill>
          <a:ln>
            <a:solidFill>
              <a:srgbClr val="A5A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653777" y="4291240"/>
            <a:ext cx="11088643" cy="760643"/>
          </a:xfrm>
          <a:prstGeom prst="rect">
            <a:avLst/>
          </a:prstGeom>
          <a:noFill/>
          <a:ln w="38100">
            <a:solidFill>
              <a:srgbClr val="87C6E3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496480" y="4478629"/>
            <a:ext cx="1577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465467" y="5664681"/>
            <a:ext cx="1577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Weaknesses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53777" y="5315965"/>
            <a:ext cx="11088643" cy="1033675"/>
          </a:xfrm>
          <a:prstGeom prst="rect">
            <a:avLst/>
          </a:prstGeom>
          <a:noFill/>
          <a:ln w="38100">
            <a:solidFill>
              <a:srgbClr val="F7D28C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498763" y="645976"/>
            <a:ext cx="2219231" cy="2219231"/>
          </a:xfrm>
          <a:prstGeom prst="ellipse">
            <a:avLst/>
          </a:prstGeom>
          <a:noFill/>
          <a:ln w="57150">
            <a:solidFill>
              <a:srgbClr val="DF87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文本框 53"/>
          <p:cNvSpPr txBox="1"/>
          <p:nvPr/>
        </p:nvSpPr>
        <p:spPr>
          <a:xfrm>
            <a:off x="582711" y="1104216"/>
            <a:ext cx="214411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D53E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endParaRPr lang="en-US" altLang="zh-CN" sz="2800" b="1" dirty="0">
              <a:solidFill>
                <a:srgbClr val="D53E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800" b="1" dirty="0">
                <a:solidFill>
                  <a:srgbClr val="D53E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altLang="zh-CN" sz="2800" b="1" dirty="0">
              <a:solidFill>
                <a:srgbClr val="D53E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800" b="1" dirty="0">
                <a:solidFill>
                  <a:srgbClr val="D53E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endParaRPr lang="zh-CN" altLang="en-US" sz="2800" b="1" dirty="0">
              <a:solidFill>
                <a:srgbClr val="D53E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230235" y="3193676"/>
            <a:ext cx="4987684" cy="2506083"/>
          </a:xfrm>
          <a:prstGeom prst="rect">
            <a:avLst/>
          </a:prstGeom>
          <a:solidFill>
            <a:srgbClr val="EDF4FA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998837" y="3193676"/>
            <a:ext cx="4878202" cy="2506083"/>
          </a:xfrm>
          <a:prstGeom prst="rect">
            <a:avLst/>
          </a:prstGeom>
          <a:solidFill>
            <a:srgbClr val="FDECEC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998837" y="675631"/>
            <a:ext cx="4878203" cy="2194560"/>
          </a:xfrm>
          <a:prstGeom prst="rect">
            <a:avLst/>
          </a:prstGeom>
          <a:solidFill>
            <a:srgbClr val="EFF6EB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230235" y="711200"/>
            <a:ext cx="4987685" cy="2194560"/>
          </a:xfrm>
          <a:prstGeom prst="rect">
            <a:avLst/>
          </a:prstGeom>
          <a:solidFill>
            <a:srgbClr val="FAFAFA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554552" y="1981033"/>
            <a:ext cx="2015490" cy="842010"/>
          </a:xfrm>
          <a:prstGeom prst="rect">
            <a:avLst/>
          </a:prstGeom>
          <a:solidFill>
            <a:srgbClr val="F2F8ED"/>
          </a:solidFill>
          <a:ln w="19050">
            <a:solidFill>
              <a:srgbClr val="8CA96E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975354" y="985078"/>
            <a:ext cx="2066544" cy="476004"/>
          </a:xfrm>
          <a:prstGeom prst="rect">
            <a:avLst/>
          </a:prstGeom>
          <a:solidFill>
            <a:srgbClr val="7D7C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426464" y="1285277"/>
            <a:ext cx="1591056" cy="329184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426464" y="853441"/>
            <a:ext cx="1591056" cy="329184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1816" y="336663"/>
            <a:ext cx="2375959" cy="129682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75955" y="239216"/>
            <a:ext cx="5885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Problem1:Predict the number of the reported results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045" y="5820946"/>
            <a:ext cx="5885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Problem2:Predict the distribution of the reported results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98839" y="239216"/>
            <a:ext cx="5025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Problem3:Classify words by difficulty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98838" y="5820946"/>
            <a:ext cx="5025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Problem4:Some interesting features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592001" y="851641"/>
            <a:ext cx="1259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ARIMA model</a:t>
            </a:r>
            <a:endParaRPr lang="zh-CN" altLang="en-US" sz="14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647022" y="1301475"/>
            <a:ext cx="1259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 model</a:t>
            </a:r>
            <a:endParaRPr lang="zh-CN" altLang="en-US" sz="14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右中括号 18"/>
          <p:cNvSpPr/>
          <p:nvPr/>
        </p:nvSpPr>
        <p:spPr>
          <a:xfrm>
            <a:off x="3149565" y="896464"/>
            <a:ext cx="146304" cy="585216"/>
          </a:xfrm>
          <a:prstGeom prst="rightBracket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/>
        </p:nvCxnSpPr>
        <p:spPr>
          <a:xfrm>
            <a:off x="3335874" y="1189072"/>
            <a:ext cx="5994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969258" y="1003039"/>
            <a:ext cx="2145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interval for the number of the reported results</a:t>
            </a:r>
            <a:endParaRPr lang="zh-CN" altLang="en-US" sz="12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323594" y="1679637"/>
            <a:ext cx="2145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of the word</a:t>
            </a:r>
            <a:endParaRPr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504950" y="2014824"/>
            <a:ext cx="1165860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commonness rating</a:t>
            </a:r>
            <a:endParaRPr lang="zh-CN" altLang="en-US" sz="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705319" y="2011059"/>
            <a:ext cx="630555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entropy</a:t>
            </a:r>
            <a:endParaRPr lang="zh-CN" altLang="en-US" sz="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432904" y="2296591"/>
            <a:ext cx="902970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letters</a:t>
            </a:r>
            <a:endParaRPr lang="zh-CN" altLang="en-US" sz="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504950" y="2555226"/>
            <a:ext cx="1842315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vowels</a:t>
            </a:r>
            <a:endParaRPr lang="zh-CN" altLang="en-US" sz="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504950" y="2296591"/>
            <a:ext cx="902970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endParaRPr lang="zh-CN" altLang="en-US" sz="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987345" y="1951732"/>
            <a:ext cx="2054553" cy="344859"/>
          </a:xfrm>
          <a:prstGeom prst="rect">
            <a:avLst/>
          </a:prstGeom>
          <a:solidFill>
            <a:srgbClr val="C3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11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precentage</a:t>
            </a:r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 Hard Mode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981349" y="2442608"/>
            <a:ext cx="2054553" cy="344859"/>
          </a:xfrm>
          <a:prstGeom prst="rect">
            <a:avLst/>
          </a:prstGeom>
          <a:solidFill>
            <a:srgbClr val="C3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percentage of (1,2,3,4,5,6,X)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3404274" y="2125980"/>
            <a:ext cx="564984" cy="2336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endCxn id="32" idx="1"/>
          </p:cNvCxnSpPr>
          <p:nvPr/>
        </p:nvCxnSpPr>
        <p:spPr>
          <a:xfrm>
            <a:off x="3386187" y="2359660"/>
            <a:ext cx="595162" cy="25537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7048367" y="929748"/>
            <a:ext cx="14403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and new </a:t>
            </a:r>
            <a:endParaRPr lang="en-US" altLang="zh-CN" sz="11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of a word</a:t>
            </a:r>
            <a:endParaRPr lang="zh-CN" altLang="en-US" sz="11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971230" y="1949114"/>
            <a:ext cx="15945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Level:</a:t>
            </a:r>
            <a:endParaRPr lang="en-US" altLang="zh-CN" sz="1100" b="1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1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medium difficult</a:t>
            </a:r>
            <a:endParaRPr lang="zh-CN" altLang="en-US" sz="1100" b="1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709661" y="940418"/>
            <a:ext cx="918210" cy="344859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709661" y="1732874"/>
            <a:ext cx="918210" cy="344859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GMM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 flipV="1">
            <a:off x="8441055" y="1112847"/>
            <a:ext cx="19431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9168766" y="1325843"/>
            <a:ext cx="0" cy="3537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右中括号 47"/>
          <p:cNvSpPr/>
          <p:nvPr/>
        </p:nvSpPr>
        <p:spPr>
          <a:xfrm rot="10800000">
            <a:off x="9748532" y="840475"/>
            <a:ext cx="146304" cy="585216"/>
          </a:xfrm>
          <a:prstGeom prst="rightBracket">
            <a:avLst/>
          </a:prstGeom>
          <a:ln w="19050">
            <a:solidFill>
              <a:srgbClr val="8CA96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9944549" y="836436"/>
            <a:ext cx="630686" cy="276411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0649433" y="836435"/>
            <a:ext cx="960236" cy="276411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semantics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949688" y="1173458"/>
            <a:ext cx="1659981" cy="276411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phonetic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>
            <a:off x="9821684" y="1876425"/>
            <a:ext cx="3186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>
            <a:off x="10965180" y="2082489"/>
            <a:ext cx="0" cy="3206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10317198" y="1703998"/>
            <a:ext cx="1352478" cy="344853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Words’ difficulty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0290559" y="2433710"/>
            <a:ext cx="1352478" cy="344853"/>
          </a:xfrm>
          <a:prstGeom prst="rect">
            <a:avLst/>
          </a:prstGeom>
          <a:solidFill>
            <a:srgbClr val="538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Classify “EERIE”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8492527" y="2421405"/>
            <a:ext cx="1352478" cy="344853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attributes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直接箭头连接符 62"/>
          <p:cNvCxnSpPr/>
          <p:nvPr/>
        </p:nvCxnSpPr>
        <p:spPr>
          <a:xfrm flipH="1">
            <a:off x="8380061" y="1911499"/>
            <a:ext cx="255304" cy="199338"/>
          </a:xfrm>
          <a:prstGeom prst="straightConnector1">
            <a:avLst/>
          </a:prstGeom>
          <a:ln w="19050">
            <a:solidFill>
              <a:srgbClr val="53823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8215323" y="2415799"/>
            <a:ext cx="273357" cy="169626"/>
          </a:xfrm>
          <a:prstGeom prst="straightConnector1">
            <a:avLst/>
          </a:prstGeom>
          <a:ln w="19050">
            <a:solidFill>
              <a:srgbClr val="53823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1545752" y="3523734"/>
            <a:ext cx="1361251" cy="38479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future word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1541365" y="4133380"/>
            <a:ext cx="1361251" cy="38479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future date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1523147" y="4655836"/>
            <a:ext cx="1253073" cy="384796"/>
          </a:xfrm>
          <a:prstGeom prst="rect">
            <a:avLst/>
          </a:prstGeom>
          <a:solidFill>
            <a:srgbClr val="C1D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models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523147" y="5124071"/>
            <a:ext cx="1253073" cy="384796"/>
          </a:xfrm>
          <a:prstGeom prst="rect">
            <a:avLst/>
          </a:prstGeom>
          <a:solidFill>
            <a:srgbClr val="C1D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 models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右中括号 70"/>
          <p:cNvSpPr/>
          <p:nvPr/>
        </p:nvSpPr>
        <p:spPr>
          <a:xfrm>
            <a:off x="2811237" y="4803378"/>
            <a:ext cx="146304" cy="585216"/>
          </a:xfrm>
          <a:prstGeom prst="rightBracket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2" name="直接箭头连接符 71"/>
          <p:cNvCxnSpPr/>
          <p:nvPr/>
        </p:nvCxnSpPr>
        <p:spPr>
          <a:xfrm flipV="1">
            <a:off x="3056535" y="5104801"/>
            <a:ext cx="279339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 flipV="1">
            <a:off x="4079181" y="4273296"/>
            <a:ext cx="0" cy="5584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>
            <a:stCxn id="67" idx="3"/>
          </p:cNvCxnSpPr>
          <p:nvPr/>
        </p:nvCxnSpPr>
        <p:spPr>
          <a:xfrm>
            <a:off x="2907003" y="3716132"/>
            <a:ext cx="479184" cy="27674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V="1">
            <a:off x="2902616" y="3985157"/>
            <a:ext cx="483571" cy="3353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3375315" y="3753988"/>
            <a:ext cx="1361251" cy="45453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the reported results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弧形 81"/>
          <p:cNvSpPr/>
          <p:nvPr/>
        </p:nvSpPr>
        <p:spPr>
          <a:xfrm rot="14086265">
            <a:off x="5097218" y="3282291"/>
            <a:ext cx="1515391" cy="1515391"/>
          </a:xfrm>
          <a:prstGeom prst="arc">
            <a:avLst>
              <a:gd name="adj1" fmla="val 16200000"/>
              <a:gd name="adj2" fmla="val 20796819"/>
            </a:avLst>
          </a:prstGeom>
          <a:ln w="28575">
            <a:solidFill>
              <a:srgbClr val="8AA3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4" name="直接连接符 83"/>
          <p:cNvCxnSpPr>
            <a:stCxn id="81" idx="3"/>
          </p:cNvCxnSpPr>
          <p:nvPr/>
        </p:nvCxnSpPr>
        <p:spPr>
          <a:xfrm>
            <a:off x="4736566" y="3981255"/>
            <a:ext cx="353594" cy="0"/>
          </a:xfrm>
          <a:prstGeom prst="line">
            <a:avLst/>
          </a:prstGeom>
          <a:ln w="19050">
            <a:solidFill>
              <a:srgbClr val="97AD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5326046" y="3277984"/>
            <a:ext cx="488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try</a:t>
            </a:r>
            <a:endParaRPr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5320495" y="3577632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tries</a:t>
            </a:r>
            <a:endParaRPr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5328477" y="4134838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tries </a:t>
            </a:r>
            <a:endParaRPr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5318294" y="4497317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tries </a:t>
            </a:r>
            <a:endParaRPr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 rot="5400000">
            <a:off x="5426070" y="3802216"/>
            <a:ext cx="28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91" name="矩形 90"/>
          <p:cNvSpPr/>
          <p:nvPr/>
        </p:nvSpPr>
        <p:spPr>
          <a:xfrm>
            <a:off x="4770271" y="5253676"/>
            <a:ext cx="1361251" cy="298713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“EERIE”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7137451" y="3496609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reported results varied over time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7137450" y="3974324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percent of Hard Mode over time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7137449" y="4452039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of the results(1,2,3,4,5,6,X)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7137448" y="4929754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proportion of the position of the 26 letters in the word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弧形 95"/>
          <p:cNvSpPr/>
          <p:nvPr/>
        </p:nvSpPr>
        <p:spPr>
          <a:xfrm rot="3103803">
            <a:off x="9232441" y="3613544"/>
            <a:ext cx="1515391" cy="1515391"/>
          </a:xfrm>
          <a:prstGeom prst="arc">
            <a:avLst>
              <a:gd name="adj1" fmla="val 16200000"/>
              <a:gd name="adj2" fmla="val 20796819"/>
            </a:avLst>
          </a:prstGeom>
          <a:ln w="28575">
            <a:solidFill>
              <a:srgbClr val="FDA7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7" name="直接连接符 96"/>
          <p:cNvCxnSpPr/>
          <p:nvPr/>
        </p:nvCxnSpPr>
        <p:spPr>
          <a:xfrm flipH="1">
            <a:off x="10737795" y="4358946"/>
            <a:ext cx="351845" cy="2"/>
          </a:xfrm>
          <a:prstGeom prst="line">
            <a:avLst/>
          </a:prstGeom>
          <a:ln w="19050">
            <a:solidFill>
              <a:srgbClr val="FDA7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10985586" y="4077458"/>
            <a:ext cx="896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i="1" dirty="0">
                <a:solidFill>
                  <a:srgbClr val="FD87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some</a:t>
            </a:r>
            <a:endParaRPr lang="en-US" altLang="zh-CN" sz="1200" b="1" i="1" dirty="0">
              <a:solidFill>
                <a:srgbClr val="FD87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b="1" i="1" dirty="0">
                <a:solidFill>
                  <a:srgbClr val="FD87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interesting </a:t>
            </a:r>
            <a:endParaRPr lang="en-US" altLang="zh-CN" sz="1200" b="1" i="1" dirty="0">
              <a:solidFill>
                <a:srgbClr val="FD87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b="1" i="1" dirty="0">
                <a:solidFill>
                  <a:srgbClr val="FD87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</a:t>
            </a:r>
            <a:endParaRPr lang="zh-CN" altLang="en-US" sz="1200" b="1" i="1" dirty="0">
              <a:solidFill>
                <a:srgbClr val="FD87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直接箭头连接符 101"/>
          <p:cNvCxnSpPr/>
          <p:nvPr/>
        </p:nvCxnSpPr>
        <p:spPr>
          <a:xfrm flipV="1">
            <a:off x="6256020" y="2193939"/>
            <a:ext cx="632460" cy="5035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/>
        </p:nvCxnSpPr>
        <p:spPr>
          <a:xfrm>
            <a:off x="6252173" y="2703486"/>
            <a:ext cx="564646" cy="7129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3042937" y="4922625"/>
            <a:ext cx="2145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solidFill>
                  <a:srgbClr val="2230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Stacking model</a:t>
            </a:r>
            <a:endParaRPr lang="zh-CN" altLang="en-US" sz="1400" b="1" i="1" dirty="0">
              <a:solidFill>
                <a:srgbClr val="2230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147"/>
            <a:ext cx="2126891" cy="138153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627586" y="872358"/>
            <a:ext cx="3783724" cy="4845269"/>
          </a:xfrm>
          <a:prstGeom prst="rect">
            <a:avLst/>
          </a:prstGeom>
          <a:noFill/>
          <a:ln w="28575">
            <a:solidFill>
              <a:srgbClr val="2E75B6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521668" y="872359"/>
            <a:ext cx="4223897" cy="1401870"/>
          </a:xfrm>
          <a:prstGeom prst="rect">
            <a:avLst/>
          </a:prstGeom>
          <a:noFill/>
          <a:ln w="28575">
            <a:solidFill>
              <a:srgbClr val="C5590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521668" y="2415556"/>
            <a:ext cx="4223897" cy="3302071"/>
          </a:xfrm>
          <a:prstGeom prst="rect">
            <a:avLst/>
          </a:prstGeom>
          <a:noFill/>
          <a:ln w="28575">
            <a:solidFill>
              <a:srgbClr val="4C7C2C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2878608" y="1074157"/>
            <a:ext cx="3322320" cy="426720"/>
          </a:xfrm>
          <a:prstGeom prst="roundRect">
            <a:avLst/>
          </a:prstGeom>
          <a:solidFill>
            <a:srgbClr val="FFE69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Data Preparation &amp; Processing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2878608" y="1728180"/>
            <a:ext cx="3322320" cy="426720"/>
          </a:xfrm>
          <a:prstGeom prst="roundRect">
            <a:avLst/>
          </a:prstGeom>
          <a:solidFill>
            <a:srgbClr val="2E75B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Model Constructing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2878608" y="2469174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2878608" y="3136697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Single G-T-I-D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2878608" y="3804220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2878608" y="4471743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Adjacency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matrix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2878608" y="5139267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4766266" y="2469174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Priority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4766266" y="3136697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Dynamics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4818012" y="3804220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Parameter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4856473" y="4471743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4820990" y="5139267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6580595" y="1065294"/>
            <a:ext cx="4095882" cy="426720"/>
          </a:xfrm>
          <a:prstGeom prst="roundRect">
            <a:avLst/>
          </a:prstGeom>
          <a:solidFill>
            <a:srgbClr val="F4B18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Application of the model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6580595" y="1704813"/>
            <a:ext cx="1781435" cy="426720"/>
          </a:xfrm>
          <a:prstGeom prst="roundRect">
            <a:avLst/>
          </a:prstGeom>
          <a:solidFill>
            <a:srgbClr val="F8CBAD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Network in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Different regions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8895042" y="1740549"/>
            <a:ext cx="1781435" cy="426720"/>
          </a:xfrm>
          <a:prstGeom prst="roundRect">
            <a:avLst/>
          </a:prstGeom>
          <a:solidFill>
            <a:srgbClr val="F8CBAD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Priority election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For regions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6580595" y="2522764"/>
            <a:ext cx="4095882" cy="426720"/>
          </a:xfrm>
          <a:prstGeom prst="roundRect">
            <a:avLst/>
          </a:prstGeom>
          <a:solidFill>
            <a:srgbClr val="548235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Correction of the model in different cases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6621517" y="3102899"/>
            <a:ext cx="1813873" cy="426720"/>
          </a:xfrm>
          <a:prstGeom prst="roundRect">
            <a:avLst/>
          </a:prstGeom>
          <a:solidFill>
            <a:srgbClr val="A9D18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SDG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8628536" y="3124620"/>
            <a:ext cx="2069697" cy="426720"/>
          </a:xfrm>
          <a:prstGeom prst="roundRect">
            <a:avLst/>
          </a:prstGeom>
          <a:solidFill>
            <a:srgbClr val="A9D18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International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Opportunities/crises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6667726" y="3745830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7667222" y="3745830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Priority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8715734" y="3773169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9815399" y="3745830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Priority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6667726" y="4671952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One-way</a:t>
            </a:r>
            <a:endParaRPr lang="en-US" altLang="zh-CN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endParaRPr lang="zh-CN" altLang="en-US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7716950" y="4671951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be achieved</a:t>
            </a:r>
            <a:endParaRPr lang="zh-CN" altLang="en-US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矩形: 圆角 34"/>
          <p:cNvSpPr/>
          <p:nvPr/>
        </p:nvSpPr>
        <p:spPr>
          <a:xfrm>
            <a:off x="8766174" y="4671951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G’=</a:t>
            </a:r>
            <a:r>
              <a:rPr lang="en-US" altLang="zh-CN" sz="1400" b="1" dirty="0" err="1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G+c</a:t>
            </a:r>
            <a:r>
              <a:rPr lang="zh-CN" altLang="en-US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▲</a:t>
            </a:r>
            <a:endParaRPr lang="zh-CN" altLang="en-US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9815399" y="4656811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 </a:t>
            </a:r>
            <a:endParaRPr lang="en-US" altLang="zh-CN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zh-CN" altLang="en-US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endParaRPr lang="zh-CN" altLang="en-US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2652110" y="5834317"/>
            <a:ext cx="8093455" cy="426720"/>
          </a:xfrm>
          <a:prstGeom prst="roundRect">
            <a:avLst/>
          </a:prstGeom>
          <a:solidFill>
            <a:srgbClr val="A6A6A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Promote to other organizations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1" y="84394"/>
            <a:ext cx="1894139" cy="124594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102868" y="411100"/>
            <a:ext cx="4698124" cy="5050221"/>
          </a:xfrm>
          <a:prstGeom prst="rect">
            <a:avLst/>
          </a:prstGeom>
          <a:noFill/>
          <a:ln w="38100">
            <a:solidFill>
              <a:srgbClr val="2E75B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034320" y="411099"/>
            <a:ext cx="4517137" cy="5050221"/>
          </a:xfrm>
          <a:prstGeom prst="rect">
            <a:avLst/>
          </a:prstGeom>
          <a:noFill/>
          <a:ln w="38100">
            <a:solidFill>
              <a:srgbClr val="EA742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102868" y="5684140"/>
            <a:ext cx="9448589" cy="809258"/>
          </a:xfrm>
          <a:prstGeom prst="rect">
            <a:avLst/>
          </a:prstGeom>
          <a:noFill/>
          <a:ln w="38100">
            <a:solidFill>
              <a:srgbClr val="6A9C4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17695" y="578604"/>
            <a:ext cx="4278630" cy="647700"/>
          </a:xfrm>
          <a:prstGeom prst="rect">
            <a:avLst/>
          </a:prstGeom>
          <a:noFill/>
          <a:ln w="25400">
            <a:solidFill>
              <a:srgbClr val="2F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2317695" y="1346521"/>
            <a:ext cx="4278630" cy="847344"/>
          </a:xfrm>
          <a:prstGeom prst="roundRect">
            <a:avLst/>
          </a:prstGeom>
          <a:noFill/>
          <a:ln w="25400">
            <a:solidFill>
              <a:srgbClr val="2F75B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2317695" y="2399071"/>
            <a:ext cx="4278630" cy="1044473"/>
          </a:xfrm>
          <a:prstGeom prst="roundRect">
            <a:avLst/>
          </a:prstGeom>
          <a:noFill/>
          <a:ln w="25400">
            <a:solidFill>
              <a:srgbClr val="2F75B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2317695" y="3593853"/>
            <a:ext cx="4278630" cy="1638868"/>
          </a:xfrm>
          <a:prstGeom prst="roundRect">
            <a:avLst/>
          </a:prstGeom>
          <a:noFill/>
          <a:ln w="25400">
            <a:solidFill>
              <a:srgbClr val="2F75B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490030" y="547749"/>
            <a:ext cx="39237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Plant Community Succession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Model Based on Ecological Niche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302836" y="1541796"/>
            <a:ext cx="2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Initial Conditions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767371" y="1436944"/>
            <a:ext cx="1557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Species Niche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Characteristics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431841" y="1519299"/>
            <a:ext cx="1843050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570779" y="1460841"/>
            <a:ext cx="1894636" cy="605770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555131" y="2794238"/>
            <a:ext cx="1565302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767371" y="2812018"/>
            <a:ext cx="1565302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272089" y="2822887"/>
            <a:ext cx="2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Reproduction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535079" y="2822887"/>
            <a:ext cx="2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Mortality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500246" y="2403000"/>
            <a:ext cx="2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Internal Effects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487406" y="3601156"/>
            <a:ext cx="2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External Effects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748075" y="3991342"/>
            <a:ext cx="3402326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666271" y="3982903"/>
            <a:ext cx="3402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Irregular Weather Cycles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740455" y="4506490"/>
            <a:ext cx="1523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Degree of Drought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633202" y="4487237"/>
            <a:ext cx="1523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Duration of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Drought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672813" y="4534122"/>
            <a:ext cx="1483965" cy="599446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758263" y="4519470"/>
            <a:ext cx="1483965" cy="614097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341026" y="576745"/>
            <a:ext cx="3922241" cy="525936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793427" y="639658"/>
            <a:ext cx="2998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Application of the Model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10074" y="1346520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510074" y="2235784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510074" y="3027802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766036" y="3874017"/>
            <a:ext cx="3026313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510074" y="4731746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483665" y="1330341"/>
            <a:ext cx="3534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Effect of the Number of Species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on the Community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597245" y="2185115"/>
            <a:ext cx="3534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Impact of the Types of Species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on Community Evolution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578271" y="3027802"/>
            <a:ext cx="3534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The Effects of the Severity of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Drought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940223" y="3890809"/>
            <a:ext cx="2821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The impact of Pollution and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Habitat Reduction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649215" y="4713176"/>
            <a:ext cx="3534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Measures that Allow a Plant Community to Live Longer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387516" y="5832554"/>
            <a:ext cx="2407285" cy="522152"/>
          </a:xfrm>
          <a:prstGeom prst="rect">
            <a:avLst/>
          </a:prstGeom>
          <a:noFill/>
          <a:ln w="25400"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3413653" y="5888714"/>
            <a:ext cx="238114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A9C47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Sensitivity Analysis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A9C47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793488" y="5886330"/>
            <a:ext cx="377960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A9C47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Strengths and Weaknesses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A9C47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743747" y="5825309"/>
            <a:ext cx="3899406" cy="522152"/>
          </a:xfrm>
          <a:prstGeom prst="rect">
            <a:avLst/>
          </a:prstGeom>
          <a:noFill/>
          <a:ln w="25400"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7" name="箭头: 下 46"/>
          <p:cNvSpPr/>
          <p:nvPr/>
        </p:nvSpPr>
        <p:spPr>
          <a:xfrm>
            <a:off x="4292115" y="2084953"/>
            <a:ext cx="269650" cy="388299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8" name="箭头: 下 47"/>
          <p:cNvSpPr/>
          <p:nvPr/>
        </p:nvSpPr>
        <p:spPr>
          <a:xfrm>
            <a:off x="4292115" y="3318741"/>
            <a:ext cx="269650" cy="388299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9" name="箭头: 下 48"/>
          <p:cNvSpPr/>
          <p:nvPr/>
        </p:nvSpPr>
        <p:spPr>
          <a:xfrm rot="1435775">
            <a:off x="3640737" y="4287914"/>
            <a:ext cx="218537" cy="314696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0" name="箭头: 下 49"/>
          <p:cNvSpPr/>
          <p:nvPr/>
        </p:nvSpPr>
        <p:spPr>
          <a:xfrm rot="20240136">
            <a:off x="5151345" y="4288590"/>
            <a:ext cx="218537" cy="314696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1" name="箭头: 下 50"/>
          <p:cNvSpPr/>
          <p:nvPr/>
        </p:nvSpPr>
        <p:spPr>
          <a:xfrm>
            <a:off x="9192877" y="1895754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2" name="箭头: 下 51"/>
          <p:cNvSpPr/>
          <p:nvPr/>
        </p:nvSpPr>
        <p:spPr>
          <a:xfrm>
            <a:off x="9204877" y="2762116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3" name="箭头: 下 52"/>
          <p:cNvSpPr/>
          <p:nvPr/>
        </p:nvSpPr>
        <p:spPr>
          <a:xfrm>
            <a:off x="9206687" y="3568967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4" name="箭头: 下 53"/>
          <p:cNvSpPr/>
          <p:nvPr/>
        </p:nvSpPr>
        <p:spPr>
          <a:xfrm>
            <a:off x="9220328" y="4443532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5" name="箭头: 下 54"/>
          <p:cNvSpPr/>
          <p:nvPr/>
        </p:nvSpPr>
        <p:spPr>
          <a:xfrm rot="16200000">
            <a:off x="6139685" y="5929036"/>
            <a:ext cx="218537" cy="314696"/>
          </a:xfrm>
          <a:prstGeom prst="downArrow">
            <a:avLst/>
          </a:prstGeom>
          <a:solidFill>
            <a:srgbClr val="B3D59B"/>
          </a:solidFill>
          <a:ln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>
          <a:solidFill>
            <a:schemeClr val="bg2">
              <a:lumMod val="50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5725</Words>
  <Application>WPS 演示</Application>
  <PresentationFormat>宽屏</PresentationFormat>
  <Paragraphs>662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Times New Roman</vt:lpstr>
      <vt:lpstr>Calibri</vt:lpstr>
      <vt:lpstr>等线</vt:lpstr>
      <vt:lpstr>微软雅黑</vt:lpstr>
      <vt:lpstr>Arial Unicode MS</vt:lpstr>
      <vt:lpstr>等线 Light</vt:lpstr>
      <vt:lpstr>Office 主题​​</vt:lpstr>
      <vt:lpstr>Equation.AxMath</vt:lpstr>
      <vt:lpstr>Equation.AxMath</vt:lpstr>
      <vt:lpstr>Equation.AxMath</vt:lpstr>
      <vt:lpstr>Equation.AxMath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罗伊淇</cp:lastModifiedBy>
  <cp:revision>33</cp:revision>
  <dcterms:created xsi:type="dcterms:W3CDTF">2024-02-03T03:27:00Z</dcterms:created>
  <dcterms:modified xsi:type="dcterms:W3CDTF">2026-01-29T14:02:41Z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DC90B56E257B48168500B51E77CCE02D_12</vt:lpwstr>
  </property>
  <property fmtid="{D5CDD505-2E9C-101B-9397-08002B2CF9AE}" pid="3" name="KSOProductBuildVer">
    <vt:lpwstr>2052-12.1.0.23542</vt:lpwstr>
  </property>
</Properties>
</file>